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on the projector with them following on their own machines. Nobody leaves without a committed TMDL file.
Open by asking: you have spent four hours on this — where exactly is it? They will not have a good answer, which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point matters later: from B2 onward the rubric marks Response to Prior Feedback. Because these backups are text, I can put two side by side and see whether you acted on what I told you. That is not surveillance — it is the same thing you will do to your own work when something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most time on Layer 2 and be brisk about the other two. Layer 1 is a safety net for the source file; Layer 3 they cannot even use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 two minutes. The important half is the red box, not the click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all five steps, and wait for every student to complete each one before moving on. This is the only slide in the deck where you should refuse to move forward.
If TMDL View is unavailable on someone's screen, fall back to Power Query → View → Script for each query and save those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this so they know it exists and know why we are not using it. It will light up if we activate the Fabric trial later in the term.
Be straight about the licence: this is not something they did wrong or forgot to switch on. It is not available to them, and the routine is built so that it does not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row is the one worth pausing on: because the backups are text rather than a sealed file, two of them can be placed side by side and read. No .pbix will ever let you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 at the projector and walk it. Then check each of the four repos before you pack up — if it is not committed, it did not happen.
This is also the moment to mention that from next week the backup is part of the milestone submission, not an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0D18"/>
        </a:solidFill>
      </p:bgPr>
    </p:bg>
    <p:spTree>
      <p:nvGrpSpPr>
        <p:cNvPr id="1" name=""/>
        <p:cNvGrpSpPr/>
        <p:nvPr/>
      </p:nvGrpSpPr>
      <p:grpSpPr>
        <a:xfrm>
          <a:off x="0" y="0"/>
          <a:ext cx="0" cy="0"/>
          <a:chOff x="0" y="0"/>
          <a:chExt cx="0" cy="0"/>
        </a:xfrm>
      </p:grpSpPr>
      <p:sp>
        <p:nvSpPr>
          <p:cNvPr id="2" name="Shape 0"/>
          <p:cNvSpPr/>
          <p:nvPr/>
        </p:nvSpPr>
        <p:spPr>
          <a:xfrm>
            <a:off x="9692640" y="-1828800"/>
            <a:ext cx="4754880" cy="4754880"/>
          </a:xfrm>
          <a:prstGeom prst="ellipse">
            <a:avLst/>
          </a:prstGeom>
          <a:solidFill>
            <a:srgbClr val="581523"/>
          </a:solidFill>
          <a:ln/>
        </p:spPr>
      </p:sp>
      <p:sp>
        <p:nvSpPr>
          <p:cNvPr id="3" name="Shape 1"/>
          <p:cNvSpPr/>
          <p:nvPr/>
        </p:nvSpPr>
        <p:spPr>
          <a:xfrm>
            <a:off x="548640" y="1463040"/>
            <a:ext cx="777240" cy="777240"/>
          </a:xfrm>
          <a:prstGeom prst="ellipse">
            <a:avLst/>
          </a:prstGeom>
          <a:solidFill>
            <a:srgbClr val="9D2235"/>
          </a:solidFill>
          <a:ln/>
        </p:spPr>
      </p:sp>
      <p:pic>
        <p:nvPicPr>
          <p:cNvPr id="4" name="Image 0" descr="preencoded.png">    </p:cNvPr>
          <p:cNvPicPr>
            <a:picLocks noChangeAspect="1"/>
          </p:cNvPicPr>
          <p:nvPr/>
        </p:nvPicPr>
        <p:blipFill>
          <a:blip r:embed="rId1"/>
          <a:stretch>
            <a:fillRect/>
          </a:stretch>
        </p:blipFill>
        <p:spPr>
          <a:xfrm>
            <a:off x="750722" y="1665122"/>
            <a:ext cx="373075" cy="373075"/>
          </a:xfrm>
          <a:prstGeom prst="rect">
            <a:avLst/>
          </a:prstGeom>
        </p:spPr>
      </p:pic>
      <p:sp>
        <p:nvSpPr>
          <p:cNvPr id="5" name="Text 2"/>
          <p:cNvSpPr/>
          <p:nvPr/>
        </p:nvSpPr>
        <p:spPr>
          <a:xfrm>
            <a:off x="548640" y="251460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There is no file to save</a:t>
            </a:r>
            <a:endParaRPr lang="en-US" sz="4400" dirty="0"/>
          </a:p>
        </p:txBody>
      </p:sp>
      <p:sp>
        <p:nvSpPr>
          <p:cNvPr id="6" name="Text 3"/>
          <p:cNvSpPr/>
          <p:nvPr/>
        </p:nvSpPr>
        <p:spPr>
          <a:xfrm>
            <a:off x="548640" y="3566160"/>
            <a:ext cx="10515600" cy="365760"/>
          </a:xfrm>
          <a:prstGeom prst="rect">
            <a:avLst/>
          </a:prstGeom>
          <a:noFill/>
          <a:ln/>
        </p:spPr>
        <p:txBody>
          <a:bodyPr wrap="square" lIns="0" tIns="0" rIns="0" bIns="0" rtlCol="0" anchor="ctr"/>
          <a:lstStyle/>
          <a:p>
            <a:pPr indent="0" marL="0">
              <a:buNone/>
            </a:pPr>
            <a:r>
              <a:rPr lang="en-US" sz="1400" b="1" spc="150" kern="0" dirty="0">
                <a:solidFill>
                  <a:srgbClr val="E3B23C"/>
                </a:solidFill>
                <a:latin typeface="Calibri" pitchFamily="34" charset="0"/>
                <a:ea typeface="Calibri" pitchFamily="34" charset="-122"/>
                <a:cs typeface="Calibri" pitchFamily="34" charset="-120"/>
              </a:rPr>
              <a:t>BACKING UP YOUR WORK IN THE POWER BI SERVICE</a:t>
            </a:r>
            <a:endParaRPr lang="en-US" sz="1400" dirty="0"/>
          </a:p>
        </p:txBody>
      </p:sp>
      <p:sp>
        <p:nvSpPr>
          <p:cNvPr id="7" name="Text 4"/>
          <p:cNvSpPr/>
          <p:nvPr/>
        </p:nvSpPr>
        <p:spPr>
          <a:xfrm>
            <a:off x="548640" y="4114800"/>
            <a:ext cx="10515600" cy="457200"/>
          </a:xfrm>
          <a:prstGeom prst="rect">
            <a:avLst/>
          </a:prstGeom>
          <a:noFill/>
          <a:ln/>
        </p:spPr>
        <p:txBody>
          <a:bodyPr wrap="square" lIns="0" tIns="0" rIns="0" bIns="0" rtlCol="0" anchor="ctr"/>
          <a:lstStyle/>
          <a:p>
            <a:pPr indent="0" marL="0">
              <a:buNone/>
            </a:pPr>
            <a:r>
              <a:rPr lang="en-US" sz="1600" dirty="0">
                <a:solidFill>
                  <a:srgbClr val="E8D9DC"/>
                </a:solidFill>
                <a:latin typeface="Calibri" pitchFamily="34" charset="0"/>
                <a:ea typeface="Calibri" pitchFamily="34" charset="-122"/>
                <a:cs typeface="Calibri" pitchFamily="34" charset="-120"/>
              </a:rPr>
              <a:t>Three layers · five steps · five minutes</a:t>
            </a:r>
            <a:endParaRPr lang="en-US" sz="1600" dirty="0"/>
          </a:p>
        </p:txBody>
      </p:sp>
      <p:sp>
        <p:nvSpPr>
          <p:cNvPr id="8" name="Text 5"/>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C89AA3"/>
                </a:solidFill>
                <a:latin typeface="Calibri" pitchFamily="34" charset="0"/>
                <a:ea typeface="Calibri" pitchFamily="34" charset="-122"/>
                <a:cs typeface="Calibri" pitchFamily="34" charset="-120"/>
              </a:rPr>
              <a:t>BDAT04 · Backup routine · Session 3</a:t>
            </a:r>
            <a:endParaRPr lang="en-US" sz="850" dirty="0"/>
          </a:p>
        </p:txBody>
      </p:sp>
      <p:sp>
        <p:nvSpPr>
          <p:cNvPr id="9" name="Text 6"/>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C89AA3"/>
                </a:solidFill>
                <a:latin typeface="Calibri" pitchFamily="34" charset="0"/>
                <a:ea typeface="Calibri" pitchFamily="34" charset="-122"/>
                <a:cs typeface="Calibri" pitchFamily="34" charset="-120"/>
              </a:rPr>
              <a:t>B1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WHY THIS IS DIFFERENT</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A .pbix would have been simpler — and worse</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Backup routine · Session 3</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B2</a:t>
            </a:r>
            <a:endParaRPr lang="en-US" sz="850" dirty="0"/>
          </a:p>
        </p:txBody>
      </p:sp>
      <p:sp>
        <p:nvSpPr>
          <p:cNvPr id="6" name="Shape 4"/>
          <p:cNvSpPr/>
          <p:nvPr/>
        </p:nvSpPr>
        <p:spPr>
          <a:xfrm>
            <a:off x="548640" y="1463040"/>
            <a:ext cx="5440680" cy="3200400"/>
          </a:xfrm>
          <a:prstGeom prst="roundRect">
            <a:avLst>
              <a:gd name="adj" fmla="val 2000"/>
            </a:avLst>
          </a:prstGeom>
          <a:solidFill>
            <a:srgbClr val="F3E4E7"/>
          </a:solidFill>
          <a:ln/>
        </p:spPr>
      </p:sp>
      <p:sp>
        <p:nvSpPr>
          <p:cNvPr id="7" name="Text 5"/>
          <p:cNvSpPr/>
          <p:nvPr/>
        </p:nvSpPr>
        <p:spPr>
          <a:xfrm>
            <a:off x="868680" y="1691640"/>
            <a:ext cx="4754880" cy="365760"/>
          </a:xfrm>
          <a:prstGeom prst="rect">
            <a:avLst/>
          </a:prstGeom>
          <a:noFill/>
          <a:ln/>
        </p:spPr>
        <p:txBody>
          <a:bodyPr wrap="square" lIns="0" tIns="0" rIns="0" bIns="0" rtlCol="0" anchor="ctr"/>
          <a:lstStyle/>
          <a:p>
            <a:pPr indent="0" marL="0">
              <a:buNone/>
            </a:pPr>
            <a:r>
              <a:rPr lang="en-US" sz="1500" b="1" dirty="0">
                <a:solidFill>
                  <a:srgbClr val="6E6E6E"/>
                </a:solidFill>
                <a:latin typeface="Calibri" pitchFamily="34" charset="0"/>
                <a:ea typeface="Calibri" pitchFamily="34" charset="-122"/>
                <a:cs typeface="Calibri" pitchFamily="34" charset="-120"/>
              </a:rPr>
              <a:t>If you had Power BI Desktop</a:t>
            </a:r>
            <a:endParaRPr lang="en-US" sz="1500" dirty="0"/>
          </a:p>
        </p:txBody>
      </p:sp>
      <p:sp>
        <p:nvSpPr>
          <p:cNvPr id="8" name="Text 6"/>
          <p:cNvSpPr/>
          <p:nvPr/>
        </p:nvSpPr>
        <p:spPr>
          <a:xfrm>
            <a:off x="868680" y="2194560"/>
            <a:ext cx="4846320" cy="2286000"/>
          </a:xfrm>
          <a:prstGeom prst="rect">
            <a:avLst/>
          </a:prstGeom>
          <a:noFill/>
          <a:ln/>
        </p:spPr>
        <p:txBody>
          <a:bodyPr wrap="square" lIns="0" tIns="0" rIns="0" bIns="0" rtlCol="0" anchor="ctr"/>
          <a:lstStyle/>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Your whole model sits in one .pbix file.</a:t>
            </a:r>
            <a:endParaRPr lang="en-US" sz="1300" dirty="0"/>
          </a:p>
          <a:p>
            <a:pPr indent="0" marL="0">
              <a:lnSpc>
                <a:spcPts val="1900"/>
              </a:lnSpc>
              <a:buNone/>
            </a:pPr>
            <a:endParaRPr lang="en-US" sz="1300" dirty="0"/>
          </a:p>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Back it up by copying the file.</a:t>
            </a:r>
            <a:endParaRPr lang="en-US" sz="1300" dirty="0"/>
          </a:p>
          <a:p>
            <a:pPr indent="0" marL="0">
              <a:lnSpc>
                <a:spcPts val="1900"/>
              </a:lnSpc>
              <a:buNone/>
            </a:pPr>
            <a:endParaRPr lang="en-US" sz="1300" dirty="0"/>
          </a:p>
          <a:p>
            <a:pPr indent="0" marL="0">
              <a:lnSpc>
                <a:spcPts val="1900"/>
              </a:lnSpc>
              <a:buNone/>
            </a:pPr>
            <a:r>
              <a:rPr lang="en-US" sz="1300" dirty="0">
                <a:solidFill>
                  <a:srgbClr val="6E6E6E"/>
                </a:solidFill>
                <a:latin typeface="Calibri" pitchFamily="34" charset="0"/>
                <a:ea typeface="Calibri" pitchFamily="34" charset="-122"/>
                <a:cs typeface="Calibri" pitchFamily="34" charset="-120"/>
              </a:rPr>
              <a:t>But you cannot read it, cannot compare two of them, and cannot tell what changed since last week.</a:t>
            </a:r>
            <a:endParaRPr lang="en-US" sz="1300" dirty="0"/>
          </a:p>
        </p:txBody>
      </p:sp>
      <p:sp>
        <p:nvSpPr>
          <p:cNvPr id="9" name="Shape 7"/>
          <p:cNvSpPr/>
          <p:nvPr/>
        </p:nvSpPr>
        <p:spPr>
          <a:xfrm>
            <a:off x="6263640" y="1463040"/>
            <a:ext cx="5376672" cy="3200400"/>
          </a:xfrm>
          <a:prstGeom prst="roundRect">
            <a:avLst>
              <a:gd name="adj" fmla="val 2000"/>
            </a:avLst>
          </a:prstGeom>
          <a:solidFill>
            <a:srgbClr val="EFF5F0"/>
          </a:solidFill>
          <a:ln/>
        </p:spPr>
      </p:sp>
      <p:sp>
        <p:nvSpPr>
          <p:cNvPr id="10" name="Text 8"/>
          <p:cNvSpPr/>
          <p:nvPr/>
        </p:nvSpPr>
        <p:spPr>
          <a:xfrm>
            <a:off x="6583680" y="1691640"/>
            <a:ext cx="4754880" cy="365760"/>
          </a:xfrm>
          <a:prstGeom prst="rect">
            <a:avLst/>
          </a:prstGeom>
          <a:noFill/>
          <a:ln/>
        </p:spPr>
        <p:txBody>
          <a:bodyPr wrap="square" lIns="0" tIns="0" rIns="0" bIns="0" rtlCol="0" anchor="ctr"/>
          <a:lstStyle/>
          <a:p>
            <a:pPr indent="0" marL="0">
              <a:buNone/>
            </a:pPr>
            <a:r>
              <a:rPr lang="en-US" sz="1500" b="1" dirty="0">
                <a:solidFill>
                  <a:srgbClr val="2C6E49"/>
                </a:solidFill>
                <a:latin typeface="Calibri" pitchFamily="34" charset="0"/>
                <a:ea typeface="Calibri" pitchFamily="34" charset="-122"/>
                <a:cs typeface="Calibri" pitchFamily="34" charset="-120"/>
              </a:rPr>
              <a:t>What you will do instead</a:t>
            </a:r>
            <a:endParaRPr lang="en-US" sz="1500" dirty="0"/>
          </a:p>
        </p:txBody>
      </p:sp>
      <p:sp>
        <p:nvSpPr>
          <p:cNvPr id="11" name="Text 9"/>
          <p:cNvSpPr/>
          <p:nvPr/>
        </p:nvSpPr>
        <p:spPr>
          <a:xfrm>
            <a:off x="6583680" y="2194560"/>
            <a:ext cx="4892040" cy="2286000"/>
          </a:xfrm>
          <a:prstGeom prst="rect">
            <a:avLst/>
          </a:prstGeom>
          <a:noFill/>
          <a:ln/>
        </p:spPr>
        <p:txBody>
          <a:bodyPr wrap="square" lIns="0" tIns="0" rIns="0" bIns="0" rtlCol="0" anchor="ctr"/>
          <a:lstStyle/>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Export your model as plain text.</a:t>
            </a:r>
            <a:endParaRPr lang="en-US" sz="1300" dirty="0"/>
          </a:p>
          <a:p>
            <a:pPr indent="0" marL="0">
              <a:lnSpc>
                <a:spcPts val="1900"/>
              </a:lnSpc>
              <a:buNone/>
            </a:pPr>
            <a:endParaRPr lang="en-US" sz="1300" dirty="0"/>
          </a:p>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Commit it to your folder in the repo.</a:t>
            </a:r>
            <a:endParaRPr lang="en-US" sz="1300" dirty="0"/>
          </a:p>
          <a:p>
            <a:pPr indent="0" marL="0">
              <a:lnSpc>
                <a:spcPts val="1900"/>
              </a:lnSpc>
              <a:buNone/>
            </a:pPr>
            <a:endParaRPr lang="en-US" sz="1300" dirty="0"/>
          </a:p>
          <a:p>
            <a:pPr indent="0" marL="0">
              <a:lnSpc>
                <a:spcPts val="1900"/>
              </a:lnSpc>
              <a:buNone/>
            </a:pPr>
            <a:r>
              <a:rPr lang="en-US" sz="1300" b="1" dirty="0">
                <a:solidFill>
                  <a:srgbClr val="2C6E49"/>
                </a:solidFill>
                <a:latin typeface="Calibri" pitchFamily="34" charset="0"/>
                <a:ea typeface="Calibri" pitchFamily="34" charset="-122"/>
                <a:cs typeface="Calibri" pitchFamily="34" charset="-120"/>
              </a:rPr>
              <a:t>Readable. Comparable. Permanent. And it survives your workspace being deleted.</a:t>
            </a:r>
            <a:endParaRPr lang="en-US" sz="1300" dirty="0"/>
          </a:p>
        </p:txBody>
      </p:sp>
      <p:sp>
        <p:nvSpPr>
          <p:cNvPr id="12" name="Shape 10"/>
          <p:cNvSpPr/>
          <p:nvPr/>
        </p:nvSpPr>
        <p:spPr>
          <a:xfrm>
            <a:off x="548640" y="4937760"/>
            <a:ext cx="11091672" cy="914400"/>
          </a:xfrm>
          <a:prstGeom prst="roundRect">
            <a:avLst>
              <a:gd name="adj" fmla="val 7000"/>
            </a:avLst>
          </a:prstGeom>
          <a:solidFill>
            <a:srgbClr val="FFF7E6"/>
          </a:solidFill>
          <a:ln/>
        </p:spPr>
      </p:sp>
      <p:sp>
        <p:nvSpPr>
          <p:cNvPr id="13" name="Text 11"/>
          <p:cNvSpPr/>
          <p:nvPr/>
        </p:nvSpPr>
        <p:spPr>
          <a:xfrm>
            <a:off x="822960" y="4937760"/>
            <a:ext cx="10561320" cy="914400"/>
          </a:xfrm>
          <a:prstGeom prst="rect">
            <a:avLst/>
          </a:prstGeom>
          <a:noFill/>
          <a:ln/>
        </p:spPr>
        <p:txBody>
          <a:bodyPr wrap="square" lIns="0" tIns="0" rIns="0" bIns="0" rtlCol="0" anchor="ctr"/>
          <a:lstStyle/>
          <a:p>
            <a:pPr indent="0" marL="0">
              <a:buNone/>
            </a:pPr>
            <a:r>
              <a:rPr lang="en-US" sz="1300" b="1" dirty="0">
                <a:solidFill>
                  <a:srgbClr val="C99700"/>
                </a:solidFill>
                <a:latin typeface="Calibri" pitchFamily="34" charset="0"/>
                <a:ea typeface="Calibri" pitchFamily="34" charset="-122"/>
                <a:cs typeface="Calibri" pitchFamily="34" charset="-120"/>
              </a:rPr>
              <a:t>The course rule: </a:t>
            </a:r>
            <a:pPr indent="0" marL="0">
              <a:buNone/>
            </a:pPr>
            <a:r>
              <a:rPr lang="en-US" sz="1300" dirty="0">
                <a:solidFill>
                  <a:srgbClr val="262626"/>
                </a:solidFill>
                <a:latin typeface="Calibri" pitchFamily="34" charset="0"/>
                <a:ea typeface="Calibri" pitchFamily="34" charset="-122"/>
                <a:cs typeface="Calibri" pitchFamily="34" charset="-120"/>
              </a:rPr>
              <a:t>file loss is not an accepted excuse. You keep a dated backup after every milestone. This is how.</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THREE LAYERS</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Each one protects against a different disaster</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Backup routine · Session 3</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B3</a:t>
            </a:r>
            <a:endParaRPr lang="en-US" sz="850" dirty="0"/>
          </a:p>
        </p:txBody>
      </p:sp>
      <p:sp>
        <p:nvSpPr>
          <p:cNvPr id="6" name="Shape 4"/>
          <p:cNvSpPr/>
          <p:nvPr/>
        </p:nvSpPr>
        <p:spPr>
          <a:xfrm>
            <a:off x="548640" y="1600200"/>
            <a:ext cx="11091672" cy="1325880"/>
          </a:xfrm>
          <a:prstGeom prst="roundRect">
            <a:avLst>
              <a:gd name="adj" fmla="val 4828"/>
            </a:avLst>
          </a:prstGeom>
          <a:solidFill>
            <a:srgbClr val="EFF5F0"/>
          </a:solidFill>
          <a:ln/>
        </p:spPr>
      </p:sp>
      <p:sp>
        <p:nvSpPr>
          <p:cNvPr id="7" name="Shape 5"/>
          <p:cNvSpPr/>
          <p:nvPr/>
        </p:nvSpPr>
        <p:spPr>
          <a:xfrm>
            <a:off x="777240" y="1965960"/>
            <a:ext cx="603504" cy="603504"/>
          </a:xfrm>
          <a:prstGeom prst="ellipse">
            <a:avLst/>
          </a:prstGeom>
          <a:solidFill>
            <a:srgbClr val="2C6E49"/>
          </a:solidFill>
          <a:ln/>
        </p:spPr>
      </p:sp>
      <p:sp>
        <p:nvSpPr>
          <p:cNvPr id="8" name="Text 6"/>
          <p:cNvSpPr/>
          <p:nvPr/>
        </p:nvSpPr>
        <p:spPr>
          <a:xfrm>
            <a:off x="777240" y="196596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1554480" y="1801368"/>
            <a:ext cx="3200400" cy="384048"/>
          </a:xfrm>
          <a:prstGeom prst="rect">
            <a:avLst/>
          </a:prstGeom>
          <a:noFill/>
          <a:ln/>
        </p:spPr>
        <p:txBody>
          <a:bodyPr wrap="square" lIns="0" tIns="0" rIns="0" bIns="0" rtlCol="0" anchor="ctr"/>
          <a:lstStyle/>
          <a:p>
            <a:pPr indent="0" marL="0">
              <a:buNone/>
            </a:pPr>
            <a:r>
              <a:rPr lang="en-US" sz="1450" b="1" dirty="0">
                <a:solidFill>
                  <a:srgbClr val="2C6E49"/>
                </a:solidFill>
                <a:latin typeface="Calibri" pitchFamily="34" charset="0"/>
                <a:ea typeface="Calibri" pitchFamily="34" charset="-122"/>
                <a:cs typeface="Calibri" pitchFamily="34" charset="-120"/>
              </a:rPr>
              <a:t>The raw source data</a:t>
            </a:r>
            <a:endParaRPr lang="en-US" sz="1450" dirty="0"/>
          </a:p>
        </p:txBody>
      </p:sp>
      <p:sp>
        <p:nvSpPr>
          <p:cNvPr id="10" name="Text 8"/>
          <p:cNvSpPr/>
          <p:nvPr/>
        </p:nvSpPr>
        <p:spPr>
          <a:xfrm>
            <a:off x="1554480" y="2221992"/>
            <a:ext cx="3200400" cy="502920"/>
          </a:xfrm>
          <a:prstGeom prst="rect">
            <a:avLst/>
          </a:prstGeom>
          <a:noFill/>
          <a:ln/>
        </p:spPr>
        <p:txBody>
          <a:bodyPr wrap="square" lIns="0" tIns="0" rIns="0" bIns="0" rtlCol="0" anchor="ctr"/>
          <a:lstStyle/>
          <a:p>
            <a:pPr indent="0" marL="0">
              <a:lnSpc>
                <a:spcPts val="1500"/>
              </a:lnSpc>
              <a:buNone/>
            </a:pPr>
            <a:r>
              <a:rPr lang="en-US" sz="1150" dirty="0">
                <a:solidFill>
                  <a:srgbClr val="6E6E6E"/>
                </a:solidFill>
                <a:latin typeface="Calibri" pitchFamily="34" charset="0"/>
                <a:ea typeface="Calibri" pitchFamily="34" charset="-122"/>
                <a:cs typeface="Calibri" pitchFamily="34" charset="-120"/>
              </a:rPr>
              <a:t>OneDrive version history</a:t>
            </a:r>
            <a:endParaRPr lang="en-US" sz="1150" dirty="0"/>
          </a:p>
        </p:txBody>
      </p:sp>
      <p:sp>
        <p:nvSpPr>
          <p:cNvPr id="11" name="Text 9"/>
          <p:cNvSpPr/>
          <p:nvPr/>
        </p:nvSpPr>
        <p:spPr>
          <a:xfrm>
            <a:off x="5029200" y="1828800"/>
            <a:ext cx="6309360" cy="868680"/>
          </a:xfrm>
          <a:prstGeom prst="rect">
            <a:avLst/>
          </a:prstGeom>
          <a:noFill/>
          <a:ln/>
        </p:spPr>
        <p:txBody>
          <a:bodyPr wrap="square" lIns="0" tIns="0" rIns="0" bIns="0" rtlCol="0" anchor="ctr"/>
          <a:lstStyle/>
          <a:p>
            <a:pPr indent="0" marL="0">
              <a:lnSpc>
                <a:spcPts val="1700"/>
              </a:lnSpc>
              <a:buNone/>
            </a:pPr>
            <a:r>
              <a:rPr lang="en-US" sz="1300" dirty="0">
                <a:solidFill>
                  <a:srgbClr val="262626"/>
                </a:solidFill>
                <a:latin typeface="Calibri" pitchFamily="34" charset="0"/>
                <a:ea typeface="Calibri" pitchFamily="34" charset="-122"/>
                <a:cs typeface="Calibri" pitchFamily="34" charset="-120"/>
              </a:rPr>
              <a:t>Someone edits or overwrites the case file</a:t>
            </a:r>
            <a:endParaRPr lang="en-US" sz="1300" dirty="0"/>
          </a:p>
        </p:txBody>
      </p:sp>
      <p:sp>
        <p:nvSpPr>
          <p:cNvPr id="12" name="Shape 10"/>
          <p:cNvSpPr/>
          <p:nvPr/>
        </p:nvSpPr>
        <p:spPr>
          <a:xfrm>
            <a:off x="548640" y="3108960"/>
            <a:ext cx="11091672" cy="1325880"/>
          </a:xfrm>
          <a:prstGeom prst="roundRect">
            <a:avLst>
              <a:gd name="adj" fmla="val 4828"/>
            </a:avLst>
          </a:prstGeom>
          <a:solidFill>
            <a:srgbClr val="F3E4E7"/>
          </a:solidFill>
          <a:ln/>
        </p:spPr>
      </p:sp>
      <p:sp>
        <p:nvSpPr>
          <p:cNvPr id="13" name="Shape 11"/>
          <p:cNvSpPr/>
          <p:nvPr/>
        </p:nvSpPr>
        <p:spPr>
          <a:xfrm>
            <a:off x="777240" y="3474720"/>
            <a:ext cx="603504" cy="603504"/>
          </a:xfrm>
          <a:prstGeom prst="ellipse">
            <a:avLst/>
          </a:prstGeom>
          <a:solidFill>
            <a:srgbClr val="9D2235"/>
          </a:solidFill>
          <a:ln/>
        </p:spPr>
      </p:sp>
      <p:sp>
        <p:nvSpPr>
          <p:cNvPr id="14" name="Text 12"/>
          <p:cNvSpPr/>
          <p:nvPr/>
        </p:nvSpPr>
        <p:spPr>
          <a:xfrm>
            <a:off x="777240" y="34747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554480" y="3310128"/>
            <a:ext cx="3200400" cy="384048"/>
          </a:xfrm>
          <a:prstGeom prst="rect">
            <a:avLst/>
          </a:prstGeom>
          <a:noFill/>
          <a:ln/>
        </p:spPr>
        <p:txBody>
          <a:bodyPr wrap="square" lIns="0" tIns="0" rIns="0" bIns="0" rtlCol="0" anchor="ctr"/>
          <a:lstStyle/>
          <a:p>
            <a:pPr indent="0" marL="0">
              <a:buNone/>
            </a:pPr>
            <a:r>
              <a:rPr lang="en-US" sz="1450" b="1" dirty="0">
                <a:solidFill>
                  <a:srgbClr val="9D2235"/>
                </a:solidFill>
                <a:latin typeface="Calibri" pitchFamily="34" charset="0"/>
                <a:ea typeface="Calibri" pitchFamily="34" charset="-122"/>
                <a:cs typeface="Calibri" pitchFamily="34" charset="-120"/>
              </a:rPr>
              <a:t>Your model and queries</a:t>
            </a:r>
            <a:endParaRPr lang="en-US" sz="1450" dirty="0"/>
          </a:p>
        </p:txBody>
      </p:sp>
      <p:sp>
        <p:nvSpPr>
          <p:cNvPr id="16" name="Text 14"/>
          <p:cNvSpPr/>
          <p:nvPr/>
        </p:nvSpPr>
        <p:spPr>
          <a:xfrm>
            <a:off x="1554480" y="3730752"/>
            <a:ext cx="3200400" cy="502920"/>
          </a:xfrm>
          <a:prstGeom prst="rect">
            <a:avLst/>
          </a:prstGeom>
          <a:noFill/>
          <a:ln/>
        </p:spPr>
        <p:txBody>
          <a:bodyPr wrap="square" lIns="0" tIns="0" rIns="0" bIns="0" rtlCol="0" anchor="ctr"/>
          <a:lstStyle/>
          <a:p>
            <a:pPr indent="0" marL="0">
              <a:lnSpc>
                <a:spcPts val="1500"/>
              </a:lnSpc>
              <a:buNone/>
            </a:pPr>
            <a:r>
              <a:rPr lang="en-US" sz="1150" dirty="0">
                <a:solidFill>
                  <a:srgbClr val="6E6E6E"/>
                </a:solidFill>
                <a:latin typeface="Calibri" pitchFamily="34" charset="0"/>
                <a:ea typeface="Calibri" pitchFamily="34" charset="-122"/>
                <a:cs typeface="Calibri" pitchFamily="34" charset="-120"/>
              </a:rPr>
              <a:t>Text exports in your GitHub folder</a:t>
            </a:r>
            <a:endParaRPr lang="en-US" sz="1150" dirty="0"/>
          </a:p>
        </p:txBody>
      </p:sp>
      <p:sp>
        <p:nvSpPr>
          <p:cNvPr id="17" name="Text 15"/>
          <p:cNvSpPr/>
          <p:nvPr/>
        </p:nvSpPr>
        <p:spPr>
          <a:xfrm>
            <a:off x="5029200" y="3337560"/>
            <a:ext cx="6309360" cy="868680"/>
          </a:xfrm>
          <a:prstGeom prst="rect">
            <a:avLst/>
          </a:prstGeom>
          <a:noFill/>
          <a:ln/>
        </p:spPr>
        <p:txBody>
          <a:bodyPr wrap="square" lIns="0" tIns="0" rIns="0" bIns="0" rtlCol="0" anchor="ctr"/>
          <a:lstStyle/>
          <a:p>
            <a:pPr indent="0" marL="0">
              <a:lnSpc>
                <a:spcPts val="1700"/>
              </a:lnSpc>
              <a:buNone/>
            </a:pPr>
            <a:r>
              <a:rPr lang="en-US" sz="1300" dirty="0">
                <a:solidFill>
                  <a:srgbClr val="262626"/>
                </a:solidFill>
                <a:latin typeface="Calibri" pitchFamily="34" charset="0"/>
                <a:ea typeface="Calibri" pitchFamily="34" charset="-122"/>
                <a:cs typeface="Calibri" pitchFamily="34" charset="-120"/>
              </a:rPr>
              <a:t>Anything at all — this is your real backup</a:t>
            </a:r>
            <a:endParaRPr lang="en-US" sz="1300" dirty="0"/>
          </a:p>
        </p:txBody>
      </p:sp>
      <p:sp>
        <p:nvSpPr>
          <p:cNvPr id="18" name="Shape 16"/>
          <p:cNvSpPr/>
          <p:nvPr/>
        </p:nvSpPr>
        <p:spPr>
          <a:xfrm>
            <a:off x="548640" y="4617720"/>
            <a:ext cx="11091672" cy="1325880"/>
          </a:xfrm>
          <a:prstGeom prst="roundRect">
            <a:avLst>
              <a:gd name="adj" fmla="val 4828"/>
            </a:avLst>
          </a:prstGeom>
          <a:solidFill>
            <a:srgbClr val="FAF2F3"/>
          </a:solidFill>
          <a:ln/>
        </p:spPr>
      </p:sp>
      <p:sp>
        <p:nvSpPr>
          <p:cNvPr id="19" name="Shape 17"/>
          <p:cNvSpPr/>
          <p:nvPr/>
        </p:nvSpPr>
        <p:spPr>
          <a:xfrm>
            <a:off x="777240" y="4983480"/>
            <a:ext cx="603504" cy="603504"/>
          </a:xfrm>
          <a:prstGeom prst="ellipse">
            <a:avLst/>
          </a:prstGeom>
          <a:solidFill>
            <a:srgbClr val="6E6E6E"/>
          </a:solidFill>
          <a:ln/>
        </p:spPr>
      </p:sp>
      <p:sp>
        <p:nvSpPr>
          <p:cNvPr id="20" name="Text 18"/>
          <p:cNvSpPr/>
          <p:nvPr/>
        </p:nvSpPr>
        <p:spPr>
          <a:xfrm>
            <a:off x="777240" y="498348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9"/>
          <p:cNvSpPr/>
          <p:nvPr/>
        </p:nvSpPr>
        <p:spPr>
          <a:xfrm>
            <a:off x="1554480" y="4818888"/>
            <a:ext cx="3200400" cy="384048"/>
          </a:xfrm>
          <a:prstGeom prst="rect">
            <a:avLst/>
          </a:prstGeom>
          <a:noFill/>
          <a:ln/>
        </p:spPr>
        <p:txBody>
          <a:bodyPr wrap="square" lIns="0" tIns="0" rIns="0" bIns="0" rtlCol="0" anchor="ctr"/>
          <a:lstStyle/>
          <a:p>
            <a:pPr indent="0" marL="0">
              <a:buNone/>
            </a:pPr>
            <a:r>
              <a:rPr lang="en-US" sz="1450" b="1" dirty="0">
                <a:solidFill>
                  <a:srgbClr val="6E6E6E"/>
                </a:solidFill>
                <a:latin typeface="Calibri" pitchFamily="34" charset="0"/>
                <a:ea typeface="Calibri" pitchFamily="34" charset="-122"/>
                <a:cs typeface="Calibri" pitchFamily="34" charset="-120"/>
              </a:rPr>
              <a:t>Recent model edits</a:t>
            </a:r>
            <a:endParaRPr lang="en-US" sz="1450" dirty="0"/>
          </a:p>
        </p:txBody>
      </p:sp>
      <p:sp>
        <p:nvSpPr>
          <p:cNvPr id="22" name="Text 20"/>
          <p:cNvSpPr/>
          <p:nvPr/>
        </p:nvSpPr>
        <p:spPr>
          <a:xfrm>
            <a:off x="1554480" y="5239512"/>
            <a:ext cx="3200400" cy="502920"/>
          </a:xfrm>
          <a:prstGeom prst="rect">
            <a:avLst/>
          </a:prstGeom>
          <a:noFill/>
          <a:ln/>
        </p:spPr>
        <p:txBody>
          <a:bodyPr wrap="square" lIns="0" tIns="0" rIns="0" bIns="0" rtlCol="0" anchor="ctr"/>
          <a:lstStyle/>
          <a:p>
            <a:pPr indent="0" marL="0">
              <a:lnSpc>
                <a:spcPts val="1500"/>
              </a:lnSpc>
              <a:buNone/>
            </a:pPr>
            <a:r>
              <a:rPr lang="en-US" sz="1150" dirty="0">
                <a:solidFill>
                  <a:srgbClr val="6E6E6E"/>
                </a:solidFill>
                <a:latin typeface="Calibri" pitchFamily="34" charset="0"/>
                <a:ea typeface="Calibri" pitchFamily="34" charset="-122"/>
                <a:cs typeface="Calibri" pitchFamily="34" charset="-120"/>
              </a:rPr>
              <a:t>Power BI Service version history</a:t>
            </a:r>
            <a:endParaRPr lang="en-US" sz="1150" dirty="0"/>
          </a:p>
        </p:txBody>
      </p:sp>
      <p:sp>
        <p:nvSpPr>
          <p:cNvPr id="23" name="Text 21"/>
          <p:cNvSpPr/>
          <p:nvPr/>
        </p:nvSpPr>
        <p:spPr>
          <a:xfrm>
            <a:off x="5029200" y="4846320"/>
            <a:ext cx="6309360" cy="868680"/>
          </a:xfrm>
          <a:prstGeom prst="rect">
            <a:avLst/>
          </a:prstGeom>
          <a:noFill/>
          <a:ln/>
        </p:spPr>
        <p:txBody>
          <a:bodyPr wrap="square" lIns="0" tIns="0" rIns="0" bIns="0" rtlCol="0" anchor="ctr"/>
          <a:lstStyle/>
          <a:p>
            <a:pPr indent="0" marL="0">
              <a:lnSpc>
                <a:spcPts val="1700"/>
              </a:lnSpc>
              <a:buNone/>
            </a:pPr>
            <a:r>
              <a:rPr lang="en-US" sz="1300" dirty="0">
                <a:solidFill>
                  <a:srgbClr val="262626"/>
                </a:solidFill>
                <a:latin typeface="Calibri" pitchFamily="34" charset="0"/>
                <a:ea typeface="Calibri" pitchFamily="34" charset="-122"/>
                <a:cs typeface="Calibri" pitchFamily="34" charset="-120"/>
              </a:rPr>
              <a:t>You broke something today and want yesterday back</a:t>
            </a:r>
            <a:endParaRPr lang="en-US" sz="1300" dirty="0"/>
          </a:p>
        </p:txBody>
      </p:sp>
      <p:sp>
        <p:nvSpPr>
          <p:cNvPr id="24" name="Text 22"/>
          <p:cNvSpPr/>
          <p:nvPr/>
        </p:nvSpPr>
        <p:spPr>
          <a:xfrm>
            <a:off x="548640" y="6263640"/>
            <a:ext cx="11091672" cy="365760"/>
          </a:xfrm>
          <a:prstGeom prst="rect">
            <a:avLst/>
          </a:prstGeom>
          <a:noFill/>
          <a:ln/>
        </p:spPr>
        <p:txBody>
          <a:bodyPr wrap="square" lIns="0" tIns="0" rIns="0" bIns="0" rtlCol="0" anchor="ctr"/>
          <a:lstStyle/>
          <a:p>
            <a:pPr indent="0" marL="0">
              <a:buNone/>
            </a:pPr>
            <a:r>
              <a:rPr lang="en-US" sz="1300" b="1" i="1" dirty="0">
                <a:solidFill>
                  <a:srgbClr val="9D2235"/>
                </a:solidFill>
                <a:latin typeface="Calibri" pitchFamily="34" charset="0"/>
                <a:ea typeface="Calibri" pitchFamily="34" charset="-122"/>
                <a:cs typeface="Calibri" pitchFamily="34" charset="-120"/>
              </a:rPr>
              <a:t>Layer 2 is the one this course requires, and the one that will actually save you.</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LAYER 1</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Protecting the source data</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Backup routine · Session 3</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B4</a:t>
            </a:r>
            <a:endParaRPr lang="en-US" sz="850" dirty="0"/>
          </a:p>
        </p:txBody>
      </p:sp>
      <p:sp>
        <p:nvSpPr>
          <p:cNvPr id="6" name="Text 4"/>
          <p:cNvSpPr/>
          <p:nvPr/>
        </p:nvSpPr>
        <p:spPr>
          <a:xfrm>
            <a:off x="548640" y="1417320"/>
            <a:ext cx="11091672" cy="502920"/>
          </a:xfrm>
          <a:prstGeom prst="rect">
            <a:avLst/>
          </a:prstGeom>
          <a:noFill/>
          <a:ln/>
        </p:spPr>
        <p:txBody>
          <a:bodyPr wrap="square" lIns="0" tIns="0" rIns="0" bIns="0" rtlCol="0" anchor="ctr"/>
          <a:lstStyle/>
          <a:p>
            <a:pPr indent="0" marL="0">
              <a:lnSpc>
                <a:spcPts val="1900"/>
              </a:lnSpc>
              <a:buNone/>
            </a:pPr>
            <a:r>
              <a:rPr lang="en-US" sz="1450" dirty="0">
                <a:solidFill>
                  <a:srgbClr val="262626"/>
                </a:solidFill>
                <a:latin typeface="Calibri" pitchFamily="34" charset="0"/>
                <a:ea typeface="Calibri" pitchFamily="34" charset="-122"/>
                <a:cs typeface="Calibri" pitchFamily="34" charset="-120"/>
              </a:rPr>
              <a:t>The Kape Tayo workbook sits in your OneDrive, and OneDrive keeps a history of every version automatically. This works on your student account.</a:t>
            </a:r>
            <a:endParaRPr lang="en-US" sz="1450" dirty="0"/>
          </a:p>
        </p:txBody>
      </p:sp>
      <p:sp>
        <p:nvSpPr>
          <p:cNvPr id="7" name="Shape 5"/>
          <p:cNvSpPr/>
          <p:nvPr/>
        </p:nvSpPr>
        <p:spPr>
          <a:xfrm>
            <a:off x="548640" y="2103120"/>
            <a:ext cx="6766560" cy="777240"/>
          </a:xfrm>
          <a:prstGeom prst="roundRect">
            <a:avLst>
              <a:gd name="adj" fmla="val 8235"/>
            </a:avLst>
          </a:prstGeom>
          <a:solidFill>
            <a:srgbClr val="FAF2F3"/>
          </a:solidFill>
          <a:ln/>
        </p:spPr>
      </p:sp>
      <p:sp>
        <p:nvSpPr>
          <p:cNvPr id="8" name="Shape 6"/>
          <p:cNvSpPr/>
          <p:nvPr/>
        </p:nvSpPr>
        <p:spPr>
          <a:xfrm>
            <a:off x="731520" y="2212848"/>
            <a:ext cx="548640" cy="548640"/>
          </a:xfrm>
          <a:prstGeom prst="ellipse">
            <a:avLst/>
          </a:prstGeom>
          <a:solidFill>
            <a:srgbClr val="2C6E49"/>
          </a:solidFill>
          <a:ln/>
        </p:spPr>
      </p:sp>
      <p:sp>
        <p:nvSpPr>
          <p:cNvPr id="9" name="Text 7"/>
          <p:cNvSpPr/>
          <p:nvPr/>
        </p:nvSpPr>
        <p:spPr>
          <a:xfrm>
            <a:off x="731520" y="22128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508760" y="2157984"/>
            <a:ext cx="5577840" cy="658368"/>
          </a:xfrm>
          <a:prstGeom prst="rect">
            <a:avLst/>
          </a:prstGeom>
          <a:noFill/>
          <a:ln/>
        </p:spPr>
        <p:txBody>
          <a:bodyPr wrap="square" lIns="0" tIns="0" rIns="0" bIns="0" rtlCol="0" anchor="ctr"/>
          <a:lstStyle/>
          <a:p>
            <a:pPr indent="0" marL="0">
              <a:buNone/>
            </a:pPr>
            <a:r>
              <a:rPr lang="en-US" sz="1350" dirty="0">
                <a:solidFill>
                  <a:srgbClr val="262626"/>
                </a:solidFill>
                <a:latin typeface="Calibri" pitchFamily="34" charset="0"/>
                <a:ea typeface="Calibri" pitchFamily="34" charset="-122"/>
                <a:cs typeface="Calibri" pitchFamily="34" charset="-120"/>
              </a:rPr>
              <a:t>Open OneDrive in a browser and find the file</a:t>
            </a:r>
            <a:endParaRPr lang="en-US" sz="1350" dirty="0"/>
          </a:p>
        </p:txBody>
      </p:sp>
      <p:sp>
        <p:nvSpPr>
          <p:cNvPr id="11" name="Shape 9"/>
          <p:cNvSpPr/>
          <p:nvPr/>
        </p:nvSpPr>
        <p:spPr>
          <a:xfrm>
            <a:off x="548640" y="3017520"/>
            <a:ext cx="6766560" cy="777240"/>
          </a:xfrm>
          <a:prstGeom prst="roundRect">
            <a:avLst>
              <a:gd name="adj" fmla="val 8235"/>
            </a:avLst>
          </a:prstGeom>
          <a:solidFill>
            <a:srgbClr val="FAF2F3"/>
          </a:solidFill>
          <a:ln/>
        </p:spPr>
      </p:sp>
      <p:sp>
        <p:nvSpPr>
          <p:cNvPr id="12" name="Shape 10"/>
          <p:cNvSpPr/>
          <p:nvPr/>
        </p:nvSpPr>
        <p:spPr>
          <a:xfrm>
            <a:off x="731520" y="3127248"/>
            <a:ext cx="548640" cy="548640"/>
          </a:xfrm>
          <a:prstGeom prst="ellipse">
            <a:avLst/>
          </a:prstGeom>
          <a:solidFill>
            <a:srgbClr val="2C6E49"/>
          </a:solidFill>
          <a:ln/>
        </p:spPr>
      </p:sp>
      <p:sp>
        <p:nvSpPr>
          <p:cNvPr id="13" name="Text 11"/>
          <p:cNvSpPr/>
          <p:nvPr/>
        </p:nvSpPr>
        <p:spPr>
          <a:xfrm>
            <a:off x="731520" y="31272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1508760" y="3072384"/>
            <a:ext cx="5577840" cy="658368"/>
          </a:xfrm>
          <a:prstGeom prst="rect">
            <a:avLst/>
          </a:prstGeom>
          <a:noFill/>
          <a:ln/>
        </p:spPr>
        <p:txBody>
          <a:bodyPr wrap="square" lIns="0" tIns="0" rIns="0" bIns="0" rtlCol="0" anchor="ctr"/>
          <a:lstStyle/>
          <a:p>
            <a:pPr indent="0" marL="0">
              <a:buNone/>
            </a:pPr>
            <a:r>
              <a:rPr lang="en-US" sz="1350" dirty="0">
                <a:solidFill>
                  <a:srgbClr val="262626"/>
                </a:solidFill>
                <a:latin typeface="Calibri" pitchFamily="34" charset="0"/>
                <a:ea typeface="Calibri" pitchFamily="34" charset="-122"/>
                <a:cs typeface="Calibri" pitchFamily="34" charset="-120"/>
              </a:rPr>
              <a:t>Right-click it → Version history</a:t>
            </a:r>
            <a:endParaRPr lang="en-US" sz="1350" dirty="0"/>
          </a:p>
        </p:txBody>
      </p:sp>
      <p:sp>
        <p:nvSpPr>
          <p:cNvPr id="15" name="Shape 13"/>
          <p:cNvSpPr/>
          <p:nvPr/>
        </p:nvSpPr>
        <p:spPr>
          <a:xfrm>
            <a:off x="548640" y="3931920"/>
            <a:ext cx="6766560" cy="777240"/>
          </a:xfrm>
          <a:prstGeom prst="roundRect">
            <a:avLst>
              <a:gd name="adj" fmla="val 8235"/>
            </a:avLst>
          </a:prstGeom>
          <a:solidFill>
            <a:srgbClr val="FAF2F3"/>
          </a:solidFill>
          <a:ln/>
        </p:spPr>
      </p:sp>
      <p:sp>
        <p:nvSpPr>
          <p:cNvPr id="16" name="Shape 14"/>
          <p:cNvSpPr/>
          <p:nvPr/>
        </p:nvSpPr>
        <p:spPr>
          <a:xfrm>
            <a:off x="731520" y="4041648"/>
            <a:ext cx="548640" cy="548640"/>
          </a:xfrm>
          <a:prstGeom prst="ellipse">
            <a:avLst/>
          </a:prstGeom>
          <a:solidFill>
            <a:srgbClr val="2C6E49"/>
          </a:solidFill>
          <a:ln/>
        </p:spPr>
      </p:sp>
      <p:sp>
        <p:nvSpPr>
          <p:cNvPr id="17" name="Text 15"/>
          <p:cNvSpPr/>
          <p:nvPr/>
        </p:nvSpPr>
        <p:spPr>
          <a:xfrm>
            <a:off x="731520" y="40416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508760" y="3986784"/>
            <a:ext cx="5577840" cy="658368"/>
          </a:xfrm>
          <a:prstGeom prst="rect">
            <a:avLst/>
          </a:prstGeom>
          <a:noFill/>
          <a:ln/>
        </p:spPr>
        <p:txBody>
          <a:bodyPr wrap="square" lIns="0" tIns="0" rIns="0" bIns="0" rtlCol="0" anchor="ctr"/>
          <a:lstStyle/>
          <a:p>
            <a:pPr indent="0" marL="0">
              <a:buNone/>
            </a:pPr>
            <a:r>
              <a:rPr lang="en-US" sz="1350" dirty="0">
                <a:solidFill>
                  <a:srgbClr val="262626"/>
                </a:solidFill>
                <a:latin typeface="Calibri" pitchFamily="34" charset="0"/>
                <a:ea typeface="Calibri" pitchFamily="34" charset="-122"/>
                <a:cs typeface="Calibri" pitchFamily="34" charset="-120"/>
              </a:rPr>
              <a:t>Any dated version can be previewed or restored</a:t>
            </a:r>
            <a:endParaRPr lang="en-US" sz="1350" dirty="0"/>
          </a:p>
        </p:txBody>
      </p:sp>
      <p:sp>
        <p:nvSpPr>
          <p:cNvPr id="19" name="Shape 17"/>
          <p:cNvSpPr/>
          <p:nvPr/>
        </p:nvSpPr>
        <p:spPr>
          <a:xfrm>
            <a:off x="7589520" y="2103120"/>
            <a:ext cx="4050792" cy="2606040"/>
          </a:xfrm>
          <a:prstGeom prst="roundRect">
            <a:avLst>
              <a:gd name="adj" fmla="val 2456"/>
            </a:avLst>
          </a:prstGeom>
          <a:solidFill>
            <a:srgbClr val="FFE8EA"/>
          </a:solidFill>
          <a:ln/>
        </p:spPr>
      </p:sp>
      <p:sp>
        <p:nvSpPr>
          <p:cNvPr id="20" name="Shape 18"/>
          <p:cNvSpPr/>
          <p:nvPr/>
        </p:nvSpPr>
        <p:spPr>
          <a:xfrm>
            <a:off x="7863840" y="2359152"/>
            <a:ext cx="548640" cy="548640"/>
          </a:xfrm>
          <a:prstGeom prst="ellipse">
            <a:avLst/>
          </a:prstGeom>
          <a:solidFill>
            <a:srgbClr val="9D2235"/>
          </a:solidFill>
          <a:ln/>
        </p:spPr>
      </p:sp>
      <p:pic>
        <p:nvPicPr>
          <p:cNvPr id="21" name="Image 0" descr="preencoded.png">    </p:cNvPr>
          <p:cNvPicPr>
            <a:picLocks noChangeAspect="1"/>
          </p:cNvPicPr>
          <p:nvPr/>
        </p:nvPicPr>
        <p:blipFill>
          <a:blip r:embed="rId1"/>
          <a:stretch>
            <a:fillRect/>
          </a:stretch>
        </p:blipFill>
        <p:spPr>
          <a:xfrm>
            <a:off x="8006486" y="2501798"/>
            <a:ext cx="263347" cy="263347"/>
          </a:xfrm>
          <a:prstGeom prst="rect">
            <a:avLst/>
          </a:prstGeom>
        </p:spPr>
      </p:pic>
      <p:sp>
        <p:nvSpPr>
          <p:cNvPr id="22" name="Text 19"/>
          <p:cNvSpPr/>
          <p:nvPr/>
        </p:nvSpPr>
        <p:spPr>
          <a:xfrm>
            <a:off x="7863840" y="3063240"/>
            <a:ext cx="3566160" cy="365760"/>
          </a:xfrm>
          <a:prstGeom prst="rect">
            <a:avLst/>
          </a:prstGeom>
          <a:noFill/>
          <a:ln/>
        </p:spPr>
        <p:txBody>
          <a:bodyPr wrap="square" lIns="0" tIns="0" rIns="0" bIns="0" rtlCol="0" anchor="ctr"/>
          <a:lstStyle/>
          <a:p>
            <a:pPr indent="0" marL="0">
              <a:buNone/>
            </a:pPr>
            <a:r>
              <a:rPr lang="en-US" sz="1450" b="1" dirty="0">
                <a:solidFill>
                  <a:srgbClr val="9D2235"/>
                </a:solidFill>
                <a:latin typeface="Calibri" pitchFamily="34" charset="0"/>
                <a:ea typeface="Calibri" pitchFamily="34" charset="-122"/>
                <a:cs typeface="Calibri" pitchFamily="34" charset="-120"/>
              </a:rPr>
              <a:t>Never edit the source</a:t>
            </a:r>
            <a:endParaRPr lang="en-US" sz="1450" dirty="0"/>
          </a:p>
        </p:txBody>
      </p:sp>
      <p:sp>
        <p:nvSpPr>
          <p:cNvPr id="23" name="Text 20"/>
          <p:cNvSpPr/>
          <p:nvPr/>
        </p:nvSpPr>
        <p:spPr>
          <a:xfrm>
            <a:off x="7863840" y="3474720"/>
            <a:ext cx="3566160" cy="1097280"/>
          </a:xfrm>
          <a:prstGeom prst="rect">
            <a:avLst/>
          </a:prstGeom>
          <a:noFill/>
          <a:ln/>
        </p:spPr>
        <p:txBody>
          <a:bodyPr wrap="square" lIns="0" tIns="0" rIns="0" bIns="0" rtlCol="0" anchor="ctr"/>
          <a:lstStyle/>
          <a:p>
            <a:pPr indent="0" marL="0">
              <a:lnSpc>
                <a:spcPts val="1500"/>
              </a:lnSpc>
              <a:buNone/>
            </a:pPr>
            <a:r>
              <a:rPr lang="en-US" sz="1150" dirty="0">
                <a:solidFill>
                  <a:srgbClr val="262626"/>
                </a:solidFill>
                <a:latin typeface="Calibri" pitchFamily="34" charset="0"/>
                <a:ea typeface="Calibri" pitchFamily="34" charset="-122"/>
                <a:cs typeface="Calibri" pitchFamily="34" charset="-120"/>
              </a:rPr>
              <a:t>Altering source data is the gravest offence in this course. Clean in the query, where every change is a step someone can read and reverse.</a:t>
            </a:r>
            <a:endParaRPr lang="en-US" sz="1150" dirty="0"/>
          </a:p>
        </p:txBody>
      </p:sp>
      <p:sp>
        <p:nvSpPr>
          <p:cNvPr id="24" name="Text 21"/>
          <p:cNvSpPr/>
          <p:nvPr/>
        </p:nvSpPr>
        <p:spPr>
          <a:xfrm>
            <a:off x="548640" y="5120640"/>
            <a:ext cx="11091672" cy="365760"/>
          </a:xfrm>
          <a:prstGeom prst="rect">
            <a:avLst/>
          </a:prstGeom>
          <a:noFill/>
          <a:ln/>
        </p:spPr>
        <p:txBody>
          <a:bodyPr wrap="square" lIns="0" tIns="0" rIns="0" bIns="0"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Use this when you opened the file in Excel, changed something by accident, and saved.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LAYER 2</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The backup this course requires</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Backup routine · Session 3</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B5</a:t>
            </a:r>
            <a:endParaRPr lang="en-US" sz="850" dirty="0"/>
          </a:p>
        </p:txBody>
      </p:sp>
      <p:sp>
        <p:nvSpPr>
          <p:cNvPr id="6" name="Text 4"/>
          <p:cNvSpPr/>
          <p:nvPr/>
        </p:nvSpPr>
        <p:spPr>
          <a:xfrm>
            <a:off x="548640" y="1417320"/>
            <a:ext cx="11091672" cy="457200"/>
          </a:xfrm>
          <a:prstGeom prst="rect">
            <a:avLst/>
          </a:prstGeom>
          <a:noFill/>
          <a:ln/>
        </p:spPr>
        <p:txBody>
          <a:bodyPr wrap="square" lIns="0" tIns="0" rIns="0" bIns="0" rtlCol="0" anchor="ctr"/>
          <a:lstStyle/>
          <a:p>
            <a:pPr indent="0" marL="0">
              <a:buNone/>
            </a:pPr>
            <a:r>
              <a:rPr lang="en-US" sz="1450" dirty="0">
                <a:solidFill>
                  <a:srgbClr val="262626"/>
                </a:solidFill>
                <a:latin typeface="Calibri" pitchFamily="34" charset="0"/>
                <a:ea typeface="Calibri" pitchFamily="34" charset="-122"/>
                <a:cs typeface="Calibri" pitchFamily="34" charset="-120"/>
              </a:rPr>
              <a:t>TMDL is your whole model written out as readable text — every table, relationship, measure, and the query behind each table.</a:t>
            </a:r>
            <a:endParaRPr lang="en-US" sz="1450" dirty="0"/>
          </a:p>
        </p:txBody>
      </p:sp>
      <p:sp>
        <p:nvSpPr>
          <p:cNvPr id="7" name="Shape 5"/>
          <p:cNvSpPr/>
          <p:nvPr/>
        </p:nvSpPr>
        <p:spPr>
          <a:xfrm>
            <a:off x="548640" y="1965960"/>
            <a:ext cx="11091672" cy="749808"/>
          </a:xfrm>
          <a:prstGeom prst="roundRect">
            <a:avLst>
              <a:gd name="adj" fmla="val 8537"/>
            </a:avLst>
          </a:prstGeom>
          <a:solidFill>
            <a:srgbClr val="FFF7E6"/>
          </a:solidFill>
          <a:ln/>
        </p:spPr>
      </p:sp>
      <p:sp>
        <p:nvSpPr>
          <p:cNvPr id="8" name="Shape 6"/>
          <p:cNvSpPr/>
          <p:nvPr/>
        </p:nvSpPr>
        <p:spPr>
          <a:xfrm>
            <a:off x="731520" y="2066544"/>
            <a:ext cx="548640" cy="548640"/>
          </a:xfrm>
          <a:prstGeom prst="ellipse">
            <a:avLst/>
          </a:prstGeom>
          <a:solidFill>
            <a:srgbClr val="C99700"/>
          </a:solidFill>
          <a:ln/>
        </p:spPr>
      </p:sp>
      <p:sp>
        <p:nvSpPr>
          <p:cNvPr id="9" name="Text 7"/>
          <p:cNvSpPr/>
          <p:nvPr/>
        </p:nvSpPr>
        <p:spPr>
          <a:xfrm>
            <a:off x="731520" y="206654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508760" y="2011680"/>
            <a:ext cx="4572000" cy="658368"/>
          </a:xfrm>
          <a:prstGeom prst="rect">
            <a:avLst/>
          </a:prstGeom>
          <a:noFill/>
          <a:ln/>
        </p:spPr>
        <p:txBody>
          <a:bodyPr wrap="square" lIns="0" tIns="0" rIns="0" bIns="0" rtlCol="0" anchor="ctr"/>
          <a:lstStyle/>
          <a:p>
            <a:pPr indent="0" marL="0">
              <a:buNone/>
            </a:pPr>
            <a:r>
              <a:rPr lang="en-US" sz="1350" b="1" dirty="0">
                <a:solidFill>
                  <a:srgbClr val="C99700"/>
                </a:solidFill>
                <a:latin typeface="Calibri" pitchFamily="34" charset="0"/>
                <a:ea typeface="Calibri" pitchFamily="34" charset="-122"/>
                <a:cs typeface="Calibri" pitchFamily="34" charset="-120"/>
              </a:rPr>
              <a:t>Rename your applied steps first</a:t>
            </a:r>
            <a:endParaRPr lang="en-US" sz="1350" dirty="0"/>
          </a:p>
        </p:txBody>
      </p:sp>
      <p:sp>
        <p:nvSpPr>
          <p:cNvPr id="11" name="Text 9"/>
          <p:cNvSpPr/>
          <p:nvPr/>
        </p:nvSpPr>
        <p:spPr>
          <a:xfrm>
            <a:off x="6217920" y="2011680"/>
            <a:ext cx="5120640" cy="658368"/>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A backup you cannot read is not a backup</a:t>
            </a:r>
            <a:endParaRPr lang="en-US" sz="1150" dirty="0"/>
          </a:p>
        </p:txBody>
      </p:sp>
      <p:sp>
        <p:nvSpPr>
          <p:cNvPr id="12" name="Shape 10"/>
          <p:cNvSpPr/>
          <p:nvPr/>
        </p:nvSpPr>
        <p:spPr>
          <a:xfrm>
            <a:off x="548640" y="2788920"/>
            <a:ext cx="11091672" cy="749808"/>
          </a:xfrm>
          <a:prstGeom prst="roundRect">
            <a:avLst>
              <a:gd name="adj" fmla="val 8537"/>
            </a:avLst>
          </a:prstGeom>
          <a:solidFill>
            <a:srgbClr val="FAF2F3"/>
          </a:solidFill>
          <a:ln/>
        </p:spPr>
      </p:sp>
      <p:sp>
        <p:nvSpPr>
          <p:cNvPr id="13" name="Shape 11"/>
          <p:cNvSpPr/>
          <p:nvPr/>
        </p:nvSpPr>
        <p:spPr>
          <a:xfrm>
            <a:off x="731520" y="2889504"/>
            <a:ext cx="548640" cy="548640"/>
          </a:xfrm>
          <a:prstGeom prst="ellipse">
            <a:avLst/>
          </a:prstGeom>
          <a:solidFill>
            <a:srgbClr val="9D2235"/>
          </a:solidFill>
          <a:ln/>
        </p:spPr>
      </p:sp>
      <p:sp>
        <p:nvSpPr>
          <p:cNvPr id="14" name="Text 12"/>
          <p:cNvSpPr/>
          <p:nvPr/>
        </p:nvSpPr>
        <p:spPr>
          <a:xfrm>
            <a:off x="731520" y="288950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1508760" y="2834640"/>
            <a:ext cx="4572000" cy="658368"/>
          </a:xfrm>
          <a:prstGeom prst="rect">
            <a:avLst/>
          </a:prstGeom>
          <a:noFill/>
          <a:ln/>
        </p:spPr>
        <p:txBody>
          <a:bodyPr wrap="square" lIns="0" tIns="0" rIns="0" bIns="0" rtlCol="0" anchor="ctr"/>
          <a:lstStyle/>
          <a:p>
            <a:pPr indent="0" marL="0">
              <a:buNone/>
            </a:pPr>
            <a:r>
              <a:rPr lang="en-US" sz="1350" b="1" dirty="0">
                <a:solidFill>
                  <a:srgbClr val="9D2235"/>
                </a:solidFill>
                <a:latin typeface="Calibri" pitchFamily="34" charset="0"/>
                <a:ea typeface="Calibri" pitchFamily="34" charset="-122"/>
                <a:cs typeface="Calibri" pitchFamily="34" charset="-120"/>
              </a:rPr>
              <a:t>Model view → TMDL View</a:t>
            </a:r>
            <a:endParaRPr lang="en-US" sz="1350" dirty="0"/>
          </a:p>
        </p:txBody>
      </p:sp>
      <p:sp>
        <p:nvSpPr>
          <p:cNvPr id="16" name="Text 14"/>
          <p:cNvSpPr/>
          <p:nvPr/>
        </p:nvSpPr>
        <p:spPr>
          <a:xfrm>
            <a:off x="6217920" y="2834640"/>
            <a:ext cx="5120640" cy="658368"/>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Bottom of the semantic model window</a:t>
            </a:r>
            <a:endParaRPr lang="en-US" sz="1150" dirty="0"/>
          </a:p>
        </p:txBody>
      </p:sp>
      <p:sp>
        <p:nvSpPr>
          <p:cNvPr id="17" name="Shape 15"/>
          <p:cNvSpPr/>
          <p:nvPr/>
        </p:nvSpPr>
        <p:spPr>
          <a:xfrm>
            <a:off x="548640" y="3611880"/>
            <a:ext cx="11091672" cy="749808"/>
          </a:xfrm>
          <a:prstGeom prst="roundRect">
            <a:avLst>
              <a:gd name="adj" fmla="val 8537"/>
            </a:avLst>
          </a:prstGeom>
          <a:solidFill>
            <a:srgbClr val="FAF2F3"/>
          </a:solidFill>
          <a:ln/>
        </p:spPr>
      </p:sp>
      <p:sp>
        <p:nvSpPr>
          <p:cNvPr id="18" name="Shape 16"/>
          <p:cNvSpPr/>
          <p:nvPr/>
        </p:nvSpPr>
        <p:spPr>
          <a:xfrm>
            <a:off x="731520" y="3712464"/>
            <a:ext cx="548640" cy="548640"/>
          </a:xfrm>
          <a:prstGeom prst="ellipse">
            <a:avLst/>
          </a:prstGeom>
          <a:solidFill>
            <a:srgbClr val="9D2235"/>
          </a:solidFill>
          <a:ln/>
        </p:spPr>
      </p:sp>
      <p:sp>
        <p:nvSpPr>
          <p:cNvPr id="19" name="Text 17"/>
          <p:cNvSpPr/>
          <p:nvPr/>
        </p:nvSpPr>
        <p:spPr>
          <a:xfrm>
            <a:off x="731520" y="371246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8"/>
          <p:cNvSpPr/>
          <p:nvPr/>
        </p:nvSpPr>
        <p:spPr>
          <a:xfrm>
            <a:off x="1508760" y="3657600"/>
            <a:ext cx="4572000" cy="658368"/>
          </a:xfrm>
          <a:prstGeom prst="rect">
            <a:avLst/>
          </a:prstGeom>
          <a:noFill/>
          <a:ln/>
        </p:spPr>
        <p:txBody>
          <a:bodyPr wrap="square" lIns="0" tIns="0" rIns="0" bIns="0" rtlCol="0" anchor="ctr"/>
          <a:lstStyle/>
          <a:p>
            <a:pPr indent="0" marL="0">
              <a:buNone/>
            </a:pPr>
            <a:r>
              <a:rPr lang="en-US" sz="1350" b="1" dirty="0">
                <a:solidFill>
                  <a:srgbClr val="9D2235"/>
                </a:solidFill>
                <a:latin typeface="Calibri" pitchFamily="34" charset="0"/>
                <a:ea typeface="Calibri" pitchFamily="34" charset="-122"/>
                <a:cs typeface="Calibri" pitchFamily="34" charset="-120"/>
              </a:rPr>
              <a:t>Select all, copy</a:t>
            </a:r>
            <a:endParaRPr lang="en-US" sz="1350" dirty="0"/>
          </a:p>
        </p:txBody>
      </p:sp>
      <p:sp>
        <p:nvSpPr>
          <p:cNvPr id="21" name="Text 19"/>
          <p:cNvSpPr/>
          <p:nvPr/>
        </p:nvSpPr>
        <p:spPr>
          <a:xfrm>
            <a:off x="6217920" y="3657600"/>
            <a:ext cx="5120640" cy="658368"/>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The whole definition</a:t>
            </a:r>
            <a:endParaRPr lang="en-US" sz="1150" dirty="0"/>
          </a:p>
        </p:txBody>
      </p:sp>
      <p:sp>
        <p:nvSpPr>
          <p:cNvPr id="22" name="Shape 20"/>
          <p:cNvSpPr/>
          <p:nvPr/>
        </p:nvSpPr>
        <p:spPr>
          <a:xfrm>
            <a:off x="548640" y="4434840"/>
            <a:ext cx="11091672" cy="749808"/>
          </a:xfrm>
          <a:prstGeom prst="roundRect">
            <a:avLst>
              <a:gd name="adj" fmla="val 8537"/>
            </a:avLst>
          </a:prstGeom>
          <a:solidFill>
            <a:srgbClr val="FAF2F3"/>
          </a:solidFill>
          <a:ln/>
        </p:spPr>
      </p:sp>
      <p:sp>
        <p:nvSpPr>
          <p:cNvPr id="23" name="Shape 21"/>
          <p:cNvSpPr/>
          <p:nvPr/>
        </p:nvSpPr>
        <p:spPr>
          <a:xfrm>
            <a:off x="731520" y="4535424"/>
            <a:ext cx="548640" cy="548640"/>
          </a:xfrm>
          <a:prstGeom prst="ellipse">
            <a:avLst/>
          </a:prstGeom>
          <a:solidFill>
            <a:srgbClr val="9D2235"/>
          </a:solidFill>
          <a:ln/>
        </p:spPr>
      </p:sp>
      <p:sp>
        <p:nvSpPr>
          <p:cNvPr id="24" name="Text 22"/>
          <p:cNvSpPr/>
          <p:nvPr/>
        </p:nvSpPr>
        <p:spPr>
          <a:xfrm>
            <a:off x="731520" y="453542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p:nvPr/>
        </p:nvSpPr>
        <p:spPr>
          <a:xfrm>
            <a:off x="1508760" y="4480560"/>
            <a:ext cx="4572000" cy="658368"/>
          </a:xfrm>
          <a:prstGeom prst="rect">
            <a:avLst/>
          </a:prstGeom>
          <a:noFill/>
          <a:ln/>
        </p:spPr>
        <p:txBody>
          <a:bodyPr wrap="square" lIns="0" tIns="0" rIns="0" bIns="0" rtlCol="0" anchor="ctr"/>
          <a:lstStyle/>
          <a:p>
            <a:pPr indent="0" marL="0">
              <a:buNone/>
            </a:pPr>
            <a:r>
              <a:rPr lang="en-US" sz="1350" b="1" dirty="0">
                <a:solidFill>
                  <a:srgbClr val="9D2235"/>
                </a:solidFill>
                <a:latin typeface="Calibri" pitchFamily="34" charset="0"/>
                <a:ea typeface="Calibri" pitchFamily="34" charset="-122"/>
                <a:cs typeface="Calibri" pitchFamily="34" charset="-120"/>
              </a:rPr>
              <a:t>Save as model_2026-08-29.tmdl</a:t>
            </a:r>
            <a:endParaRPr lang="en-US" sz="1350" dirty="0"/>
          </a:p>
        </p:txBody>
      </p:sp>
      <p:sp>
        <p:nvSpPr>
          <p:cNvPr id="26" name="Text 24"/>
          <p:cNvSpPr/>
          <p:nvPr/>
        </p:nvSpPr>
        <p:spPr>
          <a:xfrm>
            <a:off x="6217920" y="4480560"/>
            <a:ext cx="5120640" cy="658368"/>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Date it. Always.</a:t>
            </a:r>
            <a:endParaRPr lang="en-US" sz="1150" dirty="0"/>
          </a:p>
        </p:txBody>
      </p:sp>
      <p:sp>
        <p:nvSpPr>
          <p:cNvPr id="27" name="Shape 25"/>
          <p:cNvSpPr/>
          <p:nvPr/>
        </p:nvSpPr>
        <p:spPr>
          <a:xfrm>
            <a:off x="548640" y="5257800"/>
            <a:ext cx="11091672" cy="749808"/>
          </a:xfrm>
          <a:prstGeom prst="roundRect">
            <a:avLst>
              <a:gd name="adj" fmla="val 8537"/>
            </a:avLst>
          </a:prstGeom>
          <a:solidFill>
            <a:srgbClr val="FAF2F3"/>
          </a:solidFill>
          <a:ln/>
        </p:spPr>
      </p:sp>
      <p:sp>
        <p:nvSpPr>
          <p:cNvPr id="28" name="Shape 26"/>
          <p:cNvSpPr/>
          <p:nvPr/>
        </p:nvSpPr>
        <p:spPr>
          <a:xfrm>
            <a:off x="731520" y="5358384"/>
            <a:ext cx="548640" cy="548640"/>
          </a:xfrm>
          <a:prstGeom prst="ellipse">
            <a:avLst/>
          </a:prstGeom>
          <a:solidFill>
            <a:srgbClr val="9D2235"/>
          </a:solidFill>
          <a:ln/>
        </p:spPr>
      </p:sp>
      <p:sp>
        <p:nvSpPr>
          <p:cNvPr id="29" name="Text 27"/>
          <p:cNvSpPr/>
          <p:nvPr/>
        </p:nvSpPr>
        <p:spPr>
          <a:xfrm>
            <a:off x="731520" y="535838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0" name="Text 28"/>
          <p:cNvSpPr/>
          <p:nvPr/>
        </p:nvSpPr>
        <p:spPr>
          <a:xfrm>
            <a:off x="1508760" y="5303520"/>
            <a:ext cx="4572000" cy="658368"/>
          </a:xfrm>
          <a:prstGeom prst="rect">
            <a:avLst/>
          </a:prstGeom>
          <a:noFill/>
          <a:ln/>
        </p:spPr>
        <p:txBody>
          <a:bodyPr wrap="square" lIns="0" tIns="0" rIns="0" bIns="0" rtlCol="0" anchor="ctr"/>
          <a:lstStyle/>
          <a:p>
            <a:pPr indent="0" marL="0">
              <a:buNone/>
            </a:pPr>
            <a:r>
              <a:rPr lang="en-US" sz="1350" b="1" dirty="0">
                <a:solidFill>
                  <a:srgbClr val="9D2235"/>
                </a:solidFill>
                <a:latin typeface="Calibri" pitchFamily="34" charset="0"/>
                <a:ea typeface="Calibri" pitchFamily="34" charset="-122"/>
                <a:cs typeface="Calibri" pitchFamily="34" charset="-120"/>
              </a:rPr>
              <a:t>Upload to your backups folder and commit</a:t>
            </a:r>
            <a:endParaRPr lang="en-US" sz="1350" dirty="0"/>
          </a:p>
        </p:txBody>
      </p:sp>
      <p:sp>
        <p:nvSpPr>
          <p:cNvPr id="31" name="Text 29"/>
          <p:cNvSpPr/>
          <p:nvPr/>
        </p:nvSpPr>
        <p:spPr>
          <a:xfrm>
            <a:off x="6217920" y="5303520"/>
            <a:ext cx="5120640" cy="658368"/>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Message: “B2 backup — cleaned queries, steps renamed”</a:t>
            </a:r>
            <a:endParaRPr lang="en-US" sz="1150" dirty="0"/>
          </a:p>
        </p:txBody>
      </p:sp>
      <p:sp>
        <p:nvSpPr>
          <p:cNvPr id="32" name="Text 30"/>
          <p:cNvSpPr/>
          <p:nvPr/>
        </p:nvSpPr>
        <p:spPr>
          <a:xfrm>
            <a:off x="548640" y="6080760"/>
            <a:ext cx="11091672" cy="320040"/>
          </a:xfrm>
          <a:prstGeom prst="rect">
            <a:avLst/>
          </a:prstGeom>
          <a:noFill/>
          <a:ln/>
        </p:spPr>
        <p:txBody>
          <a:bodyPr wrap="square" lIns="0" tIns="0" rIns="0" bIns="0" rtlCol="0" anchor="ctr"/>
          <a:lstStyle/>
          <a:p>
            <a:pPr indent="0" marL="0">
              <a:buNone/>
            </a:pPr>
            <a:r>
              <a:rPr lang="en-US" sz="1250" b="1" i="1" dirty="0">
                <a:solidFill>
                  <a:srgbClr val="9D2235"/>
                </a:solidFill>
                <a:latin typeface="Calibri" pitchFamily="34" charset="0"/>
                <a:ea typeface="Calibri" pitchFamily="34" charset="-122"/>
                <a:cs typeface="Calibri" pitchFamily="34" charset="-120"/>
              </a:rPr>
              <a:t>Step 1 is not optional. A file full of “Changed Type3” tells your future self nothing.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LAYER 3</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The Service's own version history — and why it is not your backup</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Backup routine · Session 3</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B6</a:t>
            </a:r>
            <a:endParaRPr lang="en-US" sz="850" dirty="0"/>
          </a:p>
        </p:txBody>
      </p:sp>
      <p:sp>
        <p:nvSpPr>
          <p:cNvPr id="6" name="Shape 4"/>
          <p:cNvSpPr/>
          <p:nvPr/>
        </p:nvSpPr>
        <p:spPr>
          <a:xfrm>
            <a:off x="548640" y="1572768"/>
            <a:ext cx="11091672" cy="621792"/>
          </a:xfrm>
          <a:prstGeom prst="roundRect">
            <a:avLst>
              <a:gd name="adj" fmla="val 10294"/>
            </a:avLst>
          </a:prstGeom>
          <a:solidFill>
            <a:srgbClr val="FAF2F3"/>
          </a:solidFill>
          <a:ln/>
        </p:spPr>
      </p:sp>
      <p:sp>
        <p:nvSpPr>
          <p:cNvPr id="7" name="Text 5"/>
          <p:cNvSpPr/>
          <p:nvPr/>
        </p:nvSpPr>
        <p:spPr>
          <a:xfrm>
            <a:off x="777240" y="1572768"/>
            <a:ext cx="2103120" cy="621792"/>
          </a:xfrm>
          <a:prstGeom prst="rect">
            <a:avLst/>
          </a:prstGeom>
          <a:noFill/>
          <a:ln/>
        </p:spPr>
        <p:txBody>
          <a:bodyPr wrap="square" lIns="0" tIns="0" rIns="0" bIns="0" rtlCol="0" anchor="ctr"/>
          <a:lstStyle/>
          <a:p>
            <a:pPr indent="0" marL="0">
              <a:buNone/>
            </a:pPr>
            <a:r>
              <a:rPr lang="en-US" sz="1300" b="1" dirty="0">
                <a:solidFill>
                  <a:srgbClr val="6E6E6E"/>
                </a:solidFill>
                <a:latin typeface="Calibri" pitchFamily="34" charset="0"/>
                <a:ea typeface="Calibri" pitchFamily="34" charset="-122"/>
                <a:cs typeface="Calibri" pitchFamily="34" charset="-120"/>
              </a:rPr>
              <a:t>Where</a:t>
            </a:r>
            <a:endParaRPr lang="en-US" sz="1300" dirty="0"/>
          </a:p>
        </p:txBody>
      </p:sp>
      <p:sp>
        <p:nvSpPr>
          <p:cNvPr id="8" name="Text 6"/>
          <p:cNvSpPr/>
          <p:nvPr/>
        </p:nvSpPr>
        <p:spPr>
          <a:xfrm>
            <a:off x="3017520" y="1572768"/>
            <a:ext cx="8321040" cy="621792"/>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Workspace list → … beside the semantic model → Version history</a:t>
            </a:r>
            <a:endParaRPr lang="en-US" sz="1250" dirty="0"/>
          </a:p>
        </p:txBody>
      </p:sp>
      <p:sp>
        <p:nvSpPr>
          <p:cNvPr id="9" name="Shape 7"/>
          <p:cNvSpPr/>
          <p:nvPr/>
        </p:nvSpPr>
        <p:spPr>
          <a:xfrm>
            <a:off x="548640" y="2304288"/>
            <a:ext cx="11091672" cy="621792"/>
          </a:xfrm>
          <a:prstGeom prst="roundRect">
            <a:avLst>
              <a:gd name="adj" fmla="val 10294"/>
            </a:avLst>
          </a:prstGeom>
          <a:solidFill>
            <a:srgbClr val="FAF2F3"/>
          </a:solidFill>
          <a:ln/>
        </p:spPr>
      </p:sp>
      <p:sp>
        <p:nvSpPr>
          <p:cNvPr id="10" name="Text 8"/>
          <p:cNvSpPr/>
          <p:nvPr/>
        </p:nvSpPr>
        <p:spPr>
          <a:xfrm>
            <a:off x="777240" y="2304288"/>
            <a:ext cx="2103120" cy="621792"/>
          </a:xfrm>
          <a:prstGeom prst="rect">
            <a:avLst/>
          </a:prstGeom>
          <a:noFill/>
          <a:ln/>
        </p:spPr>
        <p:txBody>
          <a:bodyPr wrap="square" lIns="0" tIns="0" rIns="0" bIns="0" rtlCol="0" anchor="ctr"/>
          <a:lstStyle/>
          <a:p>
            <a:pPr indent="0" marL="0">
              <a:buNone/>
            </a:pPr>
            <a:r>
              <a:rPr lang="en-US" sz="1300" b="1" dirty="0">
                <a:solidFill>
                  <a:srgbClr val="6E6E6E"/>
                </a:solidFill>
                <a:latin typeface="Calibri" pitchFamily="34" charset="0"/>
                <a:ea typeface="Calibri" pitchFamily="34" charset="-122"/>
                <a:cs typeface="Calibri" pitchFamily="34" charset="-120"/>
              </a:rPr>
              <a:t>What it shows</a:t>
            </a:r>
            <a:endParaRPr lang="en-US" sz="1300" dirty="0"/>
          </a:p>
        </p:txBody>
      </p:sp>
      <p:sp>
        <p:nvSpPr>
          <p:cNvPr id="11" name="Text 9"/>
          <p:cNvSpPr/>
          <p:nvPr/>
        </p:nvSpPr>
        <p:spPr>
          <a:xfrm>
            <a:off x="3017520" y="2304288"/>
            <a:ext cx="8321040" cy="621792"/>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Timestamp, who changed it, optional description</a:t>
            </a:r>
            <a:endParaRPr lang="en-US" sz="1250" dirty="0"/>
          </a:p>
        </p:txBody>
      </p:sp>
      <p:sp>
        <p:nvSpPr>
          <p:cNvPr id="12" name="Shape 10"/>
          <p:cNvSpPr/>
          <p:nvPr/>
        </p:nvSpPr>
        <p:spPr>
          <a:xfrm>
            <a:off x="548640" y="3035808"/>
            <a:ext cx="11091672" cy="621792"/>
          </a:xfrm>
          <a:prstGeom prst="roundRect">
            <a:avLst>
              <a:gd name="adj" fmla="val 10294"/>
            </a:avLst>
          </a:prstGeom>
          <a:solidFill>
            <a:srgbClr val="FAF2F3"/>
          </a:solidFill>
          <a:ln/>
        </p:spPr>
      </p:sp>
      <p:sp>
        <p:nvSpPr>
          <p:cNvPr id="13" name="Text 11"/>
          <p:cNvSpPr/>
          <p:nvPr/>
        </p:nvSpPr>
        <p:spPr>
          <a:xfrm>
            <a:off x="777240" y="3035808"/>
            <a:ext cx="2103120" cy="621792"/>
          </a:xfrm>
          <a:prstGeom prst="rect">
            <a:avLst/>
          </a:prstGeom>
          <a:noFill/>
          <a:ln/>
        </p:spPr>
        <p:txBody>
          <a:bodyPr wrap="square" lIns="0" tIns="0" rIns="0" bIns="0" rtlCol="0" anchor="ctr"/>
          <a:lstStyle/>
          <a:p>
            <a:pPr indent="0" marL="0">
              <a:buNone/>
            </a:pPr>
            <a:r>
              <a:rPr lang="en-US" sz="1300" b="1" dirty="0">
                <a:solidFill>
                  <a:srgbClr val="6E6E6E"/>
                </a:solidFill>
                <a:latin typeface="Calibri" pitchFamily="34" charset="0"/>
                <a:ea typeface="Calibri" pitchFamily="34" charset="-122"/>
                <a:cs typeface="Calibri" pitchFamily="34" charset="-120"/>
              </a:rPr>
              <a:t>How to restore</a:t>
            </a:r>
            <a:endParaRPr lang="en-US" sz="1300" dirty="0"/>
          </a:p>
        </p:txBody>
      </p:sp>
      <p:sp>
        <p:nvSpPr>
          <p:cNvPr id="14" name="Text 12"/>
          <p:cNvSpPr/>
          <p:nvPr/>
        </p:nvSpPr>
        <p:spPr>
          <a:xfrm>
            <a:off x="3017520" y="3035808"/>
            <a:ext cx="8321040" cy="621792"/>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Restore from a version's menu. The current state is saved first.</a:t>
            </a:r>
            <a:endParaRPr lang="en-US" sz="1250" dirty="0"/>
          </a:p>
        </p:txBody>
      </p:sp>
      <p:sp>
        <p:nvSpPr>
          <p:cNvPr id="15" name="Shape 13"/>
          <p:cNvSpPr/>
          <p:nvPr/>
        </p:nvSpPr>
        <p:spPr>
          <a:xfrm>
            <a:off x="548640" y="3767328"/>
            <a:ext cx="11091672" cy="621792"/>
          </a:xfrm>
          <a:prstGeom prst="roundRect">
            <a:avLst>
              <a:gd name="adj" fmla="val 10294"/>
            </a:avLst>
          </a:prstGeom>
          <a:solidFill>
            <a:srgbClr val="FAF2F3"/>
          </a:solidFill>
          <a:ln/>
        </p:spPr>
      </p:sp>
      <p:sp>
        <p:nvSpPr>
          <p:cNvPr id="16" name="Text 14"/>
          <p:cNvSpPr/>
          <p:nvPr/>
        </p:nvSpPr>
        <p:spPr>
          <a:xfrm>
            <a:off x="777240" y="3767328"/>
            <a:ext cx="2103120" cy="621792"/>
          </a:xfrm>
          <a:prstGeom prst="rect">
            <a:avLst/>
          </a:prstGeom>
          <a:noFill/>
          <a:ln/>
        </p:spPr>
        <p:txBody>
          <a:bodyPr wrap="square" lIns="0" tIns="0" rIns="0" bIns="0" rtlCol="0" anchor="ctr"/>
          <a:lstStyle/>
          <a:p>
            <a:pPr indent="0" marL="0">
              <a:buNone/>
            </a:pPr>
            <a:r>
              <a:rPr lang="en-US" sz="1300" b="1" dirty="0">
                <a:solidFill>
                  <a:srgbClr val="6E6E6E"/>
                </a:solidFill>
                <a:latin typeface="Calibri" pitchFamily="34" charset="0"/>
                <a:ea typeface="Calibri" pitchFamily="34" charset="-122"/>
                <a:cs typeface="Calibri" pitchFamily="34" charset="-120"/>
              </a:rPr>
              <a:t>How many</a:t>
            </a:r>
            <a:endParaRPr lang="en-US" sz="1300" dirty="0"/>
          </a:p>
        </p:txBody>
      </p:sp>
      <p:sp>
        <p:nvSpPr>
          <p:cNvPr id="17" name="Text 15"/>
          <p:cNvSpPr/>
          <p:nvPr/>
        </p:nvSpPr>
        <p:spPr>
          <a:xfrm>
            <a:off x="3017520" y="3767328"/>
            <a:ext cx="8321040" cy="621792"/>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Five versions. A sixth overwrites the oldest.</a:t>
            </a:r>
            <a:endParaRPr lang="en-US" sz="1250" dirty="0"/>
          </a:p>
        </p:txBody>
      </p:sp>
      <p:sp>
        <p:nvSpPr>
          <p:cNvPr id="18" name="Shape 16"/>
          <p:cNvSpPr/>
          <p:nvPr/>
        </p:nvSpPr>
        <p:spPr>
          <a:xfrm>
            <a:off x="548640" y="4498848"/>
            <a:ext cx="11091672" cy="621792"/>
          </a:xfrm>
          <a:prstGeom prst="roundRect">
            <a:avLst>
              <a:gd name="adj" fmla="val 10294"/>
            </a:avLst>
          </a:prstGeom>
          <a:solidFill>
            <a:srgbClr val="FAF2F3"/>
          </a:solidFill>
          <a:ln/>
        </p:spPr>
      </p:sp>
      <p:sp>
        <p:nvSpPr>
          <p:cNvPr id="19" name="Text 17"/>
          <p:cNvSpPr/>
          <p:nvPr/>
        </p:nvSpPr>
        <p:spPr>
          <a:xfrm>
            <a:off x="777240" y="4498848"/>
            <a:ext cx="2103120" cy="621792"/>
          </a:xfrm>
          <a:prstGeom prst="rect">
            <a:avLst/>
          </a:prstGeom>
          <a:noFill/>
          <a:ln/>
        </p:spPr>
        <p:txBody>
          <a:bodyPr wrap="square" lIns="0" tIns="0" rIns="0" bIns="0" rtlCol="0" anchor="ctr"/>
          <a:lstStyle/>
          <a:p>
            <a:pPr indent="0" marL="0">
              <a:buNone/>
            </a:pPr>
            <a:r>
              <a:rPr lang="en-US" sz="1300" b="1" dirty="0">
                <a:solidFill>
                  <a:srgbClr val="6E6E6E"/>
                </a:solidFill>
                <a:latin typeface="Calibri" pitchFamily="34" charset="0"/>
                <a:ea typeface="Calibri" pitchFamily="34" charset="-122"/>
                <a:cs typeface="Calibri" pitchFamily="34" charset="-120"/>
              </a:rPr>
              <a:t>How long</a:t>
            </a:r>
            <a:endParaRPr lang="en-US" sz="1300" dirty="0"/>
          </a:p>
        </p:txBody>
      </p:sp>
      <p:sp>
        <p:nvSpPr>
          <p:cNvPr id="20" name="Text 18"/>
          <p:cNvSpPr/>
          <p:nvPr/>
        </p:nvSpPr>
        <p:spPr>
          <a:xfrm>
            <a:off x="3017520" y="4498848"/>
            <a:ext cx="8321040" cy="621792"/>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About fourteen days.</a:t>
            </a:r>
            <a:endParaRPr lang="en-US" sz="1250" dirty="0"/>
          </a:p>
        </p:txBody>
      </p:sp>
      <p:sp>
        <p:nvSpPr>
          <p:cNvPr id="21" name="Shape 19"/>
          <p:cNvSpPr/>
          <p:nvPr/>
        </p:nvSpPr>
        <p:spPr>
          <a:xfrm>
            <a:off x="548640" y="5230368"/>
            <a:ext cx="11091672" cy="621792"/>
          </a:xfrm>
          <a:prstGeom prst="roundRect">
            <a:avLst>
              <a:gd name="adj" fmla="val 10294"/>
            </a:avLst>
          </a:prstGeom>
          <a:solidFill>
            <a:srgbClr val="FFE8EA"/>
          </a:solidFill>
          <a:ln/>
        </p:spPr>
      </p:sp>
      <p:sp>
        <p:nvSpPr>
          <p:cNvPr id="22" name="Text 20"/>
          <p:cNvSpPr/>
          <p:nvPr/>
        </p:nvSpPr>
        <p:spPr>
          <a:xfrm>
            <a:off x="777240" y="5230368"/>
            <a:ext cx="2103120" cy="621792"/>
          </a:xfrm>
          <a:prstGeom prst="rect">
            <a:avLst/>
          </a:prstGeom>
          <a:noFill/>
          <a:ln/>
        </p:spPr>
        <p:txBody>
          <a:bodyPr wrap="square" lIns="0" tIns="0" rIns="0" bIns="0" rtlCol="0" anchor="ctr"/>
          <a:lstStyle/>
          <a:p>
            <a:pPr indent="0" marL="0">
              <a:buNone/>
            </a:pPr>
            <a:r>
              <a:rPr lang="en-US" sz="1300" b="1" dirty="0">
                <a:solidFill>
                  <a:srgbClr val="9D2235"/>
                </a:solidFill>
                <a:latin typeface="Calibri" pitchFamily="34" charset="0"/>
                <a:ea typeface="Calibri" pitchFamily="34" charset="-122"/>
                <a:cs typeface="Calibri" pitchFamily="34" charset="-120"/>
              </a:rPr>
              <a:t>Licence</a:t>
            </a:r>
            <a:endParaRPr lang="en-US" sz="1300" dirty="0"/>
          </a:p>
        </p:txBody>
      </p:sp>
      <p:sp>
        <p:nvSpPr>
          <p:cNvPr id="23" name="Text 21"/>
          <p:cNvSpPr/>
          <p:nvPr/>
        </p:nvSpPr>
        <p:spPr>
          <a:xfrm>
            <a:off x="3017520" y="5230368"/>
            <a:ext cx="8321040" cy="621792"/>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Requires a paid Power BI licence. You do not have one.</a:t>
            </a:r>
            <a:endParaRPr lang="en-US" sz="1250" dirty="0"/>
          </a:p>
        </p:txBody>
      </p:sp>
      <p:sp>
        <p:nvSpPr>
          <p:cNvPr id="24" name="Shape 22"/>
          <p:cNvSpPr/>
          <p:nvPr/>
        </p:nvSpPr>
        <p:spPr>
          <a:xfrm>
            <a:off x="548640" y="6035040"/>
            <a:ext cx="11091672" cy="685800"/>
          </a:xfrm>
          <a:prstGeom prst="roundRect">
            <a:avLst>
              <a:gd name="adj" fmla="val 9333"/>
            </a:avLst>
          </a:prstGeom>
          <a:solidFill>
            <a:srgbClr val="3F0D18"/>
          </a:solidFill>
          <a:ln/>
        </p:spPr>
      </p:sp>
      <p:sp>
        <p:nvSpPr>
          <p:cNvPr id="25" name="Text 23"/>
          <p:cNvSpPr/>
          <p:nvPr/>
        </p:nvSpPr>
        <p:spPr>
          <a:xfrm>
            <a:off x="868680" y="6035040"/>
            <a:ext cx="10515600" cy="685800"/>
          </a:xfrm>
          <a:prstGeom prst="rect">
            <a:avLst/>
          </a:prstGeom>
          <a:noFill/>
          <a:ln/>
        </p:spPr>
        <p:txBody>
          <a:bodyPr wrap="square" lIns="0" tIns="0" rIns="0" bIns="0" rtlCol="0" anchor="ctr"/>
          <a:lstStyle/>
          <a:p>
            <a:pPr indent="0" marL="0">
              <a:buNone/>
            </a:pPr>
            <a:r>
              <a:rPr lang="en-US" sz="1400" b="1" i="1" dirty="0">
                <a:solidFill>
                  <a:srgbClr val="E3B23C"/>
                </a:solidFill>
                <a:latin typeface="Calibri" pitchFamily="34" charset="0"/>
                <a:ea typeface="Calibri" pitchFamily="34" charset="-122"/>
                <a:cs typeface="Calibri" pitchFamily="34" charset="-120"/>
              </a:rPr>
              <a:t>Five versions over fourteen days cannot carry a thirteen-week course. Layer 2 can.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RECOVERY</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When something breaks, go here</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Backup routine · Session 3</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B7</a:t>
            </a:r>
            <a:endParaRPr lang="en-US" sz="850" dirty="0"/>
          </a:p>
        </p:txBody>
      </p:sp>
      <p:sp>
        <p:nvSpPr>
          <p:cNvPr id="6" name="Shape 4"/>
          <p:cNvSpPr/>
          <p:nvPr/>
        </p:nvSpPr>
        <p:spPr>
          <a:xfrm>
            <a:off x="548640" y="1600200"/>
            <a:ext cx="11091672" cy="804672"/>
          </a:xfrm>
          <a:prstGeom prst="roundRect">
            <a:avLst>
              <a:gd name="adj" fmla="val 7955"/>
            </a:avLst>
          </a:prstGeom>
          <a:solidFill>
            <a:srgbClr val="FAF2F3"/>
          </a:solidFill>
          <a:ln/>
        </p:spPr>
      </p:sp>
      <p:sp>
        <p:nvSpPr>
          <p:cNvPr id="7" name="Shape 5"/>
          <p:cNvSpPr/>
          <p:nvPr/>
        </p:nvSpPr>
        <p:spPr>
          <a:xfrm>
            <a:off x="731520" y="1728216"/>
            <a:ext cx="548640" cy="548640"/>
          </a:xfrm>
          <a:prstGeom prst="ellipse">
            <a:avLst/>
          </a:prstGeom>
          <a:solidFill>
            <a:srgbClr val="9D2235"/>
          </a:solidFill>
          <a:ln/>
        </p:spPr>
      </p:sp>
      <p:pic>
        <p:nvPicPr>
          <p:cNvPr id="8" name="Image 0" descr="preencoded.png">    </p:cNvPr>
          <p:cNvPicPr>
            <a:picLocks noChangeAspect="1"/>
          </p:cNvPicPr>
          <p:nvPr/>
        </p:nvPicPr>
        <p:blipFill>
          <a:blip r:embed="rId1"/>
          <a:stretch>
            <a:fillRect/>
          </a:stretch>
        </p:blipFill>
        <p:spPr>
          <a:xfrm>
            <a:off x="874166" y="1870862"/>
            <a:ext cx="263347" cy="263347"/>
          </a:xfrm>
          <a:prstGeom prst="rect">
            <a:avLst/>
          </a:prstGeom>
        </p:spPr>
      </p:pic>
      <p:sp>
        <p:nvSpPr>
          <p:cNvPr id="9" name="Text 6"/>
          <p:cNvSpPr/>
          <p:nvPr/>
        </p:nvSpPr>
        <p:spPr>
          <a:xfrm>
            <a:off x="1508760" y="1673352"/>
            <a:ext cx="4206240" cy="658368"/>
          </a:xfrm>
          <a:prstGeom prst="rect">
            <a:avLst/>
          </a:prstGeom>
          <a:noFill/>
          <a:ln/>
        </p:spPr>
        <p:txBody>
          <a:bodyPr wrap="square" lIns="0" tIns="0" rIns="0" bIns="0" rtlCol="0" anchor="ctr"/>
          <a:lstStyle/>
          <a:p>
            <a:pPr indent="0" marL="0">
              <a:buNone/>
            </a:pPr>
            <a:r>
              <a:rPr lang="en-US" sz="1300" b="1" dirty="0">
                <a:solidFill>
                  <a:srgbClr val="262626"/>
                </a:solidFill>
                <a:latin typeface="Calibri" pitchFamily="34" charset="0"/>
                <a:ea typeface="Calibri" pitchFamily="34" charset="-122"/>
                <a:cs typeface="Calibri" pitchFamily="34" charset="-120"/>
              </a:rPr>
              <a:t>I broke my model an hour ago</a:t>
            </a:r>
            <a:endParaRPr lang="en-US" sz="1300" dirty="0"/>
          </a:p>
        </p:txBody>
      </p:sp>
      <p:sp>
        <p:nvSpPr>
          <p:cNvPr id="10" name="Text 7"/>
          <p:cNvSpPr/>
          <p:nvPr/>
        </p:nvSpPr>
        <p:spPr>
          <a:xfrm>
            <a:off x="5943600" y="1673352"/>
            <a:ext cx="5394960" cy="65836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Your last TMDL export</a:t>
            </a:r>
            <a:endParaRPr lang="en-US" sz="1250" dirty="0"/>
          </a:p>
        </p:txBody>
      </p:sp>
      <p:sp>
        <p:nvSpPr>
          <p:cNvPr id="11" name="Shape 8"/>
          <p:cNvSpPr/>
          <p:nvPr/>
        </p:nvSpPr>
        <p:spPr>
          <a:xfrm>
            <a:off x="548640" y="2514600"/>
            <a:ext cx="11091672" cy="804672"/>
          </a:xfrm>
          <a:prstGeom prst="roundRect">
            <a:avLst>
              <a:gd name="adj" fmla="val 7955"/>
            </a:avLst>
          </a:prstGeom>
          <a:solidFill>
            <a:srgbClr val="FAF2F3"/>
          </a:solidFill>
          <a:ln/>
        </p:spPr>
      </p:sp>
      <p:sp>
        <p:nvSpPr>
          <p:cNvPr id="12" name="Shape 9"/>
          <p:cNvSpPr/>
          <p:nvPr/>
        </p:nvSpPr>
        <p:spPr>
          <a:xfrm>
            <a:off x="731520" y="2642616"/>
            <a:ext cx="548640" cy="548640"/>
          </a:xfrm>
          <a:prstGeom prst="ellipse">
            <a:avLst/>
          </a:prstGeom>
          <a:solidFill>
            <a:srgbClr val="9D2235"/>
          </a:solidFill>
          <a:ln/>
        </p:spPr>
      </p:sp>
      <p:pic>
        <p:nvPicPr>
          <p:cNvPr id="13" name="Image 1" descr="preencoded.png">    </p:cNvPr>
          <p:cNvPicPr>
            <a:picLocks noChangeAspect="1"/>
          </p:cNvPicPr>
          <p:nvPr/>
        </p:nvPicPr>
        <p:blipFill>
          <a:blip r:embed="rId2"/>
          <a:stretch>
            <a:fillRect/>
          </a:stretch>
        </p:blipFill>
        <p:spPr>
          <a:xfrm>
            <a:off x="874166" y="2785262"/>
            <a:ext cx="263347" cy="263347"/>
          </a:xfrm>
          <a:prstGeom prst="rect">
            <a:avLst/>
          </a:prstGeom>
        </p:spPr>
      </p:pic>
      <p:sp>
        <p:nvSpPr>
          <p:cNvPr id="14" name="Text 10"/>
          <p:cNvSpPr/>
          <p:nvPr/>
        </p:nvSpPr>
        <p:spPr>
          <a:xfrm>
            <a:off x="1508760" y="2587752"/>
            <a:ext cx="4206240" cy="658368"/>
          </a:xfrm>
          <a:prstGeom prst="rect">
            <a:avLst/>
          </a:prstGeom>
          <a:noFill/>
          <a:ln/>
        </p:spPr>
        <p:txBody>
          <a:bodyPr wrap="square" lIns="0" tIns="0" rIns="0" bIns="0" rtlCol="0" anchor="ctr"/>
          <a:lstStyle/>
          <a:p>
            <a:pPr indent="0" marL="0">
              <a:buNone/>
            </a:pPr>
            <a:r>
              <a:rPr lang="en-US" sz="1300" b="1" dirty="0">
                <a:solidFill>
                  <a:srgbClr val="262626"/>
                </a:solidFill>
                <a:latin typeface="Calibri" pitchFamily="34" charset="0"/>
                <a:ea typeface="Calibri" pitchFamily="34" charset="-122"/>
                <a:cs typeface="Calibri" pitchFamily="34" charset="-120"/>
              </a:rPr>
              <a:t>I broke it last week</a:t>
            </a:r>
            <a:endParaRPr lang="en-US" sz="1300" dirty="0"/>
          </a:p>
        </p:txBody>
      </p:sp>
      <p:sp>
        <p:nvSpPr>
          <p:cNvPr id="15" name="Text 11"/>
          <p:cNvSpPr/>
          <p:nvPr/>
        </p:nvSpPr>
        <p:spPr>
          <a:xfrm>
            <a:off x="5943600" y="2587752"/>
            <a:ext cx="5394960" cy="65836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Your TMDL export in the repo. This is why you commit.</a:t>
            </a:r>
            <a:endParaRPr lang="en-US" sz="1250" dirty="0"/>
          </a:p>
        </p:txBody>
      </p:sp>
      <p:sp>
        <p:nvSpPr>
          <p:cNvPr id="16" name="Shape 12"/>
          <p:cNvSpPr/>
          <p:nvPr/>
        </p:nvSpPr>
        <p:spPr>
          <a:xfrm>
            <a:off x="548640" y="3429000"/>
            <a:ext cx="11091672" cy="804672"/>
          </a:xfrm>
          <a:prstGeom prst="roundRect">
            <a:avLst>
              <a:gd name="adj" fmla="val 7955"/>
            </a:avLst>
          </a:prstGeom>
          <a:solidFill>
            <a:srgbClr val="FAF2F3"/>
          </a:solidFill>
          <a:ln/>
        </p:spPr>
      </p:sp>
      <p:sp>
        <p:nvSpPr>
          <p:cNvPr id="17" name="Shape 13"/>
          <p:cNvSpPr/>
          <p:nvPr/>
        </p:nvSpPr>
        <p:spPr>
          <a:xfrm>
            <a:off x="731520" y="3557016"/>
            <a:ext cx="548640" cy="548640"/>
          </a:xfrm>
          <a:prstGeom prst="ellipse">
            <a:avLst/>
          </a:prstGeom>
          <a:solidFill>
            <a:srgbClr val="9D2235"/>
          </a:solidFill>
          <a:ln/>
        </p:spPr>
      </p:sp>
      <p:pic>
        <p:nvPicPr>
          <p:cNvPr id="18" name="Image 2" descr="preencoded.png">    </p:cNvPr>
          <p:cNvPicPr>
            <a:picLocks noChangeAspect="1"/>
          </p:cNvPicPr>
          <p:nvPr/>
        </p:nvPicPr>
        <p:blipFill>
          <a:blip r:embed="rId3"/>
          <a:stretch>
            <a:fillRect/>
          </a:stretch>
        </p:blipFill>
        <p:spPr>
          <a:xfrm>
            <a:off x="874166" y="3699662"/>
            <a:ext cx="263347" cy="263347"/>
          </a:xfrm>
          <a:prstGeom prst="rect">
            <a:avLst/>
          </a:prstGeom>
        </p:spPr>
      </p:pic>
      <p:sp>
        <p:nvSpPr>
          <p:cNvPr id="19" name="Text 14"/>
          <p:cNvSpPr/>
          <p:nvPr/>
        </p:nvSpPr>
        <p:spPr>
          <a:xfrm>
            <a:off x="1508760" y="3502152"/>
            <a:ext cx="4206240" cy="658368"/>
          </a:xfrm>
          <a:prstGeom prst="rect">
            <a:avLst/>
          </a:prstGeom>
          <a:noFill/>
          <a:ln/>
        </p:spPr>
        <p:txBody>
          <a:bodyPr wrap="square" lIns="0" tIns="0" rIns="0" bIns="0" rtlCol="0" anchor="ctr"/>
          <a:lstStyle/>
          <a:p>
            <a:pPr indent="0" marL="0">
              <a:buNone/>
            </a:pPr>
            <a:r>
              <a:rPr lang="en-US" sz="1300" b="1" dirty="0">
                <a:solidFill>
                  <a:srgbClr val="262626"/>
                </a:solidFill>
                <a:latin typeface="Calibri" pitchFamily="34" charset="0"/>
                <a:ea typeface="Calibri" pitchFamily="34" charset="-122"/>
                <a:cs typeface="Calibri" pitchFamily="34" charset="-120"/>
              </a:rPr>
              <a:t>I edited the source file by mistake</a:t>
            </a:r>
            <a:endParaRPr lang="en-US" sz="1300" dirty="0"/>
          </a:p>
        </p:txBody>
      </p:sp>
      <p:sp>
        <p:nvSpPr>
          <p:cNvPr id="20" name="Text 15"/>
          <p:cNvSpPr/>
          <p:nvPr/>
        </p:nvSpPr>
        <p:spPr>
          <a:xfrm>
            <a:off x="5943600" y="3502152"/>
            <a:ext cx="5394960" cy="65836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OneDrive version history</a:t>
            </a:r>
            <a:endParaRPr lang="en-US" sz="1250" dirty="0"/>
          </a:p>
        </p:txBody>
      </p:sp>
      <p:sp>
        <p:nvSpPr>
          <p:cNvPr id="21" name="Shape 16"/>
          <p:cNvSpPr/>
          <p:nvPr/>
        </p:nvSpPr>
        <p:spPr>
          <a:xfrm>
            <a:off x="548640" y="4343400"/>
            <a:ext cx="11091672" cy="804672"/>
          </a:xfrm>
          <a:prstGeom prst="roundRect">
            <a:avLst>
              <a:gd name="adj" fmla="val 7955"/>
            </a:avLst>
          </a:prstGeom>
          <a:solidFill>
            <a:srgbClr val="FAF2F3"/>
          </a:solidFill>
          <a:ln/>
        </p:spPr>
      </p:sp>
      <p:sp>
        <p:nvSpPr>
          <p:cNvPr id="22" name="Shape 17"/>
          <p:cNvSpPr/>
          <p:nvPr/>
        </p:nvSpPr>
        <p:spPr>
          <a:xfrm>
            <a:off x="731520" y="4471416"/>
            <a:ext cx="548640" cy="548640"/>
          </a:xfrm>
          <a:prstGeom prst="ellipse">
            <a:avLst/>
          </a:prstGeom>
          <a:solidFill>
            <a:srgbClr val="9D2235"/>
          </a:solidFill>
          <a:ln/>
        </p:spPr>
      </p:sp>
      <p:pic>
        <p:nvPicPr>
          <p:cNvPr id="23" name="Image 3" descr="preencoded.png">    </p:cNvPr>
          <p:cNvPicPr>
            <a:picLocks noChangeAspect="1"/>
          </p:cNvPicPr>
          <p:nvPr/>
        </p:nvPicPr>
        <p:blipFill>
          <a:blip r:embed="rId4"/>
          <a:stretch>
            <a:fillRect/>
          </a:stretch>
        </p:blipFill>
        <p:spPr>
          <a:xfrm>
            <a:off x="874166" y="4614062"/>
            <a:ext cx="263347" cy="263347"/>
          </a:xfrm>
          <a:prstGeom prst="rect">
            <a:avLst/>
          </a:prstGeom>
        </p:spPr>
      </p:pic>
      <p:sp>
        <p:nvSpPr>
          <p:cNvPr id="24" name="Text 18"/>
          <p:cNvSpPr/>
          <p:nvPr/>
        </p:nvSpPr>
        <p:spPr>
          <a:xfrm>
            <a:off x="1508760" y="4416552"/>
            <a:ext cx="4206240" cy="658368"/>
          </a:xfrm>
          <a:prstGeom prst="rect">
            <a:avLst/>
          </a:prstGeom>
          <a:noFill/>
          <a:ln/>
        </p:spPr>
        <p:txBody>
          <a:bodyPr wrap="square" lIns="0" tIns="0" rIns="0" bIns="0" rtlCol="0" anchor="ctr"/>
          <a:lstStyle/>
          <a:p>
            <a:pPr indent="0" marL="0">
              <a:buNone/>
            </a:pPr>
            <a:r>
              <a:rPr lang="en-US" sz="1300" b="1" dirty="0">
                <a:solidFill>
                  <a:srgbClr val="262626"/>
                </a:solidFill>
                <a:latin typeface="Calibri" pitchFamily="34" charset="0"/>
                <a:ea typeface="Calibri" pitchFamily="34" charset="-122"/>
                <a:cs typeface="Calibri" pitchFamily="34" charset="-120"/>
              </a:rPr>
              <a:t>My model is gone from the workspace</a:t>
            </a:r>
            <a:endParaRPr lang="en-US" sz="1300" dirty="0"/>
          </a:p>
        </p:txBody>
      </p:sp>
      <p:sp>
        <p:nvSpPr>
          <p:cNvPr id="25" name="Text 19"/>
          <p:cNvSpPr/>
          <p:nvPr/>
        </p:nvSpPr>
        <p:spPr>
          <a:xfrm>
            <a:off x="5943600" y="4416552"/>
            <a:ext cx="5394960" cy="65836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Your TMDL export. Nothing else will help.</a:t>
            </a:r>
            <a:endParaRPr lang="en-US" sz="1250" dirty="0"/>
          </a:p>
        </p:txBody>
      </p:sp>
      <p:sp>
        <p:nvSpPr>
          <p:cNvPr id="26" name="Shape 20"/>
          <p:cNvSpPr/>
          <p:nvPr/>
        </p:nvSpPr>
        <p:spPr>
          <a:xfrm>
            <a:off x="548640" y="5257800"/>
            <a:ext cx="11091672" cy="804672"/>
          </a:xfrm>
          <a:prstGeom prst="roundRect">
            <a:avLst>
              <a:gd name="adj" fmla="val 7955"/>
            </a:avLst>
          </a:prstGeom>
          <a:solidFill>
            <a:srgbClr val="EFF5F0"/>
          </a:solidFill>
          <a:ln/>
        </p:spPr>
      </p:sp>
      <p:sp>
        <p:nvSpPr>
          <p:cNvPr id="27" name="Shape 21"/>
          <p:cNvSpPr/>
          <p:nvPr/>
        </p:nvSpPr>
        <p:spPr>
          <a:xfrm>
            <a:off x="731520" y="5385816"/>
            <a:ext cx="548640" cy="548640"/>
          </a:xfrm>
          <a:prstGeom prst="ellipse">
            <a:avLst/>
          </a:prstGeom>
          <a:solidFill>
            <a:srgbClr val="2C6E49"/>
          </a:solidFill>
          <a:ln/>
        </p:spPr>
      </p:sp>
      <p:pic>
        <p:nvPicPr>
          <p:cNvPr id="28" name="Image 4" descr="preencoded.png">    </p:cNvPr>
          <p:cNvPicPr>
            <a:picLocks noChangeAspect="1"/>
          </p:cNvPicPr>
          <p:nvPr/>
        </p:nvPicPr>
        <p:blipFill>
          <a:blip r:embed="rId5"/>
          <a:stretch>
            <a:fillRect/>
          </a:stretch>
        </p:blipFill>
        <p:spPr>
          <a:xfrm>
            <a:off x="874166" y="5528462"/>
            <a:ext cx="263347" cy="263347"/>
          </a:xfrm>
          <a:prstGeom prst="rect">
            <a:avLst/>
          </a:prstGeom>
        </p:spPr>
      </p:pic>
      <p:sp>
        <p:nvSpPr>
          <p:cNvPr id="29" name="Text 22"/>
          <p:cNvSpPr/>
          <p:nvPr/>
        </p:nvSpPr>
        <p:spPr>
          <a:xfrm>
            <a:off x="1508760" y="5330952"/>
            <a:ext cx="4206240" cy="658368"/>
          </a:xfrm>
          <a:prstGeom prst="rect">
            <a:avLst/>
          </a:prstGeom>
          <a:noFill/>
          <a:ln/>
        </p:spPr>
        <p:txBody>
          <a:bodyPr wrap="square" lIns="0" tIns="0" rIns="0" bIns="0" rtlCol="0" anchor="ctr"/>
          <a:lstStyle/>
          <a:p>
            <a:pPr indent="0" marL="0">
              <a:buNone/>
            </a:pPr>
            <a:r>
              <a:rPr lang="en-US" sz="1300" b="1" dirty="0">
                <a:solidFill>
                  <a:srgbClr val="2C6E49"/>
                </a:solidFill>
                <a:latin typeface="Calibri" pitchFamily="34" charset="0"/>
                <a:ea typeface="Calibri" pitchFamily="34" charset="-122"/>
                <a:cs typeface="Calibri" pitchFamily="34" charset="-120"/>
              </a:rPr>
              <a:t>What changed between B2 and B3?</a:t>
            </a:r>
            <a:endParaRPr lang="en-US" sz="1300" dirty="0"/>
          </a:p>
        </p:txBody>
      </p:sp>
      <p:sp>
        <p:nvSpPr>
          <p:cNvPr id="30" name="Text 23"/>
          <p:cNvSpPr/>
          <p:nvPr/>
        </p:nvSpPr>
        <p:spPr>
          <a:xfrm>
            <a:off x="5943600" y="5330952"/>
            <a:ext cx="5394960" cy="658368"/>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Compare the two TMDL files line by line</a:t>
            </a:r>
            <a:endParaRPr lang="en-US" sz="1250" dirty="0"/>
          </a:p>
        </p:txBody>
      </p:sp>
      <p:sp>
        <p:nvSpPr>
          <p:cNvPr id="31" name="Text 24"/>
          <p:cNvSpPr/>
          <p:nvPr/>
        </p:nvSpPr>
        <p:spPr>
          <a:xfrm>
            <a:off x="548640" y="6263640"/>
            <a:ext cx="11091672" cy="365760"/>
          </a:xfrm>
          <a:prstGeom prst="rect">
            <a:avLst/>
          </a:prstGeom>
          <a:noFill/>
          <a:ln/>
        </p:spPr>
        <p:txBody>
          <a:bodyPr wrap="square" lIns="0" tIns="0" rIns="0" bIns="0" rtlCol="0" anchor="ctr"/>
          <a:lstStyle/>
          <a:p>
            <a:pPr indent="0" marL="0">
              <a:buNone/>
            </a:pPr>
            <a:r>
              <a:rPr lang="en-US" sz="1300" b="1" i="1" dirty="0">
                <a:solidFill>
                  <a:srgbClr val="9D2235"/>
                </a:solidFill>
                <a:latin typeface="Calibri" pitchFamily="34" charset="0"/>
                <a:ea typeface="Calibri" pitchFamily="34" charset="-122"/>
                <a:cs typeface="Calibri" pitchFamily="34" charset="-120"/>
              </a:rPr>
              <a:t>Four of these five have the same answer. That is not laziness — it is what a real backup looks like.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F0D18"/>
        </a:solidFill>
      </p:bgPr>
    </p:bg>
    <p:spTree>
      <p:nvGrpSpPr>
        <p:cNvPr id="1" name=""/>
        <p:cNvGrpSpPr/>
        <p:nvPr/>
      </p:nvGrpSpPr>
      <p:grpSpPr>
        <a:xfrm>
          <a:off x="0" y="0"/>
          <a:ext cx="0" cy="0"/>
          <a:chOff x="0" y="0"/>
          <a:chExt cx="0" cy="0"/>
        </a:xfrm>
      </p:grpSpPr>
      <p:sp>
        <p:nvSpPr>
          <p:cNvPr id="2" name="Shape 0"/>
          <p:cNvSpPr/>
          <p:nvPr/>
        </p:nvSpPr>
        <p:spPr>
          <a:xfrm>
            <a:off x="10058400" y="4206240"/>
            <a:ext cx="4389120" cy="4389120"/>
          </a:xfrm>
          <a:prstGeom prst="ellipse">
            <a:avLst/>
          </a:prstGeom>
          <a:solidFill>
            <a:srgbClr val="581523"/>
          </a:solidFill>
          <a:ln/>
        </p:spPr>
      </p:sp>
      <p:sp>
        <p:nvSpPr>
          <p:cNvPr id="3" name="Text 1"/>
          <p:cNvSpPr/>
          <p:nvPr/>
        </p:nvSpPr>
        <p:spPr>
          <a:xfrm>
            <a:off x="548640" y="1371600"/>
            <a:ext cx="10515600" cy="128016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Do it now, before you close the browser</a:t>
            </a:r>
            <a:endParaRPr lang="en-US" sz="3800" dirty="0"/>
          </a:p>
        </p:txBody>
      </p:sp>
      <p:sp>
        <p:nvSpPr>
          <p:cNvPr id="4" name="Shape 2"/>
          <p:cNvSpPr/>
          <p:nvPr/>
        </p:nvSpPr>
        <p:spPr>
          <a:xfrm>
            <a:off x="548640" y="2834640"/>
            <a:ext cx="457200" cy="457200"/>
          </a:xfrm>
          <a:prstGeom prst="ellipse">
            <a:avLst/>
          </a:prstGeom>
          <a:solidFill>
            <a:srgbClr val="9D2235"/>
          </a:solidFill>
          <a:ln/>
        </p:spPr>
      </p:sp>
      <p:sp>
        <p:nvSpPr>
          <p:cNvPr id="5" name="Text 3"/>
          <p:cNvSpPr/>
          <p:nvPr/>
        </p:nvSpPr>
        <p:spPr>
          <a:xfrm>
            <a:off x="548640" y="2834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188720" y="2834640"/>
            <a:ext cx="10058400" cy="457200"/>
          </a:xfrm>
          <a:prstGeom prst="rect">
            <a:avLst/>
          </a:prstGeom>
          <a:noFill/>
          <a:ln/>
        </p:spPr>
        <p:txBody>
          <a:bodyPr wrap="square" lIns="0" tIns="0" rIns="0" bIns="0" rtlCol="0" anchor="ctr"/>
          <a:lstStyle/>
          <a:p>
            <a:pPr indent="0" marL="0">
              <a:buNone/>
            </a:pPr>
            <a:r>
              <a:rPr lang="en-US" sz="1500" dirty="0">
                <a:solidFill>
                  <a:srgbClr val="E8D9DC"/>
                </a:solidFill>
                <a:latin typeface="Calibri" pitchFamily="34" charset="0"/>
                <a:ea typeface="Calibri" pitchFamily="34" charset="-122"/>
                <a:cs typeface="Calibri" pitchFamily="34" charset="-120"/>
              </a:rPr>
              <a:t>Rename every applied step so it reads clearly</a:t>
            </a:r>
            <a:endParaRPr lang="en-US" sz="1500" dirty="0"/>
          </a:p>
        </p:txBody>
      </p:sp>
      <p:sp>
        <p:nvSpPr>
          <p:cNvPr id="7" name="Shape 5"/>
          <p:cNvSpPr/>
          <p:nvPr/>
        </p:nvSpPr>
        <p:spPr>
          <a:xfrm>
            <a:off x="548640" y="3493008"/>
            <a:ext cx="457200" cy="457200"/>
          </a:xfrm>
          <a:prstGeom prst="ellipse">
            <a:avLst/>
          </a:prstGeom>
          <a:solidFill>
            <a:srgbClr val="9D2235"/>
          </a:solidFill>
          <a:ln/>
        </p:spPr>
      </p:sp>
      <p:sp>
        <p:nvSpPr>
          <p:cNvPr id="8" name="Text 6"/>
          <p:cNvSpPr/>
          <p:nvPr/>
        </p:nvSpPr>
        <p:spPr>
          <a:xfrm>
            <a:off x="548640" y="34930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p:nvPr/>
        </p:nvSpPr>
        <p:spPr>
          <a:xfrm>
            <a:off x="1188720" y="3493008"/>
            <a:ext cx="10058400" cy="457200"/>
          </a:xfrm>
          <a:prstGeom prst="rect">
            <a:avLst/>
          </a:prstGeom>
          <a:noFill/>
          <a:ln/>
        </p:spPr>
        <p:txBody>
          <a:bodyPr wrap="square" lIns="0" tIns="0" rIns="0" bIns="0" rtlCol="0" anchor="ctr"/>
          <a:lstStyle/>
          <a:p>
            <a:pPr indent="0" marL="0">
              <a:buNone/>
            </a:pPr>
            <a:r>
              <a:rPr lang="en-US" sz="1500" dirty="0">
                <a:solidFill>
                  <a:srgbClr val="E8D9DC"/>
                </a:solidFill>
                <a:latin typeface="Calibri" pitchFamily="34" charset="0"/>
                <a:ea typeface="Calibri" pitchFamily="34" charset="-122"/>
                <a:cs typeface="Calibri" pitchFamily="34" charset="-120"/>
              </a:rPr>
              <a:t>Model view → TMDL View → copy</a:t>
            </a:r>
            <a:endParaRPr lang="en-US" sz="1500" dirty="0"/>
          </a:p>
        </p:txBody>
      </p:sp>
      <p:sp>
        <p:nvSpPr>
          <p:cNvPr id="10" name="Shape 8"/>
          <p:cNvSpPr/>
          <p:nvPr/>
        </p:nvSpPr>
        <p:spPr>
          <a:xfrm>
            <a:off x="548640" y="4151376"/>
            <a:ext cx="457200" cy="457200"/>
          </a:xfrm>
          <a:prstGeom prst="ellipse">
            <a:avLst/>
          </a:prstGeom>
          <a:solidFill>
            <a:srgbClr val="9D2235"/>
          </a:solidFill>
          <a:ln/>
        </p:spPr>
      </p:sp>
      <p:sp>
        <p:nvSpPr>
          <p:cNvPr id="11" name="Text 9"/>
          <p:cNvSpPr/>
          <p:nvPr/>
        </p:nvSpPr>
        <p:spPr>
          <a:xfrm>
            <a:off x="548640" y="415137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p:nvPr/>
        </p:nvSpPr>
        <p:spPr>
          <a:xfrm>
            <a:off x="1188720" y="4151376"/>
            <a:ext cx="10058400" cy="457200"/>
          </a:xfrm>
          <a:prstGeom prst="rect">
            <a:avLst/>
          </a:prstGeom>
          <a:noFill/>
          <a:ln/>
        </p:spPr>
        <p:txBody>
          <a:bodyPr wrap="square" lIns="0" tIns="0" rIns="0" bIns="0" rtlCol="0" anchor="ctr"/>
          <a:lstStyle/>
          <a:p>
            <a:pPr indent="0" marL="0">
              <a:buNone/>
            </a:pPr>
            <a:r>
              <a:rPr lang="en-US" sz="1500" dirty="0">
                <a:solidFill>
                  <a:srgbClr val="E8D9DC"/>
                </a:solidFill>
                <a:latin typeface="Calibri" pitchFamily="34" charset="0"/>
                <a:ea typeface="Calibri" pitchFamily="34" charset="-122"/>
                <a:cs typeface="Calibri" pitchFamily="34" charset="-120"/>
              </a:rPr>
              <a:t>Save as model_2026-08-29.tmdl</a:t>
            </a:r>
            <a:endParaRPr lang="en-US" sz="1500" dirty="0"/>
          </a:p>
        </p:txBody>
      </p:sp>
      <p:sp>
        <p:nvSpPr>
          <p:cNvPr id="13" name="Shape 11"/>
          <p:cNvSpPr/>
          <p:nvPr/>
        </p:nvSpPr>
        <p:spPr>
          <a:xfrm>
            <a:off x="548640" y="4809744"/>
            <a:ext cx="457200" cy="457200"/>
          </a:xfrm>
          <a:prstGeom prst="ellipse">
            <a:avLst/>
          </a:prstGeom>
          <a:solidFill>
            <a:srgbClr val="9D2235"/>
          </a:solidFill>
          <a:ln/>
        </p:spPr>
      </p:sp>
      <p:sp>
        <p:nvSpPr>
          <p:cNvPr id="14" name="Text 12"/>
          <p:cNvSpPr/>
          <p:nvPr/>
        </p:nvSpPr>
        <p:spPr>
          <a:xfrm>
            <a:off x="548640" y="48097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p:nvPr/>
        </p:nvSpPr>
        <p:spPr>
          <a:xfrm>
            <a:off x="1188720" y="4809744"/>
            <a:ext cx="10058400" cy="457200"/>
          </a:xfrm>
          <a:prstGeom prst="rect">
            <a:avLst/>
          </a:prstGeom>
          <a:noFill/>
          <a:ln/>
        </p:spPr>
        <p:txBody>
          <a:bodyPr wrap="square" lIns="0" tIns="0" rIns="0" bIns="0" rtlCol="0" anchor="ctr"/>
          <a:lstStyle/>
          <a:p>
            <a:pPr indent="0" marL="0">
              <a:buNone/>
            </a:pPr>
            <a:r>
              <a:rPr lang="en-US" sz="1500" dirty="0">
                <a:solidFill>
                  <a:srgbClr val="E8D9DC"/>
                </a:solidFill>
                <a:latin typeface="Calibri" pitchFamily="34" charset="0"/>
                <a:ea typeface="Calibri" pitchFamily="34" charset="-122"/>
                <a:cs typeface="Calibri" pitchFamily="34" charset="-120"/>
              </a:rPr>
              <a:t>Upload to your backups folder</a:t>
            </a:r>
            <a:endParaRPr lang="en-US" sz="1500" dirty="0"/>
          </a:p>
        </p:txBody>
      </p:sp>
      <p:sp>
        <p:nvSpPr>
          <p:cNvPr id="16" name="Shape 14"/>
          <p:cNvSpPr/>
          <p:nvPr/>
        </p:nvSpPr>
        <p:spPr>
          <a:xfrm>
            <a:off x="548640" y="5468112"/>
            <a:ext cx="457200" cy="457200"/>
          </a:xfrm>
          <a:prstGeom prst="ellipse">
            <a:avLst/>
          </a:prstGeom>
          <a:solidFill>
            <a:srgbClr val="9D2235"/>
          </a:solidFill>
          <a:ln/>
        </p:spPr>
      </p:sp>
      <p:sp>
        <p:nvSpPr>
          <p:cNvPr id="17" name="Text 15"/>
          <p:cNvSpPr/>
          <p:nvPr/>
        </p:nvSpPr>
        <p:spPr>
          <a:xfrm>
            <a:off x="548640" y="54681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6"/>
          <p:cNvSpPr/>
          <p:nvPr/>
        </p:nvSpPr>
        <p:spPr>
          <a:xfrm>
            <a:off x="1188720" y="5468112"/>
            <a:ext cx="10058400" cy="457200"/>
          </a:xfrm>
          <a:prstGeom prst="rect">
            <a:avLst/>
          </a:prstGeom>
          <a:noFill/>
          <a:ln/>
        </p:spPr>
        <p:txBody>
          <a:bodyPr wrap="square" lIns="0" tIns="0" rIns="0" bIns="0" rtlCol="0" anchor="ctr"/>
          <a:lstStyle/>
          <a:p>
            <a:pPr indent="0" marL="0">
              <a:buNone/>
            </a:pPr>
            <a:r>
              <a:rPr lang="en-US" sz="1500" dirty="0">
                <a:solidFill>
                  <a:srgbClr val="E8D9DC"/>
                </a:solidFill>
                <a:latin typeface="Calibri" pitchFamily="34" charset="0"/>
                <a:ea typeface="Calibri" pitchFamily="34" charset="-122"/>
                <a:cs typeface="Calibri" pitchFamily="34" charset="-120"/>
              </a:rPr>
              <a:t>Commit with a message naming the milestone</a:t>
            </a:r>
            <a:endParaRPr lang="en-US" sz="1500" dirty="0"/>
          </a:p>
        </p:txBody>
      </p:sp>
      <p:sp>
        <p:nvSpPr>
          <p:cNvPr id="19" name="Text 17"/>
          <p:cNvSpPr/>
          <p:nvPr/>
        </p:nvSpPr>
        <p:spPr>
          <a:xfrm>
            <a:off x="548640" y="6172200"/>
            <a:ext cx="10515600" cy="365760"/>
          </a:xfrm>
          <a:prstGeom prst="rect">
            <a:avLst/>
          </a:prstGeom>
          <a:noFill/>
          <a:ln/>
        </p:spPr>
        <p:txBody>
          <a:bodyPr wrap="square" lIns="0" tIns="0" rIns="0" bIns="0" rtlCol="0" anchor="ctr"/>
          <a:lstStyle/>
          <a:p>
            <a:pPr indent="0" marL="0">
              <a:buNone/>
            </a:pPr>
            <a:r>
              <a:rPr lang="en-US" sz="1400" b="1" i="1" dirty="0">
                <a:solidFill>
                  <a:srgbClr val="E3B23C"/>
                </a:solidFill>
                <a:latin typeface="Calibri" pitchFamily="34" charset="0"/>
                <a:ea typeface="Calibri" pitchFamily="34" charset="-122"/>
                <a:cs typeface="Calibri" pitchFamily="34" charset="-120"/>
              </a:rPr>
              <a:t>Five minutes. Nobody leaves until this is done.</a:t>
            </a:r>
            <a:endParaRPr lang="en-US" sz="1400" dirty="0"/>
          </a:p>
        </p:txBody>
      </p:sp>
      <p:sp>
        <p:nvSpPr>
          <p:cNvPr id="20" name="Text 18"/>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C89AA3"/>
                </a:solidFill>
                <a:latin typeface="Calibri" pitchFamily="34" charset="0"/>
                <a:ea typeface="Calibri" pitchFamily="34" charset="-122"/>
                <a:cs typeface="Calibri" pitchFamily="34" charset="-120"/>
              </a:rPr>
              <a:t>BDAT04 · Backup routine · Session 3</a:t>
            </a:r>
            <a:endParaRPr lang="en-US" sz="850" dirty="0"/>
          </a:p>
        </p:txBody>
      </p:sp>
      <p:sp>
        <p:nvSpPr>
          <p:cNvPr id="21" name="Text 19"/>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C89AA3"/>
                </a:solidFill>
                <a:latin typeface="Calibri" pitchFamily="34" charset="0"/>
                <a:ea typeface="Calibri" pitchFamily="34" charset="-122"/>
                <a:cs typeface="Calibri" pitchFamily="34" charset="-120"/>
              </a:rPr>
              <a:t>B8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BDAT04 — Backing up your work in the Power BI Service</dc:title>
  <dc:subject>PptxGenJS Presentation</dc:subject>
  <dc:creator>Jerald B. Bongalos</dc:creator>
  <cp:lastModifiedBy>Jerald B. Bongalos</cp:lastModifiedBy>
  <cp:revision>1</cp:revision>
  <dcterms:created xsi:type="dcterms:W3CDTF">2026-08-26T03:50:28Z</dcterms:created>
  <dcterms:modified xsi:type="dcterms:W3CDTF">2026-08-26T03:50:28Z</dcterms:modified>
</cp:coreProperties>
</file>