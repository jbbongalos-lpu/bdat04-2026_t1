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title itself. Every step you add today deletes something — that is the idea the whole session hangs on, and it comes straight from the syllabus's requirement to note what was lost by each cleaning decision.
Before anything else: B1 is graded, feedback is in their repo folders, and they were told to bring it. Ask who has read theirs. If someone has not, give them five minutes now — the first block depends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plainly because two of them still think they are missing something by not having the app. They are not. The browser version does everything this course requires — I verified each capability before we committed to it.
One honest caveat to repeat: Power BI Desktop is still what job adverts ask for. Anyone who gets a Windows machine should install it eventually. It is not required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live: open a report in viewing mode, show the greyed options, then switch to Editing and show what appears. Thirty seconds and it removes a whole category of confusion.
The no-undo point matters. In the model editor, a deleted measure is gone. In Power Query, you can delete a step or press Cancel and lose nothing. Different rules in two rooms of the same house.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minutes, no longer. These are words they have half-heard for two weeks; today they need them precise.
The recipe line at the bottom is the one to say out loud twice. It sets up the drill later — a recipe written for today's ingredients may fail on tomorrow's.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Power Query open and point at real icons rather than reading the slide. Show tblSales: SaleID is 123, Date should be a calendar, BranchID is ABC, Amount is 1.2.
The 'Any' type is where trouble starts — it means nobody has decided, so Power BI decides for you. That is exactly what happened with 45658, which we come to shortly.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Region 4 is the one they will underuse. Clicking a step shows the table as it was at that moment — that is how you debug a query, by stepping back through it until the data looks right again.
The narrow-window tip is not trivia. I lost ten minutes to it myself this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this with the file open, not from the slide. Filter tblSales to a single date and a single branch, then look for the same CustomerID appearing more than once. Ask them what they are looking at.
Tone matters. Nobody failed — all four made the same reasonable assumption, which means it is my job to correct, not theirs to feel bad about. Say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Lagdamen's Part A. Naming the author is his call — ask him beforehand, and if he agrees, say so. A standard set by a classmate lands differently from a standard set by me.
Then have each of them rewrite one grain statement from their own B1 on paper, out loud, before we move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name who wrote the left-hand column. They will each recognise their own.
The honest framing: the tool they were given does not have the profiling panes that Desktop has, and the brief pointed them at features that were not there. Some of this gap is mine. What follows fixes it properly.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once on the projector, then have all four do it on their own machines before moving on. Do not proceed until every screen shows 12 rows.
The duplicate-versus-delete-step choice: either is fine. Say that the point is only that the counting step does not survive into their final 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of the session. Sort descending by BranchID so the variants land next to their clean twins, then say nothing and let them look.
The trailing space is invisible in every view they have. The only thing that betrays it is a count of 4 sitting beside a count of 885. That is why counting is a technique and not bookkeeping.
The sum check is a habit worth naming: parts must equal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duplicates pair live — it takes ninety seconds and settles a real disagreement from B1, where one student reported 46 and the register says 23. Neither is wrong. The reporting was.
Then set them loose: every finding in your own B1 that had no number, go and get the number now. Twenty minutes. This is the individual-practice TLA the syllabus asks for, and it repairs their own work rather than doing an invented exercise.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this from the browser if you can. Open the case in Power Query, point at the formula bar, read Int64.Type out loud.
45658 is the Excel date serial — days counted since 1899. Arithmetically it is not even wrong. It is simply no longer a date.
Second example in one spoken sentence if the room wants it: last term's diagnostic asked for a gross margin, two of you clicked the button marked 40%, and the results file stored 0.4. Nobody typed a decimal.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Change Type → Using Locale on customers[JoinedDate]. Let them see the error count change depending on which locale is chosen.
The honest professional point: there is no way to recover the truth from an ambiguous date column without asking whoever produced it. Sometimes the right answer is to go back to the business, not to guess harder.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syllabus's own wording for the lab output — a note on each cleaning decision AND what was lost by it. Most students skip the second half. It is the half that separates an analyst from someone pressing buttons.
Circulate constantly. Four students, ninety minutes, you can reach each of them four or five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Trim on BranchID and then re-run the Group by — 12 distinct values collapse toward 8. That single before-and-after is the most satisfying thing they will see today.
On Remove duplicates: make them choose a column and defend it. On SaleID it removes 23. On the whole row it removes 23 as well here, but that will not always be true, and knowing which they chose is the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syllabus topic in its own right and it is worth the five minutes. The professional answer is nearly always 'in the query' — but they should be able to say why, not just follow the rule.
The test at the bottom is the one to leave them with. It also foreshadows the drill: a fix that only works on today's file is not a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graded element of the lab output — 'a readable, correctly ordered list of applied steps'. It is also what makes their backup worth keeping, which we come to at the end.
Make them rename their steps before the drill. When something breaks in twenty minutes, a query with named steps is diagnosable and one with Changed Type3 is not. That is the point, and they will feel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tell them this is a drill. Hand over KapeTayo_IntegratedCase_v2.xlsx exactly as written and let them work.
Three things have changed. One breaks loudly and they will find it in a minute. One breaks silently and most of them will not notice at all. One shifts the employee table's structure.
Give them fifteen to twenty minutes before you say anything. Watch who checks their totals against yesterday's numbers and who does not. That is the actual assessment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Layer 2 is the whole point. Their Replace Values step was written yesterday against the variants they found yesterday. The new file uses a character they never saw. The step runs, succeeds, and misses.
The lesson to name: a cleaning step is a claim about the future, not a repair of the past. You wrote a rule; the world sent you something the rule does not cover.
Ask the closing question and let it sit. Nobody should answer quickly.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row is the trap all four of you fell into in B1. Three of you classified the blank CustomerIDs as a completeness defect. They are not a defect — they are a limitation of what the business collects. Fixing them by filtering would delete nearly half the revenue.
This is the sophisticated half of the milestone and the reason the syllabus asks what was lost. Spend the time here; it is the idea they take into every week that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the separate backup deck here and run it live on the projector while they follow on their own machines. Do not let anyone leave without one committed TMDL file.
The reason to do this at the end rather than the start: they now have four hours of work worth losing. The routine means something to them today in a way it would not have at 9am.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Confirm the exact deadline with them in the room rather than on the slide, so it fits whatever pace the session actually took.
The fourth item is the one that changes behaviour. Say plainly that a submission with no counts will be handed back before it is marked.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line to say out loud: 'Every step you added today deleted something, and you can defend every one of them. That is the difference between cleaning data and damaging it.'
After class: check who committed a TMDL backup, and chase the two who owe an AI Use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1.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F0D18"/>
        </a:solidFill>
      </p:bgPr>
    </p:bg>
    <p:spTree>
      <p:nvGrpSpPr>
        <p:cNvPr id="1" name=""/>
        <p:cNvGrpSpPr/>
        <p:nvPr/>
      </p:nvGrpSpPr>
      <p:grpSpPr>
        <a:xfrm>
          <a:off x="0" y="0"/>
          <a:ext cx="0" cy="0"/>
          <a:chOff x="0" y="0"/>
          <a:chExt cx="0" cy="0"/>
        </a:xfrm>
      </p:grpSpPr>
      <p:sp>
        <p:nvSpPr>
          <p:cNvPr id="2" name="Shape 0"/>
          <p:cNvSpPr/>
          <p:nvPr/>
        </p:nvSpPr>
        <p:spPr>
          <a:xfrm>
            <a:off x="9966960" y="-1920240"/>
            <a:ext cx="4937760" cy="4937760"/>
          </a:xfrm>
          <a:prstGeom prst="ellipse">
            <a:avLst/>
          </a:prstGeom>
          <a:solidFill>
            <a:srgbClr val="581523"/>
          </a:solidFill>
          <a:ln/>
        </p:spPr>
      </p:sp>
      <p:sp>
        <p:nvSpPr>
          <p:cNvPr id="3" name="Shape 1"/>
          <p:cNvSpPr/>
          <p:nvPr/>
        </p:nvSpPr>
        <p:spPr>
          <a:xfrm>
            <a:off x="-1463040" y="5120640"/>
            <a:ext cx="3840480" cy="3840480"/>
          </a:xfrm>
          <a:prstGeom prst="ellipse">
            <a:avLst/>
          </a:prstGeom>
          <a:solidFill>
            <a:srgbClr val="581523"/>
          </a:solidFill>
          <a:ln/>
        </p:spPr>
      </p:sp>
      <p:sp>
        <p:nvSpPr>
          <p:cNvPr id="4" name="Shape 2"/>
          <p:cNvSpPr/>
          <p:nvPr/>
        </p:nvSpPr>
        <p:spPr>
          <a:xfrm>
            <a:off x="548640" y="566928"/>
            <a:ext cx="603504" cy="603504"/>
          </a:xfrm>
          <a:prstGeom prst="ellipse">
            <a:avLst/>
          </a:prstGeom>
          <a:solidFill>
            <a:srgbClr val="9D2235"/>
          </a:solidFill>
          <a:ln/>
        </p:spPr>
      </p:sp>
      <p:pic>
        <p:nvPicPr>
          <p:cNvPr id="5" name="Image 0" descr="preencoded.png">    </p:cNvPr>
          <p:cNvPicPr>
            <a:picLocks noChangeAspect="1"/>
          </p:cNvPicPr>
          <p:nvPr/>
        </p:nvPicPr>
        <p:blipFill>
          <a:blip r:embed="rId1"/>
          <a:stretch>
            <a:fillRect/>
          </a:stretch>
        </p:blipFill>
        <p:spPr>
          <a:xfrm>
            <a:off x="705551" y="723839"/>
            <a:ext cx="289682" cy="289682"/>
          </a:xfrm>
          <a:prstGeom prst="rect">
            <a:avLst/>
          </a:prstGeom>
        </p:spPr>
      </p:pic>
      <p:sp>
        <p:nvSpPr>
          <p:cNvPr id="6" name="Text 3"/>
          <p:cNvSpPr/>
          <p:nvPr/>
        </p:nvSpPr>
        <p:spPr>
          <a:xfrm>
            <a:off x="1298448" y="658368"/>
            <a:ext cx="10241280" cy="411480"/>
          </a:xfrm>
          <a:prstGeom prst="rect">
            <a:avLst/>
          </a:prstGeom>
          <a:noFill/>
          <a:ln/>
        </p:spPr>
        <p:txBody>
          <a:bodyPr wrap="square" lIns="0" tIns="0" rIns="0" bIns="0" rtlCol="0" anchor="ctr"/>
          <a:lstStyle/>
          <a:p>
            <a:pPr indent="0" marL="0">
              <a:buNone/>
            </a:pPr>
            <a:r>
              <a:rPr lang="en-US" sz="1200" b="1" spc="150" kern="0" dirty="0">
                <a:solidFill>
                  <a:srgbClr val="E3B23C"/>
                </a:solidFill>
                <a:latin typeface="Calibri" pitchFamily="34" charset="0"/>
                <a:ea typeface="Calibri" pitchFamily="34" charset="-122"/>
                <a:cs typeface="Calibri" pitchFamily="34" charset="-120"/>
              </a:rPr>
              <a:t>LYCEUM OF THE PHILIPPINES UNIVERSITY – LAGUNA  ·  COLLEGE OF BUSINESS ADMINISTRATION</a:t>
            </a:r>
            <a:endParaRPr lang="en-US" sz="1200" dirty="0"/>
          </a:p>
        </p:txBody>
      </p:sp>
      <p:sp>
        <p:nvSpPr>
          <p:cNvPr id="7" name="Text 4"/>
          <p:cNvSpPr/>
          <p:nvPr/>
        </p:nvSpPr>
        <p:spPr>
          <a:xfrm>
            <a:off x="548640" y="1828800"/>
            <a:ext cx="10515600" cy="10972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Cleaning is deletion</a:t>
            </a:r>
            <a:endParaRPr lang="en-US" sz="5200" dirty="0"/>
          </a:p>
        </p:txBody>
      </p:sp>
      <p:sp>
        <p:nvSpPr>
          <p:cNvPr id="8" name="Text 5"/>
          <p:cNvSpPr/>
          <p:nvPr/>
        </p:nvSpPr>
        <p:spPr>
          <a:xfrm>
            <a:off x="548640" y="3063240"/>
            <a:ext cx="10515600" cy="365760"/>
          </a:xfrm>
          <a:prstGeom prst="rect">
            <a:avLst/>
          </a:prstGeom>
          <a:noFill/>
          <a:ln/>
        </p:spPr>
        <p:txBody>
          <a:bodyPr wrap="square" lIns="0" tIns="0" rIns="0" bIns="0" rtlCol="0" anchor="ctr"/>
          <a:lstStyle/>
          <a:p>
            <a:pPr indent="0" marL="0">
              <a:buNone/>
            </a:pPr>
            <a:r>
              <a:rPr lang="en-US" sz="1500" b="1" spc="150" kern="0" dirty="0">
                <a:solidFill>
                  <a:srgbClr val="E3B23C"/>
                </a:solidFill>
                <a:latin typeface="Calibri" pitchFamily="34" charset="0"/>
                <a:ea typeface="Calibri" pitchFamily="34" charset="-122"/>
                <a:cs typeface="Calibri" pitchFamily="34" charset="-120"/>
              </a:rPr>
              <a:t>SESSION 3 — POWER QUERY: PROFILING, DATA TYPES, APPLIED STEPS</a:t>
            </a:r>
            <a:endParaRPr lang="en-US" sz="1500" dirty="0"/>
          </a:p>
        </p:txBody>
      </p:sp>
      <p:sp>
        <p:nvSpPr>
          <p:cNvPr id="9" name="Text 6"/>
          <p:cNvSpPr/>
          <p:nvPr/>
        </p:nvSpPr>
        <p:spPr>
          <a:xfrm>
            <a:off x="548640" y="4114800"/>
            <a:ext cx="10515600" cy="1188720"/>
          </a:xfrm>
          <a:prstGeom prst="rect">
            <a:avLst/>
          </a:prstGeom>
          <a:noFill/>
          <a:ln/>
        </p:spPr>
        <p:txBody>
          <a:bodyPr wrap="square" lIns="0" tIns="0" rIns="0" bIns="0" rtlCol="0" anchor="ctr"/>
          <a:lstStyle/>
          <a:p>
            <a:pPr indent="0" marL="0">
              <a:lnSpc>
                <a:spcPts val="2400"/>
              </a:lnSpc>
              <a:buNone/>
            </a:pPr>
            <a:r>
              <a:rPr lang="en-US" sz="1500" dirty="0">
                <a:solidFill>
                  <a:srgbClr val="E8D9DC"/>
                </a:solidFill>
                <a:latin typeface="Calibri" pitchFamily="34" charset="0"/>
                <a:ea typeface="Calibri" pitchFamily="34" charset="-122"/>
                <a:cs typeface="Calibri" pitchFamily="34" charset="-120"/>
              </a:rPr>
              <a:t>BDAT04 Data Warehousing for Business  ·  Week 3 of 13</a:t>
            </a:r>
            <a:endParaRPr lang="en-US" sz="1500" dirty="0"/>
          </a:p>
          <a:p>
            <a:pPr indent="0" marL="0">
              <a:lnSpc>
                <a:spcPts val="2400"/>
              </a:lnSpc>
              <a:buNone/>
            </a:pPr>
            <a:r>
              <a:rPr lang="en-US" sz="1500" dirty="0">
                <a:solidFill>
                  <a:srgbClr val="E8D9DC"/>
                </a:solidFill>
                <a:latin typeface="Calibri" pitchFamily="34" charset="0"/>
                <a:ea typeface="Calibri" pitchFamily="34" charset="-122"/>
                <a:cs typeface="Calibri" pitchFamily="34" charset="-120"/>
              </a:rPr>
              <a:t>Saturday, 29 August 2026  ·  4 contact hours  ·  in person</a:t>
            </a:r>
            <a:endParaRPr lang="en-US" sz="1500" dirty="0"/>
          </a:p>
          <a:p>
            <a:pPr indent="0" marL="0">
              <a:lnSpc>
                <a:spcPts val="2400"/>
              </a:lnSpc>
              <a:buNone/>
            </a:pPr>
            <a:r>
              <a:rPr lang="en-US" sz="1500" dirty="0">
                <a:solidFill>
                  <a:srgbClr val="E8D9DC"/>
                </a:solidFill>
                <a:latin typeface="Calibri" pitchFamily="34" charset="0"/>
                <a:ea typeface="Calibri" pitchFamily="34" charset="-122"/>
                <a:cs typeface="Calibri" pitchFamily="34" charset="-120"/>
              </a:rPr>
              <a:t>Jerald B. Bongalos — Course Facilitator</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ORIENTATION</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Everything today happens in a browser</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2</a:t>
            </a:r>
            <a:endParaRPr lang="en-US" sz="850" dirty="0"/>
          </a:p>
        </p:txBody>
      </p:sp>
      <p:sp>
        <p:nvSpPr>
          <p:cNvPr id="6" name="Text 4"/>
          <p:cNvSpPr/>
          <p:nvPr/>
        </p:nvSpPr>
        <p:spPr>
          <a:xfrm>
            <a:off x="548640" y="1417320"/>
            <a:ext cx="11091672" cy="548640"/>
          </a:xfrm>
          <a:prstGeom prst="rect">
            <a:avLst/>
          </a:prstGeom>
          <a:noFill/>
          <a:ln/>
        </p:spPr>
        <p:txBody>
          <a:bodyPr wrap="square" lIns="0" tIns="0" rIns="0" bIns="0" rtlCol="0" anchor="ctr"/>
          <a:lstStyle/>
          <a:p>
            <a:pPr indent="0" marL="0">
              <a:lnSpc>
                <a:spcPts val="1900"/>
              </a:lnSpc>
              <a:buNone/>
            </a:pPr>
            <a:r>
              <a:rPr lang="en-US" sz="1450" dirty="0">
                <a:solidFill>
                  <a:srgbClr val="262626"/>
                </a:solidFill>
                <a:latin typeface="Calibri" pitchFamily="34" charset="0"/>
                <a:ea typeface="Calibri" pitchFamily="34" charset="-122"/>
                <a:cs typeface="Calibri" pitchFamily="34" charset="-120"/>
              </a:rPr>
              <a:t>Nobody in this room is running the Power BI app. There is no program to install, no file on your laptop, and nothing to save. Your work lives on Microsoft's servers and you reach it through Chrome or Edge.</a:t>
            </a:r>
            <a:endParaRPr lang="en-US" sz="1450" dirty="0"/>
          </a:p>
        </p:txBody>
      </p:sp>
      <p:sp>
        <p:nvSpPr>
          <p:cNvPr id="7" name="Shape 5"/>
          <p:cNvSpPr/>
          <p:nvPr/>
        </p:nvSpPr>
        <p:spPr>
          <a:xfrm>
            <a:off x="548640" y="2148840"/>
            <a:ext cx="2606040" cy="2286000"/>
          </a:xfrm>
          <a:prstGeom prst="roundRect">
            <a:avLst>
              <a:gd name="adj" fmla="val 2800"/>
            </a:avLst>
          </a:prstGeom>
          <a:solidFill>
            <a:srgbClr val="FAF2F3"/>
          </a:solidFill>
          <a:ln/>
        </p:spPr>
      </p:sp>
      <p:sp>
        <p:nvSpPr>
          <p:cNvPr id="8" name="Shape 6"/>
          <p:cNvSpPr/>
          <p:nvPr/>
        </p:nvSpPr>
        <p:spPr>
          <a:xfrm>
            <a:off x="1568196" y="2395728"/>
            <a:ext cx="566928" cy="566928"/>
          </a:xfrm>
          <a:prstGeom prst="ellipse">
            <a:avLst/>
          </a:prstGeom>
          <a:solidFill>
            <a:srgbClr val="9D2235"/>
          </a:solidFill>
          <a:ln/>
        </p:spPr>
      </p:sp>
      <p:pic>
        <p:nvPicPr>
          <p:cNvPr id="9" name="Image 0" descr="preencoded.png">    </p:cNvPr>
          <p:cNvPicPr>
            <a:picLocks noChangeAspect="1"/>
          </p:cNvPicPr>
          <p:nvPr/>
        </p:nvPicPr>
        <p:blipFill>
          <a:blip r:embed="rId1"/>
          <a:stretch>
            <a:fillRect/>
          </a:stretch>
        </p:blipFill>
        <p:spPr>
          <a:xfrm>
            <a:off x="1715597" y="2543129"/>
            <a:ext cx="272125" cy="272125"/>
          </a:xfrm>
          <a:prstGeom prst="rect">
            <a:avLst/>
          </a:prstGeom>
        </p:spPr>
      </p:pic>
      <p:sp>
        <p:nvSpPr>
          <p:cNvPr id="10" name="Text 7"/>
          <p:cNvSpPr/>
          <p:nvPr/>
        </p:nvSpPr>
        <p:spPr>
          <a:xfrm>
            <a:off x="640080" y="3127248"/>
            <a:ext cx="2423160" cy="384048"/>
          </a:xfrm>
          <a:prstGeom prst="rect">
            <a:avLst/>
          </a:prstGeom>
          <a:noFill/>
          <a:ln/>
        </p:spPr>
        <p:txBody>
          <a:bodyPr wrap="square" lIns="0" tIns="0" rIns="0" bIns="0" rtlCol="0" anchor="ctr"/>
          <a:lstStyle/>
          <a:p>
            <a:pPr algn="ctr" indent="0" marL="0">
              <a:buNone/>
            </a:pPr>
            <a:r>
              <a:rPr lang="en-US" sz="1350" b="1" dirty="0">
                <a:solidFill>
                  <a:srgbClr val="9D2235"/>
                </a:solidFill>
                <a:latin typeface="Calibri" pitchFamily="34" charset="0"/>
                <a:ea typeface="Calibri" pitchFamily="34" charset="-122"/>
                <a:cs typeface="Calibri" pitchFamily="34" charset="-120"/>
              </a:rPr>
              <a:t>app.powerbi.com</a:t>
            </a:r>
            <a:endParaRPr lang="en-US" sz="1350" dirty="0"/>
          </a:p>
        </p:txBody>
      </p:sp>
      <p:sp>
        <p:nvSpPr>
          <p:cNvPr id="11" name="Text 8"/>
          <p:cNvSpPr/>
          <p:nvPr/>
        </p:nvSpPr>
        <p:spPr>
          <a:xfrm>
            <a:off x="685800" y="3566160"/>
            <a:ext cx="2331720" cy="777240"/>
          </a:xfrm>
          <a:prstGeom prst="rect">
            <a:avLst/>
          </a:prstGeom>
          <a:noFill/>
          <a:ln/>
        </p:spPr>
        <p:txBody>
          <a:bodyPr wrap="square" lIns="0" tIns="0" rIns="0" bIns="0" rtlCol="0" anchor="ctr"/>
          <a:lstStyle/>
          <a:p>
            <a:pPr algn="ctr" indent="0" marL="0">
              <a:lnSpc>
                <a:spcPts val="1400"/>
              </a:lnSpc>
              <a:buNone/>
            </a:pPr>
            <a:r>
              <a:rPr lang="en-US" sz="1100" dirty="0">
                <a:solidFill>
                  <a:srgbClr val="6E6E6E"/>
                </a:solidFill>
                <a:latin typeface="Calibri" pitchFamily="34" charset="0"/>
                <a:ea typeface="Calibri" pitchFamily="34" charset="-122"/>
                <a:cs typeface="Calibri" pitchFamily="34" charset="-120"/>
              </a:rPr>
              <a:t>The front door. Sign in with your LPU account.</a:t>
            </a:r>
            <a:endParaRPr lang="en-US" sz="1100" dirty="0"/>
          </a:p>
        </p:txBody>
      </p:sp>
      <p:sp>
        <p:nvSpPr>
          <p:cNvPr id="12" name="Text 9"/>
          <p:cNvSpPr/>
          <p:nvPr/>
        </p:nvSpPr>
        <p:spPr>
          <a:xfrm>
            <a:off x="3154680" y="2148840"/>
            <a:ext cx="228600" cy="2286000"/>
          </a:xfrm>
          <a:prstGeom prst="rect">
            <a:avLst/>
          </a:prstGeom>
          <a:noFill/>
          <a:ln/>
        </p:spPr>
        <p:txBody>
          <a:bodyPr wrap="square" lIns="0" tIns="0" rIns="0" bIns="0" rtlCol="0" anchor="ctr"/>
          <a:lstStyle/>
          <a:p>
            <a:pPr algn="ctr" indent="0" marL="0">
              <a:buNone/>
            </a:pPr>
            <a:r>
              <a:rPr lang="en-US" sz="2600" dirty="0">
                <a:solidFill>
                  <a:srgbClr val="6E6E6E"/>
                </a:solidFill>
                <a:latin typeface="Calibri" pitchFamily="34" charset="0"/>
                <a:ea typeface="Calibri" pitchFamily="34" charset="-122"/>
                <a:cs typeface="Calibri" pitchFamily="34" charset="-120"/>
              </a:rPr>
              <a:t>›</a:t>
            </a:r>
            <a:endParaRPr lang="en-US" sz="2600" dirty="0"/>
          </a:p>
        </p:txBody>
      </p:sp>
      <p:sp>
        <p:nvSpPr>
          <p:cNvPr id="13" name="Shape 10"/>
          <p:cNvSpPr/>
          <p:nvPr/>
        </p:nvSpPr>
        <p:spPr>
          <a:xfrm>
            <a:off x="3383280" y="2148840"/>
            <a:ext cx="2606040" cy="2286000"/>
          </a:xfrm>
          <a:prstGeom prst="roundRect">
            <a:avLst>
              <a:gd name="adj" fmla="val 2800"/>
            </a:avLst>
          </a:prstGeom>
          <a:solidFill>
            <a:srgbClr val="FAF2F3"/>
          </a:solidFill>
          <a:ln/>
        </p:spPr>
      </p:sp>
      <p:sp>
        <p:nvSpPr>
          <p:cNvPr id="14" name="Shape 11"/>
          <p:cNvSpPr/>
          <p:nvPr/>
        </p:nvSpPr>
        <p:spPr>
          <a:xfrm>
            <a:off x="4402836" y="2395728"/>
            <a:ext cx="566928" cy="566928"/>
          </a:xfrm>
          <a:prstGeom prst="ellipse">
            <a:avLst/>
          </a:prstGeom>
          <a:solidFill>
            <a:srgbClr val="9D2235"/>
          </a:solidFill>
          <a:ln/>
        </p:spPr>
      </p:sp>
      <p:pic>
        <p:nvPicPr>
          <p:cNvPr id="15" name="Image 1" descr="preencoded.png">    </p:cNvPr>
          <p:cNvPicPr>
            <a:picLocks noChangeAspect="1"/>
          </p:cNvPicPr>
          <p:nvPr/>
        </p:nvPicPr>
        <p:blipFill>
          <a:blip r:embed="rId2"/>
          <a:stretch>
            <a:fillRect/>
          </a:stretch>
        </p:blipFill>
        <p:spPr>
          <a:xfrm>
            <a:off x="4550237" y="2543129"/>
            <a:ext cx="272125" cy="272125"/>
          </a:xfrm>
          <a:prstGeom prst="rect">
            <a:avLst/>
          </a:prstGeom>
        </p:spPr>
      </p:pic>
      <p:sp>
        <p:nvSpPr>
          <p:cNvPr id="16" name="Text 12"/>
          <p:cNvSpPr/>
          <p:nvPr/>
        </p:nvSpPr>
        <p:spPr>
          <a:xfrm>
            <a:off x="3474720" y="3127248"/>
            <a:ext cx="2423160" cy="384048"/>
          </a:xfrm>
          <a:prstGeom prst="rect">
            <a:avLst/>
          </a:prstGeom>
          <a:noFill/>
          <a:ln/>
        </p:spPr>
        <p:txBody>
          <a:bodyPr wrap="square" lIns="0" tIns="0" rIns="0" bIns="0" rtlCol="0" anchor="ctr"/>
          <a:lstStyle/>
          <a:p>
            <a:pPr algn="ctr" indent="0" marL="0">
              <a:buNone/>
            </a:pPr>
            <a:r>
              <a:rPr lang="en-US" sz="1350" b="1" dirty="0">
                <a:solidFill>
                  <a:srgbClr val="9D2235"/>
                </a:solidFill>
                <a:latin typeface="Calibri" pitchFamily="34" charset="0"/>
                <a:ea typeface="Calibri" pitchFamily="34" charset="-122"/>
                <a:cs typeface="Calibri" pitchFamily="34" charset="-120"/>
              </a:rPr>
              <a:t>My workspace</a:t>
            </a:r>
            <a:endParaRPr lang="en-US" sz="1350" dirty="0"/>
          </a:p>
        </p:txBody>
      </p:sp>
      <p:sp>
        <p:nvSpPr>
          <p:cNvPr id="17" name="Text 13"/>
          <p:cNvSpPr/>
          <p:nvPr/>
        </p:nvSpPr>
        <p:spPr>
          <a:xfrm>
            <a:off x="3520440" y="3566160"/>
            <a:ext cx="2331720" cy="777240"/>
          </a:xfrm>
          <a:prstGeom prst="rect">
            <a:avLst/>
          </a:prstGeom>
          <a:noFill/>
          <a:ln/>
        </p:spPr>
        <p:txBody>
          <a:bodyPr wrap="square" lIns="0" tIns="0" rIns="0" bIns="0" rtlCol="0" anchor="ctr"/>
          <a:lstStyle/>
          <a:p>
            <a:pPr algn="ctr" indent="0" marL="0">
              <a:lnSpc>
                <a:spcPts val="1400"/>
              </a:lnSpc>
              <a:buNone/>
            </a:pPr>
            <a:r>
              <a:rPr lang="en-US" sz="1100" dirty="0">
                <a:solidFill>
                  <a:srgbClr val="6E6E6E"/>
                </a:solidFill>
                <a:latin typeface="Calibri" pitchFamily="34" charset="0"/>
                <a:ea typeface="Calibri" pitchFamily="34" charset="-122"/>
                <a:cs typeface="Calibri" pitchFamily="34" charset="-120"/>
              </a:rPr>
              <a:t>Your own space. Everything you build lives here.</a:t>
            </a:r>
            <a:endParaRPr lang="en-US" sz="1100" dirty="0"/>
          </a:p>
        </p:txBody>
      </p:sp>
      <p:sp>
        <p:nvSpPr>
          <p:cNvPr id="18" name="Text 14"/>
          <p:cNvSpPr/>
          <p:nvPr/>
        </p:nvSpPr>
        <p:spPr>
          <a:xfrm>
            <a:off x="5989320" y="2148840"/>
            <a:ext cx="228600" cy="2286000"/>
          </a:xfrm>
          <a:prstGeom prst="rect">
            <a:avLst/>
          </a:prstGeom>
          <a:noFill/>
          <a:ln/>
        </p:spPr>
        <p:txBody>
          <a:bodyPr wrap="square" lIns="0" tIns="0" rIns="0" bIns="0" rtlCol="0" anchor="ctr"/>
          <a:lstStyle/>
          <a:p>
            <a:pPr algn="ctr" indent="0" marL="0">
              <a:buNone/>
            </a:pPr>
            <a:r>
              <a:rPr lang="en-US" sz="2600" dirty="0">
                <a:solidFill>
                  <a:srgbClr val="6E6E6E"/>
                </a:solidFill>
                <a:latin typeface="Calibri" pitchFamily="34" charset="0"/>
                <a:ea typeface="Calibri" pitchFamily="34" charset="-122"/>
                <a:cs typeface="Calibri" pitchFamily="34" charset="-120"/>
              </a:rPr>
              <a:t>›</a:t>
            </a:r>
            <a:endParaRPr lang="en-US" sz="2600" dirty="0"/>
          </a:p>
        </p:txBody>
      </p:sp>
      <p:sp>
        <p:nvSpPr>
          <p:cNvPr id="19" name="Shape 15"/>
          <p:cNvSpPr/>
          <p:nvPr/>
        </p:nvSpPr>
        <p:spPr>
          <a:xfrm>
            <a:off x="6217920" y="2148840"/>
            <a:ext cx="2606040" cy="2286000"/>
          </a:xfrm>
          <a:prstGeom prst="roundRect">
            <a:avLst>
              <a:gd name="adj" fmla="val 2800"/>
            </a:avLst>
          </a:prstGeom>
          <a:solidFill>
            <a:srgbClr val="FAF2F3"/>
          </a:solidFill>
          <a:ln/>
        </p:spPr>
      </p:sp>
      <p:sp>
        <p:nvSpPr>
          <p:cNvPr id="20" name="Shape 16"/>
          <p:cNvSpPr/>
          <p:nvPr/>
        </p:nvSpPr>
        <p:spPr>
          <a:xfrm>
            <a:off x="7237476" y="2395728"/>
            <a:ext cx="566928" cy="566928"/>
          </a:xfrm>
          <a:prstGeom prst="ellipse">
            <a:avLst/>
          </a:prstGeom>
          <a:solidFill>
            <a:srgbClr val="9D2235"/>
          </a:solidFill>
          <a:ln/>
        </p:spPr>
      </p:sp>
      <p:pic>
        <p:nvPicPr>
          <p:cNvPr id="21" name="Image 2" descr="preencoded.png">    </p:cNvPr>
          <p:cNvPicPr>
            <a:picLocks noChangeAspect="1"/>
          </p:cNvPicPr>
          <p:nvPr/>
        </p:nvPicPr>
        <p:blipFill>
          <a:blip r:embed="rId3"/>
          <a:stretch>
            <a:fillRect/>
          </a:stretch>
        </p:blipFill>
        <p:spPr>
          <a:xfrm>
            <a:off x="7384877" y="2543129"/>
            <a:ext cx="272125" cy="272125"/>
          </a:xfrm>
          <a:prstGeom prst="rect">
            <a:avLst/>
          </a:prstGeom>
        </p:spPr>
      </p:pic>
      <p:sp>
        <p:nvSpPr>
          <p:cNvPr id="22" name="Text 17"/>
          <p:cNvSpPr/>
          <p:nvPr/>
        </p:nvSpPr>
        <p:spPr>
          <a:xfrm>
            <a:off x="6309360" y="3127248"/>
            <a:ext cx="2423160" cy="384048"/>
          </a:xfrm>
          <a:prstGeom prst="rect">
            <a:avLst/>
          </a:prstGeom>
          <a:noFill/>
          <a:ln/>
        </p:spPr>
        <p:txBody>
          <a:bodyPr wrap="square" lIns="0" tIns="0" rIns="0" bIns="0" rtlCol="0" anchor="ctr"/>
          <a:lstStyle/>
          <a:p>
            <a:pPr algn="ctr" indent="0" marL="0">
              <a:buNone/>
            </a:pPr>
            <a:r>
              <a:rPr lang="en-US" sz="1350" b="1" dirty="0">
                <a:solidFill>
                  <a:srgbClr val="9D2235"/>
                </a:solidFill>
                <a:latin typeface="Calibri" pitchFamily="34" charset="0"/>
                <a:ea typeface="Calibri" pitchFamily="34" charset="-122"/>
                <a:cs typeface="Calibri" pitchFamily="34" charset="-120"/>
              </a:rPr>
              <a:t>Semantic model</a:t>
            </a:r>
            <a:endParaRPr lang="en-US" sz="1350" dirty="0"/>
          </a:p>
        </p:txBody>
      </p:sp>
      <p:sp>
        <p:nvSpPr>
          <p:cNvPr id="23" name="Text 18"/>
          <p:cNvSpPr/>
          <p:nvPr/>
        </p:nvSpPr>
        <p:spPr>
          <a:xfrm>
            <a:off x="6355080" y="3566160"/>
            <a:ext cx="2331720" cy="777240"/>
          </a:xfrm>
          <a:prstGeom prst="rect">
            <a:avLst/>
          </a:prstGeom>
          <a:noFill/>
          <a:ln/>
        </p:spPr>
        <p:txBody>
          <a:bodyPr wrap="square" lIns="0" tIns="0" rIns="0" bIns="0" rtlCol="0" anchor="ctr"/>
          <a:lstStyle/>
          <a:p>
            <a:pPr algn="ctr" indent="0" marL="0">
              <a:lnSpc>
                <a:spcPts val="1400"/>
              </a:lnSpc>
              <a:buNone/>
            </a:pPr>
            <a:r>
              <a:rPr lang="en-US" sz="1100" dirty="0">
                <a:solidFill>
                  <a:srgbClr val="6E6E6E"/>
                </a:solidFill>
                <a:latin typeface="Calibri" pitchFamily="34" charset="0"/>
                <a:ea typeface="Calibri" pitchFamily="34" charset="-122"/>
                <a:cs typeface="Calibri" pitchFamily="34" charset="-120"/>
              </a:rPr>
              <a:t>Your tables, relationships and measures.</a:t>
            </a:r>
            <a:endParaRPr lang="en-US" sz="1100" dirty="0"/>
          </a:p>
        </p:txBody>
      </p:sp>
      <p:sp>
        <p:nvSpPr>
          <p:cNvPr id="24" name="Text 19"/>
          <p:cNvSpPr/>
          <p:nvPr/>
        </p:nvSpPr>
        <p:spPr>
          <a:xfrm>
            <a:off x="8823960" y="2148840"/>
            <a:ext cx="228600" cy="2286000"/>
          </a:xfrm>
          <a:prstGeom prst="rect">
            <a:avLst/>
          </a:prstGeom>
          <a:noFill/>
          <a:ln/>
        </p:spPr>
        <p:txBody>
          <a:bodyPr wrap="square" lIns="0" tIns="0" rIns="0" bIns="0" rtlCol="0" anchor="ctr"/>
          <a:lstStyle/>
          <a:p>
            <a:pPr algn="ctr" indent="0" marL="0">
              <a:buNone/>
            </a:pPr>
            <a:r>
              <a:rPr lang="en-US" sz="2600" dirty="0">
                <a:solidFill>
                  <a:srgbClr val="6E6E6E"/>
                </a:solidFill>
                <a:latin typeface="Calibri" pitchFamily="34" charset="0"/>
                <a:ea typeface="Calibri" pitchFamily="34" charset="-122"/>
                <a:cs typeface="Calibri" pitchFamily="34" charset="-120"/>
              </a:rPr>
              <a:t>›</a:t>
            </a:r>
            <a:endParaRPr lang="en-US" sz="2600" dirty="0"/>
          </a:p>
        </p:txBody>
      </p:sp>
      <p:sp>
        <p:nvSpPr>
          <p:cNvPr id="25" name="Shape 20"/>
          <p:cNvSpPr/>
          <p:nvPr/>
        </p:nvSpPr>
        <p:spPr>
          <a:xfrm>
            <a:off x="9052560" y="2148840"/>
            <a:ext cx="2606040" cy="2286000"/>
          </a:xfrm>
          <a:prstGeom prst="roundRect">
            <a:avLst>
              <a:gd name="adj" fmla="val 2800"/>
            </a:avLst>
          </a:prstGeom>
          <a:solidFill>
            <a:srgbClr val="FAF2F3"/>
          </a:solidFill>
          <a:ln/>
        </p:spPr>
      </p:sp>
      <p:sp>
        <p:nvSpPr>
          <p:cNvPr id="26" name="Shape 21"/>
          <p:cNvSpPr/>
          <p:nvPr/>
        </p:nvSpPr>
        <p:spPr>
          <a:xfrm>
            <a:off x="10072116" y="2395728"/>
            <a:ext cx="566928" cy="566928"/>
          </a:xfrm>
          <a:prstGeom prst="ellipse">
            <a:avLst/>
          </a:prstGeom>
          <a:solidFill>
            <a:srgbClr val="9D2235"/>
          </a:solidFill>
          <a:ln/>
        </p:spPr>
      </p:sp>
      <p:pic>
        <p:nvPicPr>
          <p:cNvPr id="27" name="Image 3" descr="preencoded.png">    </p:cNvPr>
          <p:cNvPicPr>
            <a:picLocks noChangeAspect="1"/>
          </p:cNvPicPr>
          <p:nvPr/>
        </p:nvPicPr>
        <p:blipFill>
          <a:blip r:embed="rId4"/>
          <a:stretch>
            <a:fillRect/>
          </a:stretch>
        </p:blipFill>
        <p:spPr>
          <a:xfrm>
            <a:off x="10219517" y="2543129"/>
            <a:ext cx="272125" cy="272125"/>
          </a:xfrm>
          <a:prstGeom prst="rect">
            <a:avLst/>
          </a:prstGeom>
        </p:spPr>
      </p:pic>
      <p:sp>
        <p:nvSpPr>
          <p:cNvPr id="28" name="Text 22"/>
          <p:cNvSpPr/>
          <p:nvPr/>
        </p:nvSpPr>
        <p:spPr>
          <a:xfrm>
            <a:off x="9144000" y="3127248"/>
            <a:ext cx="2423160" cy="384048"/>
          </a:xfrm>
          <a:prstGeom prst="rect">
            <a:avLst/>
          </a:prstGeom>
          <a:noFill/>
          <a:ln/>
        </p:spPr>
        <p:txBody>
          <a:bodyPr wrap="square" lIns="0" tIns="0" rIns="0" bIns="0" rtlCol="0" anchor="ctr"/>
          <a:lstStyle/>
          <a:p>
            <a:pPr algn="ctr" indent="0" marL="0">
              <a:buNone/>
            </a:pPr>
            <a:r>
              <a:rPr lang="en-US" sz="1350" b="1" dirty="0">
                <a:solidFill>
                  <a:srgbClr val="9D2235"/>
                </a:solidFill>
                <a:latin typeface="Calibri" pitchFamily="34" charset="0"/>
                <a:ea typeface="Calibri" pitchFamily="34" charset="-122"/>
                <a:cs typeface="Calibri" pitchFamily="34" charset="-120"/>
              </a:rPr>
              <a:t>Power Query</a:t>
            </a:r>
            <a:endParaRPr lang="en-US" sz="1350" dirty="0"/>
          </a:p>
        </p:txBody>
      </p:sp>
      <p:sp>
        <p:nvSpPr>
          <p:cNvPr id="29" name="Text 23"/>
          <p:cNvSpPr/>
          <p:nvPr/>
        </p:nvSpPr>
        <p:spPr>
          <a:xfrm>
            <a:off x="9189720" y="3566160"/>
            <a:ext cx="2331720" cy="777240"/>
          </a:xfrm>
          <a:prstGeom prst="rect">
            <a:avLst/>
          </a:prstGeom>
          <a:noFill/>
          <a:ln/>
        </p:spPr>
        <p:txBody>
          <a:bodyPr wrap="square" lIns="0" tIns="0" rIns="0" bIns="0" rtlCol="0" anchor="ctr"/>
          <a:lstStyle/>
          <a:p>
            <a:pPr algn="ctr" indent="0" marL="0">
              <a:lnSpc>
                <a:spcPts val="1400"/>
              </a:lnSpc>
              <a:buNone/>
            </a:pPr>
            <a:r>
              <a:rPr lang="en-US" sz="1100" dirty="0">
                <a:solidFill>
                  <a:srgbClr val="6E6E6E"/>
                </a:solidFill>
                <a:latin typeface="Calibri" pitchFamily="34" charset="0"/>
                <a:ea typeface="Calibri" pitchFamily="34" charset="-122"/>
                <a:cs typeface="Calibri" pitchFamily="34" charset="-120"/>
              </a:rPr>
              <a:t>Where the cleaning happens. Today's room.</a:t>
            </a:r>
            <a:endParaRPr lang="en-US" sz="1100" dirty="0"/>
          </a:p>
        </p:txBody>
      </p:sp>
      <p:sp>
        <p:nvSpPr>
          <p:cNvPr id="30" name="Shape 24"/>
          <p:cNvSpPr/>
          <p:nvPr/>
        </p:nvSpPr>
        <p:spPr>
          <a:xfrm>
            <a:off x="548640" y="4709160"/>
            <a:ext cx="11091672" cy="1051560"/>
          </a:xfrm>
          <a:prstGeom prst="roundRect">
            <a:avLst>
              <a:gd name="adj" fmla="val 6087"/>
            </a:avLst>
          </a:prstGeom>
          <a:solidFill>
            <a:srgbClr val="FFF7E6"/>
          </a:solidFill>
          <a:ln/>
        </p:spPr>
      </p:sp>
      <p:sp>
        <p:nvSpPr>
          <p:cNvPr id="31" name="Shape 25"/>
          <p:cNvSpPr/>
          <p:nvPr/>
        </p:nvSpPr>
        <p:spPr>
          <a:xfrm>
            <a:off x="786384" y="4937760"/>
            <a:ext cx="566928" cy="566928"/>
          </a:xfrm>
          <a:prstGeom prst="ellipse">
            <a:avLst/>
          </a:prstGeom>
          <a:solidFill>
            <a:srgbClr val="C99700"/>
          </a:solidFill>
          <a:ln/>
        </p:spPr>
      </p:sp>
      <p:pic>
        <p:nvPicPr>
          <p:cNvPr id="32" name="Image 4" descr="preencoded.png">    </p:cNvPr>
          <p:cNvPicPr>
            <a:picLocks noChangeAspect="1"/>
          </p:cNvPicPr>
          <p:nvPr/>
        </p:nvPicPr>
        <p:blipFill>
          <a:blip r:embed="rId5"/>
          <a:stretch>
            <a:fillRect/>
          </a:stretch>
        </p:blipFill>
        <p:spPr>
          <a:xfrm>
            <a:off x="933785" y="5085161"/>
            <a:ext cx="272125" cy="272125"/>
          </a:xfrm>
          <a:prstGeom prst="rect">
            <a:avLst/>
          </a:prstGeom>
        </p:spPr>
      </p:pic>
      <p:sp>
        <p:nvSpPr>
          <p:cNvPr id="33" name="Text 26"/>
          <p:cNvSpPr/>
          <p:nvPr/>
        </p:nvSpPr>
        <p:spPr>
          <a:xfrm>
            <a:off x="1554480" y="4828032"/>
            <a:ext cx="9875520" cy="822960"/>
          </a:xfrm>
          <a:prstGeom prst="rect">
            <a:avLst/>
          </a:prstGeom>
          <a:noFill/>
          <a:ln/>
        </p:spPr>
        <p:txBody>
          <a:bodyPr wrap="square" lIns="0" tIns="0" rIns="0" bIns="0" rtlCol="0" anchor="ctr"/>
          <a:lstStyle/>
          <a:p>
            <a:pPr indent="0" marL="0">
              <a:lnSpc>
                <a:spcPts val="1700"/>
              </a:lnSpc>
              <a:buNone/>
            </a:pPr>
            <a:r>
              <a:rPr lang="en-US" sz="1250" b="1" dirty="0">
                <a:solidFill>
                  <a:srgbClr val="262626"/>
                </a:solidFill>
                <a:latin typeface="Calibri" pitchFamily="34" charset="0"/>
                <a:ea typeface="Calibri" pitchFamily="34" charset="-122"/>
                <a:cs typeface="Calibri" pitchFamily="34" charset="-120"/>
              </a:rPr>
              <a:t>One consequence you will feel today: </a:t>
            </a:r>
            <a:pPr indent="0" marL="0">
              <a:lnSpc>
                <a:spcPts val="1700"/>
              </a:lnSpc>
              <a:buNone/>
            </a:pPr>
            <a:r>
              <a:rPr lang="en-US" sz="1250" dirty="0">
                <a:solidFill>
                  <a:srgbClr val="262626"/>
                </a:solidFill>
                <a:latin typeface="Calibri" pitchFamily="34" charset="0"/>
                <a:ea typeface="Calibri" pitchFamily="34" charset="-122"/>
                <a:cs typeface="Calibri" pitchFamily="34" charset="-120"/>
              </a:rPr>
              <a:t>every click is a request to a server. If the connection drops, your work does not vanish — but the screen will stop responding until it returns. That is the trade for not needing Windows.</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ORIENTATION</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Editing mode and viewing mode</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3</a:t>
            </a:r>
            <a:endParaRPr lang="en-US" sz="850" dirty="0"/>
          </a:p>
        </p:txBody>
      </p:sp>
      <p:sp>
        <p:nvSpPr>
          <p:cNvPr id="6" name="Text 4"/>
          <p:cNvSpPr/>
          <p:nvPr/>
        </p:nvSpPr>
        <p:spPr>
          <a:xfrm>
            <a:off x="548640" y="1417320"/>
            <a:ext cx="11091672" cy="502920"/>
          </a:xfrm>
          <a:prstGeom prst="rect">
            <a:avLst/>
          </a:prstGeom>
          <a:noFill/>
          <a:ln/>
        </p:spPr>
        <p:txBody>
          <a:bodyPr wrap="square" lIns="0" tIns="0" rIns="0" bIns="0" rtlCol="0" anchor="ctr"/>
          <a:lstStyle/>
          <a:p>
            <a:pPr indent="0" marL="0">
              <a:lnSpc>
                <a:spcPts val="1900"/>
              </a:lnSpc>
              <a:buNone/>
            </a:pPr>
            <a:r>
              <a:rPr lang="en-US" sz="1450" dirty="0">
                <a:solidFill>
                  <a:srgbClr val="262626"/>
                </a:solidFill>
                <a:latin typeface="Calibri" pitchFamily="34" charset="0"/>
                <a:ea typeface="Calibri" pitchFamily="34" charset="-122"/>
                <a:cs typeface="Calibri" pitchFamily="34" charset="-120"/>
              </a:rPr>
              <a:t>The same screen behaves in two different ways depending on which mode you are in. Most confusion in the first weeks comes from being in the wrong one.</a:t>
            </a:r>
            <a:endParaRPr lang="en-US" sz="1450" dirty="0"/>
          </a:p>
        </p:txBody>
      </p:sp>
      <p:sp>
        <p:nvSpPr>
          <p:cNvPr id="7" name="Shape 5"/>
          <p:cNvSpPr/>
          <p:nvPr/>
        </p:nvSpPr>
        <p:spPr>
          <a:xfrm>
            <a:off x="548640" y="2103120"/>
            <a:ext cx="5440680" cy="3108960"/>
          </a:xfrm>
          <a:prstGeom prst="roundRect">
            <a:avLst>
              <a:gd name="adj" fmla="val 2059"/>
            </a:avLst>
          </a:prstGeom>
          <a:solidFill>
            <a:srgbClr val="EFF5F0"/>
          </a:solidFill>
          <a:ln/>
        </p:spPr>
      </p:sp>
      <p:sp>
        <p:nvSpPr>
          <p:cNvPr id="8" name="Shape 6"/>
          <p:cNvSpPr/>
          <p:nvPr/>
        </p:nvSpPr>
        <p:spPr>
          <a:xfrm>
            <a:off x="822960" y="2377440"/>
            <a:ext cx="548640" cy="548640"/>
          </a:xfrm>
          <a:prstGeom prst="ellipse">
            <a:avLst/>
          </a:prstGeom>
          <a:solidFill>
            <a:srgbClr val="2C6E49"/>
          </a:solidFill>
          <a:ln/>
        </p:spPr>
      </p:sp>
      <p:pic>
        <p:nvPicPr>
          <p:cNvPr id="9" name="Image 0" descr="preencoded.png">    </p:cNvPr>
          <p:cNvPicPr>
            <a:picLocks noChangeAspect="1"/>
          </p:cNvPicPr>
          <p:nvPr/>
        </p:nvPicPr>
        <p:blipFill>
          <a:blip r:embed="rId1"/>
          <a:stretch>
            <a:fillRect/>
          </a:stretch>
        </p:blipFill>
        <p:spPr>
          <a:xfrm>
            <a:off x="965606" y="2520086"/>
            <a:ext cx="263347" cy="263347"/>
          </a:xfrm>
          <a:prstGeom prst="rect">
            <a:avLst/>
          </a:prstGeom>
        </p:spPr>
      </p:pic>
      <p:sp>
        <p:nvSpPr>
          <p:cNvPr id="10" name="Text 7"/>
          <p:cNvSpPr/>
          <p:nvPr/>
        </p:nvSpPr>
        <p:spPr>
          <a:xfrm>
            <a:off x="1508760" y="2468880"/>
            <a:ext cx="4206240" cy="365760"/>
          </a:xfrm>
          <a:prstGeom prst="rect">
            <a:avLst/>
          </a:prstGeom>
          <a:noFill/>
          <a:ln/>
        </p:spPr>
        <p:txBody>
          <a:bodyPr wrap="square" lIns="0" tIns="0" rIns="0" bIns="0" rtlCol="0" anchor="ctr"/>
          <a:lstStyle/>
          <a:p>
            <a:pPr indent="0" marL="0">
              <a:buNone/>
            </a:pPr>
            <a:r>
              <a:rPr lang="en-US" sz="1600" b="1" dirty="0">
                <a:solidFill>
                  <a:srgbClr val="2C6E49"/>
                </a:solidFill>
                <a:latin typeface="Calibri" pitchFamily="34" charset="0"/>
                <a:ea typeface="Calibri" pitchFamily="34" charset="-122"/>
                <a:cs typeface="Calibri" pitchFamily="34" charset="-120"/>
              </a:rPr>
              <a:t>Viewing</a:t>
            </a:r>
            <a:endParaRPr lang="en-US" sz="1600" dirty="0"/>
          </a:p>
        </p:txBody>
      </p:sp>
      <p:sp>
        <p:nvSpPr>
          <p:cNvPr id="11" name="Text 8"/>
          <p:cNvSpPr/>
          <p:nvPr/>
        </p:nvSpPr>
        <p:spPr>
          <a:xfrm>
            <a:off x="868680" y="3063240"/>
            <a:ext cx="4846320" cy="1920240"/>
          </a:xfrm>
          <a:prstGeom prst="rect">
            <a:avLst/>
          </a:prstGeom>
          <a:noFill/>
          <a:ln/>
        </p:spPr>
        <p:txBody>
          <a:bodyPr wrap="square" lIns="0" tIns="0" rIns="0" bIns="0" rtlCol="0" anchor="ctr"/>
          <a:lstStyle/>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You can look, filter and interact.</a:t>
            </a:r>
            <a:endParaRPr lang="en-US" sz="1300" dirty="0"/>
          </a:p>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You cannot change anything.</a:t>
            </a:r>
            <a:endParaRPr lang="en-US" sz="1300" dirty="0"/>
          </a:p>
          <a:p>
            <a:pPr indent="0" marL="0">
              <a:lnSpc>
                <a:spcPts val="1900"/>
              </a:lnSpc>
              <a:buNone/>
            </a:pPr>
            <a:endParaRPr lang="en-US" sz="1300" dirty="0"/>
          </a:p>
          <a:p>
            <a:pPr indent="0" marL="0">
              <a:lnSpc>
                <a:spcPts val="1900"/>
              </a:lnSpc>
              <a:buNone/>
            </a:pPr>
            <a:r>
              <a:rPr lang="en-US" sz="1300" dirty="0">
                <a:solidFill>
                  <a:srgbClr val="6E6E6E"/>
                </a:solidFill>
                <a:latin typeface="Calibri" pitchFamily="34" charset="0"/>
                <a:ea typeface="Calibri" pitchFamily="34" charset="-122"/>
                <a:cs typeface="Calibri" pitchFamily="34" charset="-120"/>
              </a:rPr>
              <a:t>Safe. Nothing you do here breaks anything.</a:t>
            </a:r>
            <a:endParaRPr lang="en-US" sz="1300" dirty="0"/>
          </a:p>
        </p:txBody>
      </p:sp>
      <p:sp>
        <p:nvSpPr>
          <p:cNvPr id="12" name="Shape 9"/>
          <p:cNvSpPr/>
          <p:nvPr/>
        </p:nvSpPr>
        <p:spPr>
          <a:xfrm>
            <a:off x="6263640" y="2103120"/>
            <a:ext cx="5376672" cy="3108960"/>
          </a:xfrm>
          <a:prstGeom prst="roundRect">
            <a:avLst>
              <a:gd name="adj" fmla="val 2059"/>
            </a:avLst>
          </a:prstGeom>
          <a:solidFill>
            <a:srgbClr val="F3E4E7"/>
          </a:solidFill>
          <a:ln/>
        </p:spPr>
      </p:sp>
      <p:sp>
        <p:nvSpPr>
          <p:cNvPr id="13" name="Shape 10"/>
          <p:cNvSpPr/>
          <p:nvPr/>
        </p:nvSpPr>
        <p:spPr>
          <a:xfrm>
            <a:off x="6537960" y="2377440"/>
            <a:ext cx="548640" cy="548640"/>
          </a:xfrm>
          <a:prstGeom prst="ellipse">
            <a:avLst/>
          </a:prstGeom>
          <a:solidFill>
            <a:srgbClr val="9D2235"/>
          </a:solidFill>
          <a:ln/>
        </p:spPr>
      </p:sp>
      <p:pic>
        <p:nvPicPr>
          <p:cNvPr id="14" name="Image 1" descr="preencoded.png">    </p:cNvPr>
          <p:cNvPicPr>
            <a:picLocks noChangeAspect="1"/>
          </p:cNvPicPr>
          <p:nvPr/>
        </p:nvPicPr>
        <p:blipFill>
          <a:blip r:embed="rId2"/>
          <a:stretch>
            <a:fillRect/>
          </a:stretch>
        </p:blipFill>
        <p:spPr>
          <a:xfrm>
            <a:off x="6680606" y="2520086"/>
            <a:ext cx="263347" cy="263347"/>
          </a:xfrm>
          <a:prstGeom prst="rect">
            <a:avLst/>
          </a:prstGeom>
        </p:spPr>
      </p:pic>
      <p:sp>
        <p:nvSpPr>
          <p:cNvPr id="15" name="Text 11"/>
          <p:cNvSpPr/>
          <p:nvPr/>
        </p:nvSpPr>
        <p:spPr>
          <a:xfrm>
            <a:off x="7223760" y="2468880"/>
            <a:ext cx="4206240" cy="365760"/>
          </a:xfrm>
          <a:prstGeom prst="rect">
            <a:avLst/>
          </a:prstGeom>
          <a:noFill/>
          <a:ln/>
        </p:spPr>
        <p:txBody>
          <a:bodyPr wrap="square" lIns="0" tIns="0" rIns="0" bIns="0" rtlCol="0" anchor="ctr"/>
          <a:lstStyle/>
          <a:p>
            <a:pPr indent="0" marL="0">
              <a:buNone/>
            </a:pPr>
            <a:r>
              <a:rPr lang="en-US" sz="1600" b="1" dirty="0">
                <a:solidFill>
                  <a:srgbClr val="9D2235"/>
                </a:solidFill>
                <a:latin typeface="Calibri" pitchFamily="34" charset="0"/>
                <a:ea typeface="Calibri" pitchFamily="34" charset="-122"/>
                <a:cs typeface="Calibri" pitchFamily="34" charset="-120"/>
              </a:rPr>
              <a:t>Editing</a:t>
            </a:r>
            <a:endParaRPr lang="en-US" sz="1600" dirty="0"/>
          </a:p>
        </p:txBody>
      </p:sp>
      <p:sp>
        <p:nvSpPr>
          <p:cNvPr id="16" name="Text 12"/>
          <p:cNvSpPr/>
          <p:nvPr/>
        </p:nvSpPr>
        <p:spPr>
          <a:xfrm>
            <a:off x="6583680" y="3063240"/>
            <a:ext cx="4892040" cy="2011680"/>
          </a:xfrm>
          <a:prstGeom prst="rect">
            <a:avLst/>
          </a:prstGeom>
          <a:noFill/>
          <a:ln/>
        </p:spPr>
        <p:txBody>
          <a:bodyPr wrap="square" lIns="0" tIns="0" rIns="0" bIns="0" rtlCol="0" anchor="ctr"/>
          <a:lstStyle/>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You can change the model, add measures, edit queries.</a:t>
            </a:r>
            <a:endParaRPr lang="en-US" sz="1300" dirty="0"/>
          </a:p>
          <a:p>
            <a:pPr indent="0" marL="0">
              <a:lnSpc>
                <a:spcPts val="1900"/>
              </a:lnSpc>
              <a:buNone/>
            </a:pPr>
            <a:endParaRPr lang="en-US" sz="1300" dirty="0"/>
          </a:p>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Look for the Editing button at the top right of the window.</a:t>
            </a:r>
            <a:endParaRPr lang="en-US" sz="1300" dirty="0"/>
          </a:p>
          <a:p>
            <a:pPr indent="0" marL="0">
              <a:lnSpc>
                <a:spcPts val="1900"/>
              </a:lnSpc>
              <a:buNone/>
            </a:pPr>
            <a:endParaRPr lang="en-US" sz="1300" dirty="0"/>
          </a:p>
          <a:p>
            <a:pPr indent="0" marL="0">
              <a:lnSpc>
                <a:spcPts val="1900"/>
              </a:lnSpc>
              <a:buNone/>
            </a:pPr>
            <a:r>
              <a:rPr lang="en-US" sz="1300" b="1" dirty="0">
                <a:solidFill>
                  <a:srgbClr val="9D2235"/>
                </a:solidFill>
                <a:latin typeface="Calibri" pitchFamily="34" charset="0"/>
                <a:ea typeface="Calibri" pitchFamily="34" charset="-122"/>
                <a:cs typeface="Calibri" pitchFamily="34" charset="-120"/>
              </a:rPr>
              <a:t>Changes save as you go. There is no undo button.</a:t>
            </a:r>
            <a:endParaRPr lang="en-US" sz="1300" dirty="0"/>
          </a:p>
        </p:txBody>
      </p:sp>
      <p:sp>
        <p:nvSpPr>
          <p:cNvPr id="17" name="Shape 13"/>
          <p:cNvSpPr/>
          <p:nvPr/>
        </p:nvSpPr>
        <p:spPr>
          <a:xfrm>
            <a:off x="548640" y="5486400"/>
            <a:ext cx="11091672" cy="868680"/>
          </a:xfrm>
          <a:prstGeom prst="roundRect">
            <a:avLst>
              <a:gd name="adj" fmla="val 7368"/>
            </a:avLst>
          </a:prstGeom>
          <a:solidFill>
            <a:srgbClr val="FAF2F3"/>
          </a:solidFill>
          <a:ln/>
        </p:spPr>
      </p:sp>
      <p:sp>
        <p:nvSpPr>
          <p:cNvPr id="18" name="Text 14"/>
          <p:cNvSpPr/>
          <p:nvPr/>
        </p:nvSpPr>
        <p:spPr>
          <a:xfrm>
            <a:off x="822960" y="5559552"/>
            <a:ext cx="10561320" cy="731520"/>
          </a:xfrm>
          <a:prstGeom prst="rect">
            <a:avLst/>
          </a:prstGeom>
          <a:noFill/>
          <a:ln/>
        </p:spPr>
        <p:txBody>
          <a:bodyPr wrap="square" lIns="0" tIns="0" rIns="0" bIns="0" rtlCol="0" anchor="ctr"/>
          <a:lstStyle/>
          <a:p>
            <a:pPr indent="0" marL="0">
              <a:lnSpc>
                <a:spcPts val="1700"/>
              </a:lnSpc>
              <a:buNone/>
            </a:pPr>
            <a:r>
              <a:rPr lang="en-US" sz="1250" b="1" dirty="0">
                <a:solidFill>
                  <a:srgbClr val="9D2235"/>
                </a:solidFill>
                <a:latin typeface="Calibri" pitchFamily="34" charset="0"/>
                <a:ea typeface="Calibri" pitchFamily="34" charset="-122"/>
                <a:cs typeface="Calibri" pitchFamily="34" charset="-120"/>
              </a:rPr>
              <a:t>“Changes save as you go” is the part to remember. </a:t>
            </a:r>
            <a:pPr indent="0" marL="0">
              <a:lnSpc>
                <a:spcPts val="1700"/>
              </a:lnSpc>
              <a:buNone/>
            </a:pPr>
            <a:r>
              <a:rPr lang="en-US" sz="1250" dirty="0">
                <a:solidFill>
                  <a:srgbClr val="262626"/>
                </a:solidFill>
                <a:latin typeface="Calibri" pitchFamily="34" charset="0"/>
                <a:ea typeface="Calibri" pitchFamily="34" charset="-122"/>
                <a:cs typeface="Calibri" pitchFamily="34" charset="-120"/>
              </a:rPr>
              <a:t>Power Query is different — nothing is committed until you press Save. That distinction will save you at least once today.</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KEY TERMS</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The words we will use all day</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4</a:t>
            </a:r>
            <a:endParaRPr lang="en-US" sz="850" dirty="0"/>
          </a:p>
        </p:txBody>
      </p:sp>
      <p:sp>
        <p:nvSpPr>
          <p:cNvPr id="6" name="Shape 4"/>
          <p:cNvSpPr/>
          <p:nvPr/>
        </p:nvSpPr>
        <p:spPr>
          <a:xfrm>
            <a:off x="548640" y="1572768"/>
            <a:ext cx="3547872" cy="1965960"/>
          </a:xfrm>
          <a:prstGeom prst="roundRect">
            <a:avLst>
              <a:gd name="adj" fmla="val 3256"/>
            </a:avLst>
          </a:prstGeom>
          <a:solidFill>
            <a:srgbClr val="FAF2F3"/>
          </a:solidFill>
          <a:ln/>
        </p:spPr>
      </p:sp>
      <p:sp>
        <p:nvSpPr>
          <p:cNvPr id="7" name="Shape 5"/>
          <p:cNvSpPr/>
          <p:nvPr/>
        </p:nvSpPr>
        <p:spPr>
          <a:xfrm>
            <a:off x="786384" y="1810512"/>
            <a:ext cx="530352" cy="530352"/>
          </a:xfrm>
          <a:prstGeom prst="ellipse">
            <a:avLst/>
          </a:prstGeom>
          <a:solidFill>
            <a:srgbClr val="9D2235"/>
          </a:solidFill>
          <a:ln/>
        </p:spPr>
      </p:sp>
      <p:pic>
        <p:nvPicPr>
          <p:cNvPr id="8" name="Image 0" descr="preencoded.png">    </p:cNvPr>
          <p:cNvPicPr>
            <a:picLocks noChangeAspect="1"/>
          </p:cNvPicPr>
          <p:nvPr/>
        </p:nvPicPr>
        <p:blipFill>
          <a:blip r:embed="rId1"/>
          <a:stretch>
            <a:fillRect/>
          </a:stretch>
        </p:blipFill>
        <p:spPr>
          <a:xfrm>
            <a:off x="924276" y="1948404"/>
            <a:ext cx="254569" cy="254569"/>
          </a:xfrm>
          <a:prstGeom prst="rect">
            <a:avLst/>
          </a:prstGeom>
        </p:spPr>
      </p:pic>
      <p:sp>
        <p:nvSpPr>
          <p:cNvPr id="9" name="Text 6"/>
          <p:cNvSpPr/>
          <p:nvPr/>
        </p:nvSpPr>
        <p:spPr>
          <a:xfrm>
            <a:off x="1444752" y="1847088"/>
            <a:ext cx="2560320" cy="384048"/>
          </a:xfrm>
          <a:prstGeom prst="rect">
            <a:avLst/>
          </a:prstGeom>
          <a:noFill/>
          <a:ln/>
        </p:spPr>
        <p:txBody>
          <a:bodyPr wrap="square" lIns="0" tIns="0" rIns="0" bIns="0" rtlCol="0" anchor="ctr"/>
          <a:lstStyle/>
          <a:p>
            <a:pPr indent="0" marL="0">
              <a:buNone/>
            </a:pPr>
            <a:r>
              <a:rPr lang="en-US" sz="1600" b="1" dirty="0">
                <a:solidFill>
                  <a:srgbClr val="9D2235"/>
                </a:solidFill>
                <a:latin typeface="Calibri" pitchFamily="34" charset="0"/>
                <a:ea typeface="Calibri" pitchFamily="34" charset="-122"/>
                <a:cs typeface="Calibri" pitchFamily="34" charset="-120"/>
              </a:rPr>
              <a:t>Table</a:t>
            </a:r>
            <a:endParaRPr lang="en-US" sz="1600" dirty="0"/>
          </a:p>
        </p:txBody>
      </p:sp>
      <p:sp>
        <p:nvSpPr>
          <p:cNvPr id="10" name="Text 7"/>
          <p:cNvSpPr/>
          <p:nvPr/>
        </p:nvSpPr>
        <p:spPr>
          <a:xfrm>
            <a:off x="786384" y="2441448"/>
            <a:ext cx="3108960" cy="914400"/>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A grid of data. One of the seven files, once loaded.</a:t>
            </a:r>
            <a:endParaRPr lang="en-US" sz="1200" dirty="0"/>
          </a:p>
        </p:txBody>
      </p:sp>
      <p:sp>
        <p:nvSpPr>
          <p:cNvPr id="11" name="Shape 8"/>
          <p:cNvSpPr/>
          <p:nvPr/>
        </p:nvSpPr>
        <p:spPr>
          <a:xfrm>
            <a:off x="4325112" y="1572768"/>
            <a:ext cx="3547872" cy="1965960"/>
          </a:xfrm>
          <a:prstGeom prst="roundRect">
            <a:avLst>
              <a:gd name="adj" fmla="val 3256"/>
            </a:avLst>
          </a:prstGeom>
          <a:solidFill>
            <a:srgbClr val="FAF2F3"/>
          </a:solidFill>
          <a:ln/>
        </p:spPr>
      </p:sp>
      <p:sp>
        <p:nvSpPr>
          <p:cNvPr id="12" name="Shape 9"/>
          <p:cNvSpPr/>
          <p:nvPr/>
        </p:nvSpPr>
        <p:spPr>
          <a:xfrm>
            <a:off x="4562856" y="1810512"/>
            <a:ext cx="530352" cy="530352"/>
          </a:xfrm>
          <a:prstGeom prst="ellipse">
            <a:avLst/>
          </a:prstGeom>
          <a:solidFill>
            <a:srgbClr val="9D2235"/>
          </a:solidFill>
          <a:ln/>
        </p:spPr>
      </p:sp>
      <p:pic>
        <p:nvPicPr>
          <p:cNvPr id="13" name="Image 1" descr="preencoded.png">    </p:cNvPr>
          <p:cNvPicPr>
            <a:picLocks noChangeAspect="1"/>
          </p:cNvPicPr>
          <p:nvPr/>
        </p:nvPicPr>
        <p:blipFill>
          <a:blip r:embed="rId2"/>
          <a:stretch>
            <a:fillRect/>
          </a:stretch>
        </p:blipFill>
        <p:spPr>
          <a:xfrm>
            <a:off x="4700748" y="1948404"/>
            <a:ext cx="254569" cy="254569"/>
          </a:xfrm>
          <a:prstGeom prst="rect">
            <a:avLst/>
          </a:prstGeom>
        </p:spPr>
      </p:pic>
      <p:sp>
        <p:nvSpPr>
          <p:cNvPr id="14" name="Text 10"/>
          <p:cNvSpPr/>
          <p:nvPr/>
        </p:nvSpPr>
        <p:spPr>
          <a:xfrm>
            <a:off x="5221224" y="1847088"/>
            <a:ext cx="2560320" cy="384048"/>
          </a:xfrm>
          <a:prstGeom prst="rect">
            <a:avLst/>
          </a:prstGeom>
          <a:noFill/>
          <a:ln/>
        </p:spPr>
        <p:txBody>
          <a:bodyPr wrap="square" lIns="0" tIns="0" rIns="0" bIns="0" rtlCol="0" anchor="ctr"/>
          <a:lstStyle/>
          <a:p>
            <a:pPr indent="0" marL="0">
              <a:buNone/>
            </a:pPr>
            <a:r>
              <a:rPr lang="en-US" sz="1600" b="1" dirty="0">
                <a:solidFill>
                  <a:srgbClr val="9D2235"/>
                </a:solidFill>
                <a:latin typeface="Calibri" pitchFamily="34" charset="0"/>
                <a:ea typeface="Calibri" pitchFamily="34" charset="-122"/>
                <a:cs typeface="Calibri" pitchFamily="34" charset="-120"/>
              </a:rPr>
              <a:t>Row</a:t>
            </a:r>
            <a:endParaRPr lang="en-US" sz="1600" dirty="0"/>
          </a:p>
        </p:txBody>
      </p:sp>
      <p:sp>
        <p:nvSpPr>
          <p:cNvPr id="15" name="Text 11"/>
          <p:cNvSpPr/>
          <p:nvPr/>
        </p:nvSpPr>
        <p:spPr>
          <a:xfrm>
            <a:off x="4562856" y="2441448"/>
            <a:ext cx="3108960" cy="914400"/>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One thing that happened, or one thing that exists.</a:t>
            </a:r>
            <a:endParaRPr lang="en-US" sz="1200" dirty="0"/>
          </a:p>
        </p:txBody>
      </p:sp>
      <p:sp>
        <p:nvSpPr>
          <p:cNvPr id="16" name="Shape 12"/>
          <p:cNvSpPr/>
          <p:nvPr/>
        </p:nvSpPr>
        <p:spPr>
          <a:xfrm>
            <a:off x="8101584" y="1572768"/>
            <a:ext cx="3547872" cy="1965960"/>
          </a:xfrm>
          <a:prstGeom prst="roundRect">
            <a:avLst>
              <a:gd name="adj" fmla="val 3256"/>
            </a:avLst>
          </a:prstGeom>
          <a:solidFill>
            <a:srgbClr val="FAF2F3"/>
          </a:solidFill>
          <a:ln/>
        </p:spPr>
      </p:sp>
      <p:sp>
        <p:nvSpPr>
          <p:cNvPr id="17" name="Shape 13"/>
          <p:cNvSpPr/>
          <p:nvPr/>
        </p:nvSpPr>
        <p:spPr>
          <a:xfrm>
            <a:off x="8339328" y="1810512"/>
            <a:ext cx="530352" cy="530352"/>
          </a:xfrm>
          <a:prstGeom prst="ellipse">
            <a:avLst/>
          </a:prstGeom>
          <a:solidFill>
            <a:srgbClr val="9D2235"/>
          </a:solidFill>
          <a:ln/>
        </p:spPr>
      </p:sp>
      <p:pic>
        <p:nvPicPr>
          <p:cNvPr id="18" name="Image 2" descr="preencoded.png">    </p:cNvPr>
          <p:cNvPicPr>
            <a:picLocks noChangeAspect="1"/>
          </p:cNvPicPr>
          <p:nvPr/>
        </p:nvPicPr>
        <p:blipFill>
          <a:blip r:embed="rId3"/>
          <a:stretch>
            <a:fillRect/>
          </a:stretch>
        </p:blipFill>
        <p:spPr>
          <a:xfrm>
            <a:off x="8477220" y="1948404"/>
            <a:ext cx="254569" cy="254569"/>
          </a:xfrm>
          <a:prstGeom prst="rect">
            <a:avLst/>
          </a:prstGeom>
        </p:spPr>
      </p:pic>
      <p:sp>
        <p:nvSpPr>
          <p:cNvPr id="19" name="Text 14"/>
          <p:cNvSpPr/>
          <p:nvPr/>
        </p:nvSpPr>
        <p:spPr>
          <a:xfrm>
            <a:off x="8997696" y="1847088"/>
            <a:ext cx="2560320" cy="384048"/>
          </a:xfrm>
          <a:prstGeom prst="rect">
            <a:avLst/>
          </a:prstGeom>
          <a:noFill/>
          <a:ln/>
        </p:spPr>
        <p:txBody>
          <a:bodyPr wrap="square" lIns="0" tIns="0" rIns="0" bIns="0" rtlCol="0" anchor="ctr"/>
          <a:lstStyle/>
          <a:p>
            <a:pPr indent="0" marL="0">
              <a:buNone/>
            </a:pPr>
            <a:r>
              <a:rPr lang="en-US" sz="1600" b="1" dirty="0">
                <a:solidFill>
                  <a:srgbClr val="9D2235"/>
                </a:solidFill>
                <a:latin typeface="Calibri" pitchFamily="34" charset="0"/>
                <a:ea typeface="Calibri" pitchFamily="34" charset="-122"/>
                <a:cs typeface="Calibri" pitchFamily="34" charset="-120"/>
              </a:rPr>
              <a:t>Column</a:t>
            </a:r>
            <a:endParaRPr lang="en-US" sz="1600" dirty="0"/>
          </a:p>
        </p:txBody>
      </p:sp>
      <p:sp>
        <p:nvSpPr>
          <p:cNvPr id="20" name="Text 15"/>
          <p:cNvSpPr/>
          <p:nvPr/>
        </p:nvSpPr>
        <p:spPr>
          <a:xfrm>
            <a:off x="8339328" y="2441448"/>
            <a:ext cx="3108960" cy="914400"/>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One attribute, the same kind of fact for every row.</a:t>
            </a:r>
            <a:endParaRPr lang="en-US" sz="1200" dirty="0"/>
          </a:p>
        </p:txBody>
      </p:sp>
      <p:sp>
        <p:nvSpPr>
          <p:cNvPr id="21" name="Shape 16"/>
          <p:cNvSpPr/>
          <p:nvPr/>
        </p:nvSpPr>
        <p:spPr>
          <a:xfrm>
            <a:off x="548640" y="3767328"/>
            <a:ext cx="3547872" cy="1965960"/>
          </a:xfrm>
          <a:prstGeom prst="roundRect">
            <a:avLst>
              <a:gd name="adj" fmla="val 3256"/>
            </a:avLst>
          </a:prstGeom>
          <a:solidFill>
            <a:srgbClr val="FAF2F3"/>
          </a:solidFill>
          <a:ln/>
        </p:spPr>
      </p:sp>
      <p:sp>
        <p:nvSpPr>
          <p:cNvPr id="22" name="Shape 17"/>
          <p:cNvSpPr/>
          <p:nvPr/>
        </p:nvSpPr>
        <p:spPr>
          <a:xfrm>
            <a:off x="786384" y="4005072"/>
            <a:ext cx="530352" cy="530352"/>
          </a:xfrm>
          <a:prstGeom prst="ellipse">
            <a:avLst/>
          </a:prstGeom>
          <a:solidFill>
            <a:srgbClr val="9D2235"/>
          </a:solidFill>
          <a:ln/>
        </p:spPr>
      </p:sp>
      <p:pic>
        <p:nvPicPr>
          <p:cNvPr id="23" name="Image 3" descr="preencoded.png">    </p:cNvPr>
          <p:cNvPicPr>
            <a:picLocks noChangeAspect="1"/>
          </p:cNvPicPr>
          <p:nvPr/>
        </p:nvPicPr>
        <p:blipFill>
          <a:blip r:embed="rId4"/>
          <a:stretch>
            <a:fillRect/>
          </a:stretch>
        </p:blipFill>
        <p:spPr>
          <a:xfrm>
            <a:off x="924276" y="4142964"/>
            <a:ext cx="254569" cy="254569"/>
          </a:xfrm>
          <a:prstGeom prst="rect">
            <a:avLst/>
          </a:prstGeom>
        </p:spPr>
      </p:pic>
      <p:sp>
        <p:nvSpPr>
          <p:cNvPr id="24" name="Text 18"/>
          <p:cNvSpPr/>
          <p:nvPr/>
        </p:nvSpPr>
        <p:spPr>
          <a:xfrm>
            <a:off x="1444752" y="4041648"/>
            <a:ext cx="2560320" cy="384048"/>
          </a:xfrm>
          <a:prstGeom prst="rect">
            <a:avLst/>
          </a:prstGeom>
          <a:noFill/>
          <a:ln/>
        </p:spPr>
        <p:txBody>
          <a:bodyPr wrap="square" lIns="0" tIns="0" rIns="0" bIns="0" rtlCol="0" anchor="ctr"/>
          <a:lstStyle/>
          <a:p>
            <a:pPr indent="0" marL="0">
              <a:buNone/>
            </a:pPr>
            <a:r>
              <a:rPr lang="en-US" sz="1600" b="1" dirty="0">
                <a:solidFill>
                  <a:srgbClr val="9D2235"/>
                </a:solidFill>
                <a:latin typeface="Calibri" pitchFamily="34" charset="0"/>
                <a:ea typeface="Calibri" pitchFamily="34" charset="-122"/>
                <a:cs typeface="Calibri" pitchFamily="34" charset="-120"/>
              </a:rPr>
              <a:t>Query</a:t>
            </a:r>
            <a:endParaRPr lang="en-US" sz="1600" dirty="0"/>
          </a:p>
        </p:txBody>
      </p:sp>
      <p:sp>
        <p:nvSpPr>
          <p:cNvPr id="25" name="Text 19"/>
          <p:cNvSpPr/>
          <p:nvPr/>
        </p:nvSpPr>
        <p:spPr>
          <a:xfrm>
            <a:off x="786384" y="4636008"/>
            <a:ext cx="3108960" cy="914400"/>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The recipe that fetches a table and cleans it.</a:t>
            </a:r>
            <a:endParaRPr lang="en-US" sz="1200" dirty="0"/>
          </a:p>
        </p:txBody>
      </p:sp>
      <p:sp>
        <p:nvSpPr>
          <p:cNvPr id="26" name="Shape 20"/>
          <p:cNvSpPr/>
          <p:nvPr/>
        </p:nvSpPr>
        <p:spPr>
          <a:xfrm>
            <a:off x="4325112" y="3767328"/>
            <a:ext cx="3547872" cy="1965960"/>
          </a:xfrm>
          <a:prstGeom prst="roundRect">
            <a:avLst>
              <a:gd name="adj" fmla="val 3256"/>
            </a:avLst>
          </a:prstGeom>
          <a:solidFill>
            <a:srgbClr val="FAF2F3"/>
          </a:solidFill>
          <a:ln/>
        </p:spPr>
      </p:sp>
      <p:sp>
        <p:nvSpPr>
          <p:cNvPr id="27" name="Shape 21"/>
          <p:cNvSpPr/>
          <p:nvPr/>
        </p:nvSpPr>
        <p:spPr>
          <a:xfrm>
            <a:off x="4562856" y="4005072"/>
            <a:ext cx="530352" cy="530352"/>
          </a:xfrm>
          <a:prstGeom prst="ellipse">
            <a:avLst/>
          </a:prstGeom>
          <a:solidFill>
            <a:srgbClr val="9D2235"/>
          </a:solidFill>
          <a:ln/>
        </p:spPr>
      </p:sp>
      <p:pic>
        <p:nvPicPr>
          <p:cNvPr id="28" name="Image 4" descr="preencoded.png">    </p:cNvPr>
          <p:cNvPicPr>
            <a:picLocks noChangeAspect="1"/>
          </p:cNvPicPr>
          <p:nvPr/>
        </p:nvPicPr>
        <p:blipFill>
          <a:blip r:embed="rId5"/>
          <a:stretch>
            <a:fillRect/>
          </a:stretch>
        </p:blipFill>
        <p:spPr>
          <a:xfrm>
            <a:off x="4700748" y="4142964"/>
            <a:ext cx="254569" cy="254569"/>
          </a:xfrm>
          <a:prstGeom prst="rect">
            <a:avLst/>
          </a:prstGeom>
        </p:spPr>
      </p:pic>
      <p:sp>
        <p:nvSpPr>
          <p:cNvPr id="29" name="Text 22"/>
          <p:cNvSpPr/>
          <p:nvPr/>
        </p:nvSpPr>
        <p:spPr>
          <a:xfrm>
            <a:off x="5221224" y="4041648"/>
            <a:ext cx="2560320" cy="384048"/>
          </a:xfrm>
          <a:prstGeom prst="rect">
            <a:avLst/>
          </a:prstGeom>
          <a:noFill/>
          <a:ln/>
        </p:spPr>
        <p:txBody>
          <a:bodyPr wrap="square" lIns="0" tIns="0" rIns="0" bIns="0" rtlCol="0" anchor="ctr"/>
          <a:lstStyle/>
          <a:p>
            <a:pPr indent="0" marL="0">
              <a:buNone/>
            </a:pPr>
            <a:r>
              <a:rPr lang="en-US" sz="1600" b="1" dirty="0">
                <a:solidFill>
                  <a:srgbClr val="9D2235"/>
                </a:solidFill>
                <a:latin typeface="Calibri" pitchFamily="34" charset="0"/>
                <a:ea typeface="Calibri" pitchFamily="34" charset="-122"/>
                <a:cs typeface="Calibri" pitchFamily="34" charset="-120"/>
              </a:rPr>
              <a:t>Applied step</a:t>
            </a:r>
            <a:endParaRPr lang="en-US" sz="1600" dirty="0"/>
          </a:p>
        </p:txBody>
      </p:sp>
      <p:sp>
        <p:nvSpPr>
          <p:cNvPr id="30" name="Text 23"/>
          <p:cNvSpPr/>
          <p:nvPr/>
        </p:nvSpPr>
        <p:spPr>
          <a:xfrm>
            <a:off x="4562856" y="4636008"/>
            <a:ext cx="3108960" cy="914400"/>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One instruction inside that recipe. They run in order.</a:t>
            </a:r>
            <a:endParaRPr lang="en-US" sz="1200" dirty="0"/>
          </a:p>
        </p:txBody>
      </p:sp>
      <p:sp>
        <p:nvSpPr>
          <p:cNvPr id="31" name="Shape 24"/>
          <p:cNvSpPr/>
          <p:nvPr/>
        </p:nvSpPr>
        <p:spPr>
          <a:xfrm>
            <a:off x="8101584" y="3767328"/>
            <a:ext cx="3547872" cy="1965960"/>
          </a:xfrm>
          <a:prstGeom prst="roundRect">
            <a:avLst>
              <a:gd name="adj" fmla="val 3256"/>
            </a:avLst>
          </a:prstGeom>
          <a:solidFill>
            <a:srgbClr val="FAF2F3"/>
          </a:solidFill>
          <a:ln/>
        </p:spPr>
      </p:sp>
      <p:sp>
        <p:nvSpPr>
          <p:cNvPr id="32" name="Shape 25"/>
          <p:cNvSpPr/>
          <p:nvPr/>
        </p:nvSpPr>
        <p:spPr>
          <a:xfrm>
            <a:off x="8339328" y="4005072"/>
            <a:ext cx="530352" cy="530352"/>
          </a:xfrm>
          <a:prstGeom prst="ellipse">
            <a:avLst/>
          </a:prstGeom>
          <a:solidFill>
            <a:srgbClr val="9D2235"/>
          </a:solidFill>
          <a:ln/>
        </p:spPr>
      </p:sp>
      <p:pic>
        <p:nvPicPr>
          <p:cNvPr id="33" name="Image 5" descr="preencoded.png">    </p:cNvPr>
          <p:cNvPicPr>
            <a:picLocks noChangeAspect="1"/>
          </p:cNvPicPr>
          <p:nvPr/>
        </p:nvPicPr>
        <p:blipFill>
          <a:blip r:embed="rId6"/>
          <a:stretch>
            <a:fillRect/>
          </a:stretch>
        </p:blipFill>
        <p:spPr>
          <a:xfrm>
            <a:off x="8477220" y="4142964"/>
            <a:ext cx="254569" cy="254569"/>
          </a:xfrm>
          <a:prstGeom prst="rect">
            <a:avLst/>
          </a:prstGeom>
        </p:spPr>
      </p:pic>
      <p:sp>
        <p:nvSpPr>
          <p:cNvPr id="34" name="Text 26"/>
          <p:cNvSpPr/>
          <p:nvPr/>
        </p:nvSpPr>
        <p:spPr>
          <a:xfrm>
            <a:off x="8997696" y="4041648"/>
            <a:ext cx="2560320" cy="384048"/>
          </a:xfrm>
          <a:prstGeom prst="rect">
            <a:avLst/>
          </a:prstGeom>
          <a:noFill/>
          <a:ln/>
        </p:spPr>
        <p:txBody>
          <a:bodyPr wrap="square" lIns="0" tIns="0" rIns="0" bIns="0" rtlCol="0" anchor="ctr"/>
          <a:lstStyle/>
          <a:p>
            <a:pPr indent="0" marL="0">
              <a:buNone/>
            </a:pPr>
            <a:r>
              <a:rPr lang="en-US" sz="1600" b="1" dirty="0">
                <a:solidFill>
                  <a:srgbClr val="9D2235"/>
                </a:solidFill>
                <a:latin typeface="Calibri" pitchFamily="34" charset="0"/>
                <a:ea typeface="Calibri" pitchFamily="34" charset="-122"/>
                <a:cs typeface="Calibri" pitchFamily="34" charset="-120"/>
              </a:rPr>
              <a:t>Data type</a:t>
            </a:r>
            <a:endParaRPr lang="en-US" sz="1600" dirty="0"/>
          </a:p>
        </p:txBody>
      </p:sp>
      <p:sp>
        <p:nvSpPr>
          <p:cNvPr id="35" name="Text 27"/>
          <p:cNvSpPr/>
          <p:nvPr/>
        </p:nvSpPr>
        <p:spPr>
          <a:xfrm>
            <a:off x="8339328" y="4636008"/>
            <a:ext cx="3108960" cy="914400"/>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What kind of value a column holds — text, number, date.</a:t>
            </a:r>
            <a:endParaRPr lang="en-US" sz="1200" dirty="0"/>
          </a:p>
        </p:txBody>
      </p:sp>
      <p:sp>
        <p:nvSpPr>
          <p:cNvPr id="36" name="Text 28"/>
          <p:cNvSpPr/>
          <p:nvPr/>
        </p:nvSpPr>
        <p:spPr>
          <a:xfrm>
            <a:off x="548640" y="6035040"/>
            <a:ext cx="11091672" cy="411480"/>
          </a:xfrm>
          <a:prstGeom prst="rect">
            <a:avLst/>
          </a:prstGeom>
          <a:noFill/>
          <a:ln/>
        </p:spPr>
        <p:txBody>
          <a:bodyPr wrap="square" lIns="0" tIns="0" rIns="0" bIns="0" rtlCol="0" anchor="ctr"/>
          <a:lstStyle/>
          <a:p>
            <a:pPr indent="0" marL="0">
              <a:buNone/>
            </a:pPr>
            <a:r>
              <a:rPr lang="en-US" sz="1300" i="1" dirty="0">
                <a:solidFill>
                  <a:srgbClr val="6E6E6E"/>
                </a:solidFill>
                <a:latin typeface="Calibri" pitchFamily="34" charset="0"/>
                <a:ea typeface="Calibri" pitchFamily="34" charset="-122"/>
                <a:cs typeface="Calibri" pitchFamily="34" charset="-120"/>
              </a:rPr>
              <a:t>A query is a recipe, not a scratchpad. Everything you do today adds a line to that recipe — and it will run again, on data you have not seen yet.</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KEY TERMS</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Data types — the small icon that decides everything</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5</a:t>
            </a:r>
            <a:endParaRPr lang="en-US" sz="850" dirty="0"/>
          </a:p>
        </p:txBody>
      </p:sp>
      <p:sp>
        <p:nvSpPr>
          <p:cNvPr id="6" name="Text 4"/>
          <p:cNvSpPr/>
          <p:nvPr/>
        </p:nvSpPr>
        <p:spPr>
          <a:xfrm>
            <a:off x="548640" y="1417320"/>
            <a:ext cx="11091672" cy="457200"/>
          </a:xfrm>
          <a:prstGeom prst="rect">
            <a:avLst/>
          </a:prstGeom>
          <a:noFill/>
          <a:ln/>
        </p:spPr>
        <p:txBody>
          <a:bodyPr wrap="square" lIns="0" tIns="0" rIns="0" bIns="0" rtlCol="0" anchor="ctr"/>
          <a:lstStyle/>
          <a:p>
            <a:pPr indent="0" marL="0">
              <a:buNone/>
            </a:pPr>
            <a:r>
              <a:rPr lang="en-US" sz="1450" dirty="0">
                <a:solidFill>
                  <a:srgbClr val="262626"/>
                </a:solidFill>
                <a:latin typeface="Calibri" pitchFamily="34" charset="0"/>
                <a:ea typeface="Calibri" pitchFamily="34" charset="-122"/>
                <a:cs typeface="Calibri" pitchFamily="34" charset="-120"/>
              </a:rPr>
              <a:t>Every column header carries a tiny icon on its left. That icon is the column's data type, and it controls what the column can do.</a:t>
            </a:r>
            <a:endParaRPr lang="en-US" sz="1450" dirty="0"/>
          </a:p>
        </p:txBody>
      </p:sp>
      <p:sp>
        <p:nvSpPr>
          <p:cNvPr id="7" name="Shape 5"/>
          <p:cNvSpPr/>
          <p:nvPr/>
        </p:nvSpPr>
        <p:spPr>
          <a:xfrm>
            <a:off x="548640" y="1755648"/>
            <a:ext cx="11091672" cy="777240"/>
          </a:xfrm>
          <a:prstGeom prst="roundRect">
            <a:avLst>
              <a:gd name="adj" fmla="val 8235"/>
            </a:avLst>
          </a:prstGeom>
          <a:solidFill>
            <a:srgbClr val="FAF2F3"/>
          </a:solidFill>
          <a:ln/>
        </p:spPr>
      </p:sp>
      <p:sp>
        <p:nvSpPr>
          <p:cNvPr id="8" name="Shape 6"/>
          <p:cNvSpPr/>
          <p:nvPr/>
        </p:nvSpPr>
        <p:spPr>
          <a:xfrm>
            <a:off x="731520" y="1883664"/>
            <a:ext cx="868680" cy="521208"/>
          </a:xfrm>
          <a:prstGeom prst="roundRect">
            <a:avLst>
              <a:gd name="adj" fmla="val 10526"/>
            </a:avLst>
          </a:prstGeom>
          <a:solidFill>
            <a:srgbClr val="9D2235"/>
          </a:solidFill>
          <a:ln/>
        </p:spPr>
      </p:sp>
      <p:sp>
        <p:nvSpPr>
          <p:cNvPr id="9" name="Text 7"/>
          <p:cNvSpPr/>
          <p:nvPr/>
        </p:nvSpPr>
        <p:spPr>
          <a:xfrm>
            <a:off x="731520" y="1883664"/>
            <a:ext cx="868680" cy="52120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ABC</a:t>
            </a:r>
            <a:endParaRPr lang="en-US" sz="1200" dirty="0"/>
          </a:p>
        </p:txBody>
      </p:sp>
      <p:sp>
        <p:nvSpPr>
          <p:cNvPr id="10" name="Text 8"/>
          <p:cNvSpPr/>
          <p:nvPr/>
        </p:nvSpPr>
        <p:spPr>
          <a:xfrm>
            <a:off x="1783080" y="1865376"/>
            <a:ext cx="2011680" cy="54864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Text</a:t>
            </a:r>
            <a:endParaRPr lang="en-US" sz="1400" dirty="0"/>
          </a:p>
        </p:txBody>
      </p:sp>
      <p:sp>
        <p:nvSpPr>
          <p:cNvPr id="11" name="Text 9"/>
          <p:cNvSpPr/>
          <p:nvPr/>
        </p:nvSpPr>
        <p:spPr>
          <a:xfrm>
            <a:off x="3840480" y="1865376"/>
            <a:ext cx="2926080" cy="548640"/>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Names, codes, categories</a:t>
            </a:r>
            <a:endParaRPr lang="en-US" sz="1250" dirty="0"/>
          </a:p>
        </p:txBody>
      </p:sp>
      <p:sp>
        <p:nvSpPr>
          <p:cNvPr id="12" name="Text 10"/>
          <p:cNvSpPr/>
          <p:nvPr/>
        </p:nvSpPr>
        <p:spPr>
          <a:xfrm>
            <a:off x="6858000" y="1865376"/>
            <a:ext cx="4572000" cy="548640"/>
          </a:xfrm>
          <a:prstGeom prst="rect">
            <a:avLst/>
          </a:prstGeom>
          <a:noFill/>
          <a:ln/>
        </p:spPr>
        <p:txBody>
          <a:bodyPr wrap="square" lIns="0" tIns="0" rIns="0" bIns="0" rtlCol="0" anchor="ctr"/>
          <a:lstStyle/>
          <a:p>
            <a:pPr indent="0" marL="0">
              <a:buNone/>
            </a:pPr>
            <a:r>
              <a:rPr lang="en-US" sz="1200" dirty="0">
                <a:solidFill>
                  <a:srgbClr val="6E6E6E"/>
                </a:solidFill>
                <a:latin typeface="Calibri" pitchFamily="34" charset="0"/>
                <a:ea typeface="Calibri" pitchFamily="34" charset="-122"/>
                <a:cs typeface="Calibri" pitchFamily="34" charset="-120"/>
              </a:rPr>
              <a:t>Cannot be summed or averaged</a:t>
            </a:r>
            <a:endParaRPr lang="en-US" sz="1200" dirty="0"/>
          </a:p>
        </p:txBody>
      </p:sp>
      <p:sp>
        <p:nvSpPr>
          <p:cNvPr id="13" name="Shape 11"/>
          <p:cNvSpPr/>
          <p:nvPr/>
        </p:nvSpPr>
        <p:spPr>
          <a:xfrm>
            <a:off x="548640" y="2596896"/>
            <a:ext cx="11091672" cy="777240"/>
          </a:xfrm>
          <a:prstGeom prst="roundRect">
            <a:avLst>
              <a:gd name="adj" fmla="val 8235"/>
            </a:avLst>
          </a:prstGeom>
          <a:solidFill>
            <a:srgbClr val="FAF2F3"/>
          </a:solidFill>
          <a:ln/>
        </p:spPr>
      </p:sp>
      <p:sp>
        <p:nvSpPr>
          <p:cNvPr id="14" name="Shape 12"/>
          <p:cNvSpPr/>
          <p:nvPr/>
        </p:nvSpPr>
        <p:spPr>
          <a:xfrm>
            <a:off x="731520" y="2724912"/>
            <a:ext cx="868680" cy="521208"/>
          </a:xfrm>
          <a:prstGeom prst="roundRect">
            <a:avLst>
              <a:gd name="adj" fmla="val 10526"/>
            </a:avLst>
          </a:prstGeom>
          <a:solidFill>
            <a:srgbClr val="9D2235"/>
          </a:solidFill>
          <a:ln/>
        </p:spPr>
      </p:sp>
      <p:sp>
        <p:nvSpPr>
          <p:cNvPr id="15" name="Text 13"/>
          <p:cNvSpPr/>
          <p:nvPr/>
        </p:nvSpPr>
        <p:spPr>
          <a:xfrm>
            <a:off x="731520" y="2724912"/>
            <a:ext cx="868680" cy="52120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123</a:t>
            </a:r>
            <a:endParaRPr lang="en-US" sz="1200" dirty="0"/>
          </a:p>
        </p:txBody>
      </p:sp>
      <p:sp>
        <p:nvSpPr>
          <p:cNvPr id="16" name="Text 14"/>
          <p:cNvSpPr/>
          <p:nvPr/>
        </p:nvSpPr>
        <p:spPr>
          <a:xfrm>
            <a:off x="1783080" y="2706624"/>
            <a:ext cx="2011680" cy="54864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Whole number</a:t>
            </a:r>
            <a:endParaRPr lang="en-US" sz="1400" dirty="0"/>
          </a:p>
        </p:txBody>
      </p:sp>
      <p:sp>
        <p:nvSpPr>
          <p:cNvPr id="17" name="Text 15"/>
          <p:cNvSpPr/>
          <p:nvPr/>
        </p:nvSpPr>
        <p:spPr>
          <a:xfrm>
            <a:off x="3840480" y="2706624"/>
            <a:ext cx="2926080" cy="548640"/>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Counts, quantities</a:t>
            </a:r>
            <a:endParaRPr lang="en-US" sz="1250" dirty="0"/>
          </a:p>
        </p:txBody>
      </p:sp>
      <p:sp>
        <p:nvSpPr>
          <p:cNvPr id="18" name="Text 16"/>
          <p:cNvSpPr/>
          <p:nvPr/>
        </p:nvSpPr>
        <p:spPr>
          <a:xfrm>
            <a:off x="6858000" y="2706624"/>
            <a:ext cx="4572000" cy="548640"/>
          </a:xfrm>
          <a:prstGeom prst="rect">
            <a:avLst/>
          </a:prstGeom>
          <a:noFill/>
          <a:ln/>
        </p:spPr>
        <p:txBody>
          <a:bodyPr wrap="square" lIns="0" tIns="0" rIns="0" bIns="0" rtlCol="0" anchor="ctr"/>
          <a:lstStyle/>
          <a:p>
            <a:pPr indent="0" marL="0">
              <a:buNone/>
            </a:pPr>
            <a:r>
              <a:rPr lang="en-US" sz="1200" dirty="0">
                <a:solidFill>
                  <a:srgbClr val="6E6E6E"/>
                </a:solidFill>
                <a:latin typeface="Calibri" pitchFamily="34" charset="0"/>
                <a:ea typeface="Calibri" pitchFamily="34" charset="-122"/>
                <a:cs typeface="Calibri" pitchFamily="34" charset="-120"/>
              </a:rPr>
              <a:t>Sums and averages</a:t>
            </a:r>
            <a:endParaRPr lang="en-US" sz="1200" dirty="0"/>
          </a:p>
        </p:txBody>
      </p:sp>
      <p:sp>
        <p:nvSpPr>
          <p:cNvPr id="19" name="Shape 17"/>
          <p:cNvSpPr/>
          <p:nvPr/>
        </p:nvSpPr>
        <p:spPr>
          <a:xfrm>
            <a:off x="548640" y="3438144"/>
            <a:ext cx="11091672" cy="777240"/>
          </a:xfrm>
          <a:prstGeom prst="roundRect">
            <a:avLst>
              <a:gd name="adj" fmla="val 8235"/>
            </a:avLst>
          </a:prstGeom>
          <a:solidFill>
            <a:srgbClr val="FAF2F3"/>
          </a:solidFill>
          <a:ln/>
        </p:spPr>
      </p:sp>
      <p:sp>
        <p:nvSpPr>
          <p:cNvPr id="20" name="Shape 18"/>
          <p:cNvSpPr/>
          <p:nvPr/>
        </p:nvSpPr>
        <p:spPr>
          <a:xfrm>
            <a:off x="731520" y="3566160"/>
            <a:ext cx="868680" cy="521208"/>
          </a:xfrm>
          <a:prstGeom prst="roundRect">
            <a:avLst>
              <a:gd name="adj" fmla="val 10526"/>
            </a:avLst>
          </a:prstGeom>
          <a:solidFill>
            <a:srgbClr val="9D2235"/>
          </a:solidFill>
          <a:ln/>
        </p:spPr>
      </p:sp>
      <p:sp>
        <p:nvSpPr>
          <p:cNvPr id="21" name="Text 19"/>
          <p:cNvSpPr/>
          <p:nvPr/>
        </p:nvSpPr>
        <p:spPr>
          <a:xfrm>
            <a:off x="731520" y="3566160"/>
            <a:ext cx="868680" cy="52120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1.2</a:t>
            </a:r>
            <a:endParaRPr lang="en-US" sz="1200" dirty="0"/>
          </a:p>
        </p:txBody>
      </p:sp>
      <p:sp>
        <p:nvSpPr>
          <p:cNvPr id="22" name="Text 20"/>
          <p:cNvSpPr/>
          <p:nvPr/>
        </p:nvSpPr>
        <p:spPr>
          <a:xfrm>
            <a:off x="1783080" y="3547872"/>
            <a:ext cx="2011680" cy="54864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Decimal</a:t>
            </a:r>
            <a:endParaRPr lang="en-US" sz="1400" dirty="0"/>
          </a:p>
        </p:txBody>
      </p:sp>
      <p:sp>
        <p:nvSpPr>
          <p:cNvPr id="23" name="Text 21"/>
          <p:cNvSpPr/>
          <p:nvPr/>
        </p:nvSpPr>
        <p:spPr>
          <a:xfrm>
            <a:off x="3840480" y="3547872"/>
            <a:ext cx="2926080" cy="548640"/>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Money, rates</a:t>
            </a:r>
            <a:endParaRPr lang="en-US" sz="1250" dirty="0"/>
          </a:p>
        </p:txBody>
      </p:sp>
      <p:sp>
        <p:nvSpPr>
          <p:cNvPr id="24" name="Text 22"/>
          <p:cNvSpPr/>
          <p:nvPr/>
        </p:nvSpPr>
        <p:spPr>
          <a:xfrm>
            <a:off x="6858000" y="3547872"/>
            <a:ext cx="4572000" cy="548640"/>
          </a:xfrm>
          <a:prstGeom prst="rect">
            <a:avLst/>
          </a:prstGeom>
          <a:noFill/>
          <a:ln/>
        </p:spPr>
        <p:txBody>
          <a:bodyPr wrap="square" lIns="0" tIns="0" rIns="0" bIns="0" rtlCol="0" anchor="ctr"/>
          <a:lstStyle/>
          <a:p>
            <a:pPr indent="0" marL="0">
              <a:buNone/>
            </a:pPr>
            <a:r>
              <a:rPr lang="en-US" sz="1200" dirty="0">
                <a:solidFill>
                  <a:srgbClr val="6E6E6E"/>
                </a:solidFill>
                <a:latin typeface="Calibri" pitchFamily="34" charset="0"/>
                <a:ea typeface="Calibri" pitchFamily="34" charset="-122"/>
                <a:cs typeface="Calibri" pitchFamily="34" charset="-120"/>
              </a:rPr>
              <a:t>Sums; watch rounding</a:t>
            </a:r>
            <a:endParaRPr lang="en-US" sz="1200" dirty="0"/>
          </a:p>
        </p:txBody>
      </p:sp>
      <p:sp>
        <p:nvSpPr>
          <p:cNvPr id="25" name="Shape 23"/>
          <p:cNvSpPr/>
          <p:nvPr/>
        </p:nvSpPr>
        <p:spPr>
          <a:xfrm>
            <a:off x="548640" y="4279392"/>
            <a:ext cx="11091672" cy="777240"/>
          </a:xfrm>
          <a:prstGeom prst="roundRect">
            <a:avLst>
              <a:gd name="adj" fmla="val 8235"/>
            </a:avLst>
          </a:prstGeom>
          <a:solidFill>
            <a:srgbClr val="FAF2F3"/>
          </a:solidFill>
          <a:ln/>
        </p:spPr>
      </p:sp>
      <p:sp>
        <p:nvSpPr>
          <p:cNvPr id="26" name="Shape 24"/>
          <p:cNvSpPr/>
          <p:nvPr/>
        </p:nvSpPr>
        <p:spPr>
          <a:xfrm>
            <a:off x="731520" y="4407408"/>
            <a:ext cx="868680" cy="521208"/>
          </a:xfrm>
          <a:prstGeom prst="roundRect">
            <a:avLst>
              <a:gd name="adj" fmla="val 10526"/>
            </a:avLst>
          </a:prstGeom>
          <a:solidFill>
            <a:srgbClr val="9D2235"/>
          </a:solidFill>
          <a:ln/>
        </p:spPr>
      </p:sp>
      <p:sp>
        <p:nvSpPr>
          <p:cNvPr id="27" name="Text 25"/>
          <p:cNvSpPr/>
          <p:nvPr/>
        </p:nvSpPr>
        <p:spPr>
          <a:xfrm>
            <a:off x="731520" y="4407408"/>
            <a:ext cx="868680" cy="52120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a:t>
            </a:r>
            <a:endParaRPr lang="en-US" sz="1200" dirty="0"/>
          </a:p>
        </p:txBody>
      </p:sp>
      <p:sp>
        <p:nvSpPr>
          <p:cNvPr id="28" name="Text 26"/>
          <p:cNvSpPr/>
          <p:nvPr/>
        </p:nvSpPr>
        <p:spPr>
          <a:xfrm>
            <a:off x="1783080" y="4389120"/>
            <a:ext cx="2011680" cy="54864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Date</a:t>
            </a:r>
            <a:endParaRPr lang="en-US" sz="1400" dirty="0"/>
          </a:p>
        </p:txBody>
      </p:sp>
      <p:sp>
        <p:nvSpPr>
          <p:cNvPr id="29" name="Text 27"/>
          <p:cNvSpPr/>
          <p:nvPr/>
        </p:nvSpPr>
        <p:spPr>
          <a:xfrm>
            <a:off x="3840480" y="4389120"/>
            <a:ext cx="2926080" cy="548640"/>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Real calendar dates</a:t>
            </a:r>
            <a:endParaRPr lang="en-US" sz="1250" dirty="0"/>
          </a:p>
        </p:txBody>
      </p:sp>
      <p:sp>
        <p:nvSpPr>
          <p:cNvPr id="30" name="Text 28"/>
          <p:cNvSpPr/>
          <p:nvPr/>
        </p:nvSpPr>
        <p:spPr>
          <a:xfrm>
            <a:off x="6858000" y="4389120"/>
            <a:ext cx="4572000" cy="548640"/>
          </a:xfrm>
          <a:prstGeom prst="rect">
            <a:avLst/>
          </a:prstGeom>
          <a:noFill/>
          <a:ln/>
        </p:spPr>
        <p:txBody>
          <a:bodyPr wrap="square" lIns="0" tIns="0" rIns="0" bIns="0" rtlCol="0" anchor="ctr"/>
          <a:lstStyle/>
          <a:p>
            <a:pPr indent="0" marL="0">
              <a:buNone/>
            </a:pPr>
            <a:r>
              <a:rPr lang="en-US" sz="1200" dirty="0">
                <a:solidFill>
                  <a:srgbClr val="6E6E6E"/>
                </a:solidFill>
                <a:latin typeface="Calibri" pitchFamily="34" charset="0"/>
                <a:ea typeface="Calibri" pitchFamily="34" charset="-122"/>
                <a:cs typeface="Calibri" pitchFamily="34" charset="-120"/>
              </a:rPr>
              <a:t>Time intelligence, sorting, grouping by month</a:t>
            </a:r>
            <a:endParaRPr lang="en-US" sz="1200" dirty="0"/>
          </a:p>
        </p:txBody>
      </p:sp>
      <p:sp>
        <p:nvSpPr>
          <p:cNvPr id="31" name="Shape 29"/>
          <p:cNvSpPr/>
          <p:nvPr/>
        </p:nvSpPr>
        <p:spPr>
          <a:xfrm>
            <a:off x="548640" y="5120640"/>
            <a:ext cx="11091672" cy="777240"/>
          </a:xfrm>
          <a:prstGeom prst="roundRect">
            <a:avLst>
              <a:gd name="adj" fmla="val 8235"/>
            </a:avLst>
          </a:prstGeom>
          <a:solidFill>
            <a:srgbClr val="FAF2F3"/>
          </a:solidFill>
          <a:ln/>
        </p:spPr>
      </p:sp>
      <p:sp>
        <p:nvSpPr>
          <p:cNvPr id="32" name="Shape 30"/>
          <p:cNvSpPr/>
          <p:nvPr/>
        </p:nvSpPr>
        <p:spPr>
          <a:xfrm>
            <a:off x="731520" y="5248656"/>
            <a:ext cx="868680" cy="521208"/>
          </a:xfrm>
          <a:prstGeom prst="roundRect">
            <a:avLst>
              <a:gd name="adj" fmla="val 10526"/>
            </a:avLst>
          </a:prstGeom>
          <a:solidFill>
            <a:srgbClr val="C99700"/>
          </a:solidFill>
          <a:ln/>
        </p:spPr>
      </p:sp>
      <p:sp>
        <p:nvSpPr>
          <p:cNvPr id="33" name="Text 31"/>
          <p:cNvSpPr/>
          <p:nvPr/>
        </p:nvSpPr>
        <p:spPr>
          <a:xfrm>
            <a:off x="731520" y="5248656"/>
            <a:ext cx="868680" cy="521208"/>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ABC</a:t>
            </a:r>
            <a:endParaRPr lang="en-US" sz="900" dirty="0"/>
          </a:p>
          <a:p>
            <a:pPr algn="ctr" indent="0" marL="0">
              <a:buNone/>
            </a:pPr>
            <a:r>
              <a:rPr lang="en-US" sz="900" b="1" dirty="0">
                <a:solidFill>
                  <a:srgbClr val="FFFFFF"/>
                </a:solidFill>
                <a:latin typeface="Courier New" pitchFamily="34" charset="0"/>
                <a:ea typeface="Courier New" pitchFamily="34" charset="-122"/>
                <a:cs typeface="Courier New" pitchFamily="34" charset="-120"/>
              </a:rPr>
              <a:t>123</a:t>
            </a:r>
            <a:endParaRPr lang="en-US" sz="900" dirty="0"/>
          </a:p>
        </p:txBody>
      </p:sp>
      <p:sp>
        <p:nvSpPr>
          <p:cNvPr id="34" name="Text 32"/>
          <p:cNvSpPr/>
          <p:nvPr/>
        </p:nvSpPr>
        <p:spPr>
          <a:xfrm>
            <a:off x="1783080" y="5230368"/>
            <a:ext cx="2011680" cy="548640"/>
          </a:xfrm>
          <a:prstGeom prst="rect">
            <a:avLst/>
          </a:prstGeom>
          <a:noFill/>
          <a:ln/>
        </p:spPr>
        <p:txBody>
          <a:bodyPr wrap="square" lIns="0" tIns="0" rIns="0" bIns="0" rtlCol="0" anchor="ctr"/>
          <a:lstStyle/>
          <a:p>
            <a:pPr indent="0" marL="0">
              <a:buNone/>
            </a:pPr>
            <a:r>
              <a:rPr lang="en-US" sz="1400" b="1" dirty="0">
                <a:solidFill>
                  <a:srgbClr val="C99700"/>
                </a:solidFill>
                <a:latin typeface="Calibri" pitchFamily="34" charset="0"/>
                <a:ea typeface="Calibri" pitchFamily="34" charset="-122"/>
                <a:cs typeface="Calibri" pitchFamily="34" charset="-120"/>
              </a:rPr>
              <a:t>Any</a:t>
            </a:r>
            <a:endParaRPr lang="en-US" sz="1400" dirty="0"/>
          </a:p>
        </p:txBody>
      </p:sp>
      <p:sp>
        <p:nvSpPr>
          <p:cNvPr id="35" name="Text 33"/>
          <p:cNvSpPr/>
          <p:nvPr/>
        </p:nvSpPr>
        <p:spPr>
          <a:xfrm>
            <a:off x="3840480" y="5230368"/>
            <a:ext cx="2926080" cy="548640"/>
          </a:xfrm>
          <a:prstGeom prst="rect">
            <a:avLst/>
          </a:prstGeom>
          <a:noFill/>
          <a:ln/>
        </p:spPr>
        <p:txBody>
          <a:bodyPr wrap="square" lIns="0" tIns="0" rIns="0" bIns="0" rtlCol="0" anchor="ctr"/>
          <a:lstStyle/>
          <a:p>
            <a:pPr indent="0" marL="0">
              <a:buNone/>
            </a:pPr>
            <a:r>
              <a:rPr lang="en-US" sz="1250" dirty="0">
                <a:solidFill>
                  <a:srgbClr val="262626"/>
                </a:solidFill>
                <a:latin typeface="Calibri" pitchFamily="34" charset="0"/>
                <a:ea typeface="Calibri" pitchFamily="34" charset="-122"/>
                <a:cs typeface="Calibri" pitchFamily="34" charset="-120"/>
              </a:rPr>
              <a:t>Type not yet set</a:t>
            </a:r>
            <a:endParaRPr lang="en-US" sz="1250" dirty="0"/>
          </a:p>
        </p:txBody>
      </p:sp>
      <p:sp>
        <p:nvSpPr>
          <p:cNvPr id="36" name="Text 34"/>
          <p:cNvSpPr/>
          <p:nvPr/>
        </p:nvSpPr>
        <p:spPr>
          <a:xfrm>
            <a:off x="6858000" y="5230368"/>
            <a:ext cx="4572000" cy="548640"/>
          </a:xfrm>
          <a:prstGeom prst="rect">
            <a:avLst/>
          </a:prstGeom>
          <a:noFill/>
          <a:ln/>
        </p:spPr>
        <p:txBody>
          <a:bodyPr wrap="square" lIns="0" tIns="0" rIns="0" bIns="0" rtlCol="0" anchor="ctr"/>
          <a:lstStyle/>
          <a:p>
            <a:pPr indent="0" marL="0">
              <a:buNone/>
            </a:pPr>
            <a:r>
              <a:rPr lang="en-US" sz="1200" dirty="0">
                <a:solidFill>
                  <a:srgbClr val="6E6E6E"/>
                </a:solidFill>
                <a:latin typeface="Calibri" pitchFamily="34" charset="0"/>
                <a:ea typeface="Calibri" pitchFamily="34" charset="-122"/>
                <a:cs typeface="Calibri" pitchFamily="34" charset="-120"/>
              </a:rPr>
              <a:t>Power BI will guess — and may guess wrong</a:t>
            </a:r>
            <a:endParaRPr lang="en-US" sz="1200" dirty="0"/>
          </a:p>
        </p:txBody>
      </p:sp>
      <p:sp>
        <p:nvSpPr>
          <p:cNvPr id="37" name="Text 35"/>
          <p:cNvSpPr/>
          <p:nvPr/>
        </p:nvSpPr>
        <p:spPr>
          <a:xfrm>
            <a:off x="548640" y="6053328"/>
            <a:ext cx="11091672" cy="365760"/>
          </a:xfrm>
          <a:prstGeom prst="rect">
            <a:avLst/>
          </a:prstGeom>
          <a:noFill/>
          <a:ln/>
        </p:spPr>
        <p:txBody>
          <a:bodyPr wrap="square" lIns="0" tIns="0" rIns="0" bIns="0" rtlCol="0" anchor="ctr"/>
          <a:lstStyle/>
          <a:p>
            <a:pPr indent="0" marL="0">
              <a:buNone/>
            </a:pPr>
            <a:r>
              <a:rPr lang="en-US" sz="1250" b="1" i="1" dirty="0">
                <a:solidFill>
                  <a:srgbClr val="9D2235"/>
                </a:solidFill>
                <a:latin typeface="Calibri" pitchFamily="34" charset="0"/>
                <a:ea typeface="Calibri" pitchFamily="34" charset="-122"/>
                <a:cs typeface="Calibri" pitchFamily="34" charset="-120"/>
              </a:rPr>
              <a:t>A date stored as text will not sort correctly. A number stored as text will not sum. This is not a formatting preference — it decides what the column can do at all.</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KEY TERMS</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Power Query has four regions — learn them once</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6</a:t>
            </a:r>
            <a:endParaRPr lang="en-US" sz="850" dirty="0"/>
          </a:p>
        </p:txBody>
      </p:sp>
      <p:sp>
        <p:nvSpPr>
          <p:cNvPr id="6" name="Shape 4"/>
          <p:cNvSpPr/>
          <p:nvPr/>
        </p:nvSpPr>
        <p:spPr>
          <a:xfrm>
            <a:off x="548640" y="1572768"/>
            <a:ext cx="11091672" cy="1005840"/>
          </a:xfrm>
          <a:prstGeom prst="roundRect">
            <a:avLst>
              <a:gd name="adj" fmla="val 6364"/>
            </a:avLst>
          </a:prstGeom>
          <a:solidFill>
            <a:srgbClr val="FAF2F3"/>
          </a:solidFill>
          <a:ln/>
        </p:spPr>
      </p:sp>
      <p:sp>
        <p:nvSpPr>
          <p:cNvPr id="7" name="Shape 5"/>
          <p:cNvSpPr/>
          <p:nvPr/>
        </p:nvSpPr>
        <p:spPr>
          <a:xfrm>
            <a:off x="749808" y="1801368"/>
            <a:ext cx="548640" cy="548640"/>
          </a:xfrm>
          <a:prstGeom prst="ellipse">
            <a:avLst/>
          </a:prstGeom>
          <a:solidFill>
            <a:srgbClr val="9D2235"/>
          </a:solidFill>
          <a:ln/>
        </p:spPr>
      </p:sp>
      <p:sp>
        <p:nvSpPr>
          <p:cNvPr id="8" name="Text 6"/>
          <p:cNvSpPr/>
          <p:nvPr/>
        </p:nvSpPr>
        <p:spPr>
          <a:xfrm>
            <a:off x="749808" y="180136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p:nvPr/>
        </p:nvSpPr>
        <p:spPr>
          <a:xfrm>
            <a:off x="1508760" y="1709928"/>
            <a:ext cx="2377440" cy="365760"/>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Queries list</a:t>
            </a:r>
            <a:endParaRPr lang="en-US" sz="1500" dirty="0"/>
          </a:p>
        </p:txBody>
      </p:sp>
      <p:sp>
        <p:nvSpPr>
          <p:cNvPr id="10" name="Text 8"/>
          <p:cNvSpPr/>
          <p:nvPr/>
        </p:nvSpPr>
        <p:spPr>
          <a:xfrm>
            <a:off x="1508760" y="2103120"/>
            <a:ext cx="2377440" cy="320040"/>
          </a:xfrm>
          <a:prstGeom prst="rect">
            <a:avLst/>
          </a:prstGeom>
          <a:noFill/>
          <a:ln/>
        </p:spPr>
        <p:txBody>
          <a:bodyPr wrap="square" lIns="0" tIns="0" rIns="0" bIns="0" rtlCol="0" anchor="ctr"/>
          <a:lstStyle/>
          <a:p>
            <a:pPr indent="0" marL="0">
              <a:buNone/>
            </a:pPr>
            <a:r>
              <a:rPr lang="en-US" sz="1150" b="1" dirty="0">
                <a:solidFill>
                  <a:srgbClr val="C99700"/>
                </a:solidFill>
                <a:latin typeface="Calibri" pitchFamily="34" charset="0"/>
                <a:ea typeface="Calibri" pitchFamily="34" charset="-122"/>
                <a:cs typeface="Calibri" pitchFamily="34" charset="-120"/>
              </a:rPr>
              <a:t>Left</a:t>
            </a:r>
            <a:endParaRPr lang="en-US" sz="1150" dirty="0"/>
          </a:p>
        </p:txBody>
      </p:sp>
      <p:sp>
        <p:nvSpPr>
          <p:cNvPr id="11" name="Text 9"/>
          <p:cNvSpPr/>
          <p:nvPr/>
        </p:nvSpPr>
        <p:spPr>
          <a:xfrm>
            <a:off x="4114800" y="1709928"/>
            <a:ext cx="7223760" cy="731520"/>
          </a:xfrm>
          <a:prstGeom prst="rect">
            <a:avLst/>
          </a:prstGeom>
          <a:noFill/>
          <a:ln/>
        </p:spPr>
        <p:txBody>
          <a:bodyPr wrap="square" lIns="0" tIns="0" rIns="0" bIns="0" rtlCol="0" anchor="ctr"/>
          <a:lstStyle/>
          <a:p>
            <a:pPr indent="0" marL="0">
              <a:lnSpc>
                <a:spcPts val="1600"/>
              </a:lnSpc>
              <a:buNone/>
            </a:pPr>
            <a:r>
              <a:rPr lang="en-US" sz="1250" dirty="0">
                <a:solidFill>
                  <a:srgbClr val="262626"/>
                </a:solidFill>
                <a:latin typeface="Calibri" pitchFamily="34" charset="0"/>
                <a:ea typeface="Calibri" pitchFamily="34" charset="-122"/>
                <a:cs typeface="Calibri" pitchFamily="34" charset="-120"/>
              </a:rPr>
              <a:t>Your seven tables. Click one to work on it.</a:t>
            </a:r>
            <a:endParaRPr lang="en-US" sz="1250" dirty="0"/>
          </a:p>
        </p:txBody>
      </p:sp>
      <p:sp>
        <p:nvSpPr>
          <p:cNvPr id="12" name="Shape 10"/>
          <p:cNvSpPr/>
          <p:nvPr/>
        </p:nvSpPr>
        <p:spPr>
          <a:xfrm>
            <a:off x="548640" y="2715768"/>
            <a:ext cx="11091672" cy="1005840"/>
          </a:xfrm>
          <a:prstGeom prst="roundRect">
            <a:avLst>
              <a:gd name="adj" fmla="val 6364"/>
            </a:avLst>
          </a:prstGeom>
          <a:solidFill>
            <a:srgbClr val="FAF2F3"/>
          </a:solidFill>
          <a:ln/>
        </p:spPr>
      </p:sp>
      <p:sp>
        <p:nvSpPr>
          <p:cNvPr id="13" name="Shape 11"/>
          <p:cNvSpPr/>
          <p:nvPr/>
        </p:nvSpPr>
        <p:spPr>
          <a:xfrm>
            <a:off x="749808" y="2944368"/>
            <a:ext cx="548640" cy="548640"/>
          </a:xfrm>
          <a:prstGeom prst="ellipse">
            <a:avLst/>
          </a:prstGeom>
          <a:solidFill>
            <a:srgbClr val="9D2235"/>
          </a:solidFill>
          <a:ln/>
        </p:spPr>
      </p:sp>
      <p:sp>
        <p:nvSpPr>
          <p:cNvPr id="14" name="Text 12"/>
          <p:cNvSpPr/>
          <p:nvPr/>
        </p:nvSpPr>
        <p:spPr>
          <a:xfrm>
            <a:off x="749808" y="294436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5" name="Text 13"/>
          <p:cNvSpPr/>
          <p:nvPr/>
        </p:nvSpPr>
        <p:spPr>
          <a:xfrm>
            <a:off x="1508760" y="2852928"/>
            <a:ext cx="2377440" cy="365760"/>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Ribbon</a:t>
            </a:r>
            <a:endParaRPr lang="en-US" sz="1500" dirty="0"/>
          </a:p>
        </p:txBody>
      </p:sp>
      <p:sp>
        <p:nvSpPr>
          <p:cNvPr id="16" name="Text 14"/>
          <p:cNvSpPr/>
          <p:nvPr/>
        </p:nvSpPr>
        <p:spPr>
          <a:xfrm>
            <a:off x="1508760" y="3246120"/>
            <a:ext cx="2377440" cy="320040"/>
          </a:xfrm>
          <a:prstGeom prst="rect">
            <a:avLst/>
          </a:prstGeom>
          <a:noFill/>
          <a:ln/>
        </p:spPr>
        <p:txBody>
          <a:bodyPr wrap="square" lIns="0" tIns="0" rIns="0" bIns="0" rtlCol="0" anchor="ctr"/>
          <a:lstStyle/>
          <a:p>
            <a:pPr indent="0" marL="0">
              <a:buNone/>
            </a:pPr>
            <a:r>
              <a:rPr lang="en-US" sz="1150" b="1" dirty="0">
                <a:solidFill>
                  <a:srgbClr val="C99700"/>
                </a:solidFill>
                <a:latin typeface="Calibri" pitchFamily="34" charset="0"/>
                <a:ea typeface="Calibri" pitchFamily="34" charset="-122"/>
                <a:cs typeface="Calibri" pitchFamily="34" charset="-120"/>
              </a:rPr>
              <a:t>Top</a:t>
            </a:r>
            <a:endParaRPr lang="en-US" sz="1150" dirty="0"/>
          </a:p>
        </p:txBody>
      </p:sp>
      <p:sp>
        <p:nvSpPr>
          <p:cNvPr id="17" name="Text 15"/>
          <p:cNvSpPr/>
          <p:nvPr/>
        </p:nvSpPr>
        <p:spPr>
          <a:xfrm>
            <a:off x="4114800" y="2852928"/>
            <a:ext cx="7223760" cy="731520"/>
          </a:xfrm>
          <a:prstGeom prst="rect">
            <a:avLst/>
          </a:prstGeom>
          <a:noFill/>
          <a:ln/>
        </p:spPr>
        <p:txBody>
          <a:bodyPr wrap="square" lIns="0" tIns="0" rIns="0" bIns="0" rtlCol="0" anchor="ctr"/>
          <a:lstStyle/>
          <a:p>
            <a:pPr indent="0" marL="0">
              <a:lnSpc>
                <a:spcPts val="1600"/>
              </a:lnSpc>
              <a:buNone/>
            </a:pPr>
            <a:r>
              <a:rPr lang="en-US" sz="1250" dirty="0">
                <a:solidFill>
                  <a:srgbClr val="262626"/>
                </a:solidFill>
                <a:latin typeface="Calibri" pitchFamily="34" charset="0"/>
                <a:ea typeface="Calibri" pitchFamily="34" charset="-122"/>
                <a:cs typeface="Calibri" pitchFamily="34" charset="-120"/>
              </a:rPr>
              <a:t>Home, Transform, Add column, View. The tools.</a:t>
            </a:r>
            <a:endParaRPr lang="en-US" sz="1250" dirty="0"/>
          </a:p>
        </p:txBody>
      </p:sp>
      <p:sp>
        <p:nvSpPr>
          <p:cNvPr id="18" name="Shape 16"/>
          <p:cNvSpPr/>
          <p:nvPr/>
        </p:nvSpPr>
        <p:spPr>
          <a:xfrm>
            <a:off x="548640" y="3858768"/>
            <a:ext cx="11091672" cy="1005840"/>
          </a:xfrm>
          <a:prstGeom prst="roundRect">
            <a:avLst>
              <a:gd name="adj" fmla="val 6364"/>
            </a:avLst>
          </a:prstGeom>
          <a:solidFill>
            <a:srgbClr val="FAF2F3"/>
          </a:solidFill>
          <a:ln/>
        </p:spPr>
      </p:sp>
      <p:sp>
        <p:nvSpPr>
          <p:cNvPr id="19" name="Shape 17"/>
          <p:cNvSpPr/>
          <p:nvPr/>
        </p:nvSpPr>
        <p:spPr>
          <a:xfrm>
            <a:off x="749808" y="4087368"/>
            <a:ext cx="548640" cy="548640"/>
          </a:xfrm>
          <a:prstGeom prst="ellipse">
            <a:avLst/>
          </a:prstGeom>
          <a:solidFill>
            <a:srgbClr val="9D2235"/>
          </a:solidFill>
          <a:ln/>
        </p:spPr>
      </p:sp>
      <p:sp>
        <p:nvSpPr>
          <p:cNvPr id="20" name="Text 18"/>
          <p:cNvSpPr/>
          <p:nvPr/>
        </p:nvSpPr>
        <p:spPr>
          <a:xfrm>
            <a:off x="749808" y="408736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21" name="Text 19"/>
          <p:cNvSpPr/>
          <p:nvPr/>
        </p:nvSpPr>
        <p:spPr>
          <a:xfrm>
            <a:off x="1508760" y="3995928"/>
            <a:ext cx="2377440" cy="365760"/>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Data preview</a:t>
            </a:r>
            <a:endParaRPr lang="en-US" sz="1500" dirty="0"/>
          </a:p>
        </p:txBody>
      </p:sp>
      <p:sp>
        <p:nvSpPr>
          <p:cNvPr id="22" name="Text 20"/>
          <p:cNvSpPr/>
          <p:nvPr/>
        </p:nvSpPr>
        <p:spPr>
          <a:xfrm>
            <a:off x="1508760" y="4389120"/>
            <a:ext cx="2377440" cy="320040"/>
          </a:xfrm>
          <a:prstGeom prst="rect">
            <a:avLst/>
          </a:prstGeom>
          <a:noFill/>
          <a:ln/>
        </p:spPr>
        <p:txBody>
          <a:bodyPr wrap="square" lIns="0" tIns="0" rIns="0" bIns="0" rtlCol="0" anchor="ctr"/>
          <a:lstStyle/>
          <a:p>
            <a:pPr indent="0" marL="0">
              <a:buNone/>
            </a:pPr>
            <a:r>
              <a:rPr lang="en-US" sz="1150" b="1" dirty="0">
                <a:solidFill>
                  <a:srgbClr val="C99700"/>
                </a:solidFill>
                <a:latin typeface="Calibri" pitchFamily="34" charset="0"/>
                <a:ea typeface="Calibri" pitchFamily="34" charset="-122"/>
                <a:cs typeface="Calibri" pitchFamily="34" charset="-120"/>
              </a:rPr>
              <a:t>Middle</a:t>
            </a:r>
            <a:endParaRPr lang="en-US" sz="1150" dirty="0"/>
          </a:p>
        </p:txBody>
      </p:sp>
      <p:sp>
        <p:nvSpPr>
          <p:cNvPr id="23" name="Text 21"/>
          <p:cNvSpPr/>
          <p:nvPr/>
        </p:nvSpPr>
        <p:spPr>
          <a:xfrm>
            <a:off x="4114800" y="3995928"/>
            <a:ext cx="7223760" cy="731520"/>
          </a:xfrm>
          <a:prstGeom prst="rect">
            <a:avLst/>
          </a:prstGeom>
          <a:noFill/>
          <a:ln/>
        </p:spPr>
        <p:txBody>
          <a:bodyPr wrap="square" lIns="0" tIns="0" rIns="0" bIns="0" rtlCol="0" anchor="ctr"/>
          <a:lstStyle/>
          <a:p>
            <a:pPr indent="0" marL="0">
              <a:lnSpc>
                <a:spcPts val="1600"/>
              </a:lnSpc>
              <a:buNone/>
            </a:pPr>
            <a:r>
              <a:rPr lang="en-US" sz="1250" dirty="0">
                <a:solidFill>
                  <a:srgbClr val="262626"/>
                </a:solidFill>
                <a:latin typeface="Calibri" pitchFamily="34" charset="0"/>
                <a:ea typeface="Calibri" pitchFamily="34" charset="-122"/>
                <a:cs typeface="Calibri" pitchFamily="34" charset="-120"/>
              </a:rPr>
              <a:t>A sample of the table as it looks right now.</a:t>
            </a:r>
            <a:endParaRPr lang="en-US" sz="1250" dirty="0"/>
          </a:p>
        </p:txBody>
      </p:sp>
      <p:sp>
        <p:nvSpPr>
          <p:cNvPr id="24" name="Shape 22"/>
          <p:cNvSpPr/>
          <p:nvPr/>
        </p:nvSpPr>
        <p:spPr>
          <a:xfrm>
            <a:off x="548640" y="5001768"/>
            <a:ext cx="11091672" cy="1005840"/>
          </a:xfrm>
          <a:prstGeom prst="roundRect">
            <a:avLst>
              <a:gd name="adj" fmla="val 6364"/>
            </a:avLst>
          </a:prstGeom>
          <a:solidFill>
            <a:srgbClr val="FAF2F3"/>
          </a:solidFill>
          <a:ln/>
        </p:spPr>
      </p:sp>
      <p:sp>
        <p:nvSpPr>
          <p:cNvPr id="25" name="Shape 23"/>
          <p:cNvSpPr/>
          <p:nvPr/>
        </p:nvSpPr>
        <p:spPr>
          <a:xfrm>
            <a:off x="749808" y="5230368"/>
            <a:ext cx="548640" cy="548640"/>
          </a:xfrm>
          <a:prstGeom prst="ellipse">
            <a:avLst/>
          </a:prstGeom>
          <a:solidFill>
            <a:srgbClr val="9D2235"/>
          </a:solidFill>
          <a:ln/>
        </p:spPr>
      </p:sp>
      <p:sp>
        <p:nvSpPr>
          <p:cNvPr id="26" name="Text 24"/>
          <p:cNvSpPr/>
          <p:nvPr/>
        </p:nvSpPr>
        <p:spPr>
          <a:xfrm>
            <a:off x="749808" y="5230368"/>
            <a:ext cx="548640" cy="54864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7" name="Text 25"/>
          <p:cNvSpPr/>
          <p:nvPr/>
        </p:nvSpPr>
        <p:spPr>
          <a:xfrm>
            <a:off x="1508760" y="5138928"/>
            <a:ext cx="2377440" cy="365760"/>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Applied steps</a:t>
            </a:r>
            <a:endParaRPr lang="en-US" sz="1500" dirty="0"/>
          </a:p>
        </p:txBody>
      </p:sp>
      <p:sp>
        <p:nvSpPr>
          <p:cNvPr id="28" name="Text 26"/>
          <p:cNvSpPr/>
          <p:nvPr/>
        </p:nvSpPr>
        <p:spPr>
          <a:xfrm>
            <a:off x="1508760" y="5532120"/>
            <a:ext cx="2377440" cy="320040"/>
          </a:xfrm>
          <a:prstGeom prst="rect">
            <a:avLst/>
          </a:prstGeom>
          <a:noFill/>
          <a:ln/>
        </p:spPr>
        <p:txBody>
          <a:bodyPr wrap="square" lIns="0" tIns="0" rIns="0" bIns="0" rtlCol="0" anchor="ctr"/>
          <a:lstStyle/>
          <a:p>
            <a:pPr indent="0" marL="0">
              <a:buNone/>
            </a:pPr>
            <a:r>
              <a:rPr lang="en-US" sz="1150" b="1" dirty="0">
                <a:solidFill>
                  <a:srgbClr val="C99700"/>
                </a:solidFill>
                <a:latin typeface="Calibri" pitchFamily="34" charset="0"/>
                <a:ea typeface="Calibri" pitchFamily="34" charset="-122"/>
                <a:cs typeface="Calibri" pitchFamily="34" charset="-120"/>
              </a:rPr>
              <a:t>Right</a:t>
            </a:r>
            <a:endParaRPr lang="en-US" sz="1150" dirty="0"/>
          </a:p>
        </p:txBody>
      </p:sp>
      <p:sp>
        <p:nvSpPr>
          <p:cNvPr id="29" name="Text 27"/>
          <p:cNvSpPr/>
          <p:nvPr/>
        </p:nvSpPr>
        <p:spPr>
          <a:xfrm>
            <a:off x="4114800" y="5138928"/>
            <a:ext cx="7223760" cy="731520"/>
          </a:xfrm>
          <a:prstGeom prst="rect">
            <a:avLst/>
          </a:prstGeom>
          <a:noFill/>
          <a:ln/>
        </p:spPr>
        <p:txBody>
          <a:bodyPr wrap="square" lIns="0" tIns="0" rIns="0" bIns="0" rtlCol="0" anchor="ctr"/>
          <a:lstStyle/>
          <a:p>
            <a:pPr indent="0" marL="0">
              <a:lnSpc>
                <a:spcPts val="1600"/>
              </a:lnSpc>
              <a:buNone/>
            </a:pPr>
            <a:r>
              <a:rPr lang="en-US" sz="1250" dirty="0">
                <a:solidFill>
                  <a:srgbClr val="262626"/>
                </a:solidFill>
                <a:latin typeface="Calibri" pitchFamily="34" charset="0"/>
                <a:ea typeface="Calibri" pitchFamily="34" charset="-122"/>
                <a:cs typeface="Calibri" pitchFamily="34" charset="-120"/>
              </a:rPr>
              <a:t>The recipe, in order. Click a step to see the table at that moment.</a:t>
            </a:r>
            <a:endParaRPr lang="en-US" sz="1250" dirty="0"/>
          </a:p>
        </p:txBody>
      </p:sp>
      <p:sp>
        <p:nvSpPr>
          <p:cNvPr id="30" name="Shape 28"/>
          <p:cNvSpPr/>
          <p:nvPr/>
        </p:nvSpPr>
        <p:spPr>
          <a:xfrm>
            <a:off x="548640" y="6172200"/>
            <a:ext cx="11091672" cy="502920"/>
          </a:xfrm>
          <a:prstGeom prst="roundRect">
            <a:avLst>
              <a:gd name="adj" fmla="val 12727"/>
            </a:avLst>
          </a:prstGeom>
          <a:solidFill>
            <a:srgbClr val="FAF2F3"/>
          </a:solidFill>
          <a:ln/>
        </p:spPr>
      </p:sp>
      <p:sp>
        <p:nvSpPr>
          <p:cNvPr id="31" name="Text 29"/>
          <p:cNvSpPr/>
          <p:nvPr/>
        </p:nvSpPr>
        <p:spPr>
          <a:xfrm>
            <a:off x="822960" y="6172200"/>
            <a:ext cx="10561320" cy="502920"/>
          </a:xfrm>
          <a:prstGeom prst="rect">
            <a:avLst/>
          </a:prstGeom>
          <a:noFill/>
          <a:ln/>
        </p:spPr>
        <p:txBody>
          <a:bodyPr wrap="square" lIns="0" tIns="0" rIns="0" bIns="0" rtlCol="0" anchor="ctr"/>
          <a:lstStyle/>
          <a:p>
            <a:pPr indent="0" marL="0">
              <a:buNone/>
            </a:pPr>
            <a:r>
              <a:rPr lang="en-US" sz="1200" b="1" dirty="0">
                <a:solidFill>
                  <a:srgbClr val="262626"/>
                </a:solidFill>
                <a:latin typeface="Calibri" pitchFamily="34" charset="0"/>
                <a:ea typeface="Calibri" pitchFamily="34" charset="-122"/>
                <a:cs typeface="Calibri" pitchFamily="34" charset="-120"/>
              </a:rPr>
              <a:t>If the ribbon shows icons with no labels, your window is too narrow. </a:t>
            </a:r>
            <a:pPr indent="0" marL="0">
              <a:buNone/>
            </a:pPr>
            <a:r>
              <a:rPr lang="en-US" sz="1200" dirty="0">
                <a:solidFill>
                  <a:srgbClr val="262626"/>
                </a:solidFill>
                <a:latin typeface="Calibri" pitchFamily="34" charset="0"/>
                <a:ea typeface="Calibri" pitchFamily="34" charset="-122"/>
                <a:cs typeface="Calibri" pitchFamily="34" charset="-120"/>
              </a:rPr>
              <a:t>Maximise the browser and the names come back.</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B1 DEBRIEF</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One thing all four of you got wrong</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7</a:t>
            </a:r>
            <a:endParaRPr lang="en-US" sz="850" dirty="0"/>
          </a:p>
        </p:txBody>
      </p:sp>
      <p:sp>
        <p:nvSpPr>
          <p:cNvPr id="6" name="Shape 4"/>
          <p:cNvSpPr/>
          <p:nvPr/>
        </p:nvSpPr>
        <p:spPr>
          <a:xfrm>
            <a:off x="548640" y="1463040"/>
            <a:ext cx="11091672" cy="1371600"/>
          </a:xfrm>
          <a:prstGeom prst="roundRect">
            <a:avLst>
              <a:gd name="adj" fmla="val 4667"/>
            </a:avLst>
          </a:prstGeom>
          <a:solidFill>
            <a:srgbClr val="FFF7E6"/>
          </a:solidFill>
          <a:ln/>
        </p:spPr>
      </p:sp>
      <p:sp>
        <p:nvSpPr>
          <p:cNvPr id="7" name="Text 5"/>
          <p:cNvSpPr/>
          <p:nvPr/>
        </p:nvSpPr>
        <p:spPr>
          <a:xfrm>
            <a:off x="914400" y="1645920"/>
            <a:ext cx="10332720" cy="411480"/>
          </a:xfrm>
          <a:prstGeom prst="rect">
            <a:avLst/>
          </a:prstGeom>
          <a:noFill/>
          <a:ln/>
        </p:spPr>
        <p:txBody>
          <a:bodyPr wrap="square" lIns="0" tIns="0" rIns="0" bIns="0" rtlCol="0" anchor="ctr"/>
          <a:lstStyle/>
          <a:p>
            <a:pPr indent="0" marL="0">
              <a:buNone/>
            </a:pPr>
            <a:r>
              <a:rPr lang="en-US" sz="1600" b="1" dirty="0">
                <a:solidFill>
                  <a:srgbClr val="262626"/>
                </a:solidFill>
                <a:latin typeface="Calibri" pitchFamily="34" charset="0"/>
                <a:ea typeface="Calibri" pitchFamily="34" charset="-122"/>
                <a:cs typeface="Calibri" pitchFamily="34" charset="-120"/>
              </a:rPr>
              <a:t>Every one of you wrote that a row in sales_transactions is “one sale” or “one complete transaction.”</a:t>
            </a:r>
            <a:endParaRPr lang="en-US" sz="1600" dirty="0"/>
          </a:p>
        </p:txBody>
      </p:sp>
      <p:sp>
        <p:nvSpPr>
          <p:cNvPr id="8" name="Text 6"/>
          <p:cNvSpPr/>
          <p:nvPr/>
        </p:nvSpPr>
        <p:spPr>
          <a:xfrm>
            <a:off x="914400" y="2121408"/>
            <a:ext cx="10332720" cy="457200"/>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It is not. One row is one product line on one sale. A customer buying three drinks creates three rows.</a:t>
            </a:r>
            <a:endParaRPr lang="en-US" sz="1500" dirty="0"/>
          </a:p>
        </p:txBody>
      </p:sp>
      <p:sp>
        <p:nvSpPr>
          <p:cNvPr id="9" name="Shape 7"/>
          <p:cNvSpPr/>
          <p:nvPr/>
        </p:nvSpPr>
        <p:spPr>
          <a:xfrm>
            <a:off x="548640" y="3063240"/>
            <a:ext cx="3547872" cy="2194560"/>
          </a:xfrm>
          <a:prstGeom prst="roundRect">
            <a:avLst>
              <a:gd name="adj" fmla="val 2917"/>
            </a:avLst>
          </a:prstGeom>
          <a:solidFill>
            <a:srgbClr val="FAF2F3"/>
          </a:solidFill>
          <a:ln/>
        </p:spPr>
      </p:sp>
      <p:sp>
        <p:nvSpPr>
          <p:cNvPr id="10" name="Shape 8"/>
          <p:cNvSpPr/>
          <p:nvPr/>
        </p:nvSpPr>
        <p:spPr>
          <a:xfrm>
            <a:off x="786384" y="3291840"/>
            <a:ext cx="530352" cy="530352"/>
          </a:xfrm>
          <a:prstGeom prst="ellipse">
            <a:avLst/>
          </a:prstGeom>
          <a:solidFill>
            <a:srgbClr val="9D2235"/>
          </a:solidFill>
          <a:ln/>
        </p:spPr>
      </p:sp>
      <p:pic>
        <p:nvPicPr>
          <p:cNvPr id="11" name="Image 0" descr="preencoded.png">    </p:cNvPr>
          <p:cNvPicPr>
            <a:picLocks noChangeAspect="1"/>
          </p:cNvPicPr>
          <p:nvPr/>
        </p:nvPicPr>
        <p:blipFill>
          <a:blip r:embed="rId1"/>
          <a:stretch>
            <a:fillRect/>
          </a:stretch>
        </p:blipFill>
        <p:spPr>
          <a:xfrm>
            <a:off x="924276" y="3429732"/>
            <a:ext cx="254569" cy="254569"/>
          </a:xfrm>
          <a:prstGeom prst="rect">
            <a:avLst/>
          </a:prstGeom>
        </p:spPr>
      </p:pic>
      <p:sp>
        <p:nvSpPr>
          <p:cNvPr id="12" name="Text 9"/>
          <p:cNvSpPr/>
          <p:nvPr/>
        </p:nvSpPr>
        <p:spPr>
          <a:xfrm>
            <a:off x="786384" y="3950208"/>
            <a:ext cx="3108960" cy="548640"/>
          </a:xfrm>
          <a:prstGeom prst="rect">
            <a:avLst/>
          </a:prstGeom>
          <a:noFill/>
          <a:ln/>
        </p:spPr>
        <p:txBody>
          <a:bodyPr wrap="square" lIns="0" tIns="0" rIns="0" bIns="0" rtlCol="0" anchor="ctr"/>
          <a:lstStyle/>
          <a:p>
            <a:pPr indent="0" marL="0">
              <a:lnSpc>
                <a:spcPts val="1600"/>
              </a:lnSpc>
              <a:buNone/>
            </a:pPr>
            <a:r>
              <a:rPr lang="en-US" sz="1350" b="1" dirty="0">
                <a:solidFill>
                  <a:srgbClr val="9D2235"/>
                </a:solidFill>
                <a:latin typeface="Calibri" pitchFamily="34" charset="0"/>
                <a:ea typeface="Calibri" pitchFamily="34" charset="-122"/>
                <a:cs typeface="Calibri" pitchFamily="34" charset="-120"/>
              </a:rPr>
              <a:t>It is a pass-or-fail gate</a:t>
            </a:r>
            <a:endParaRPr lang="en-US" sz="1350" dirty="0"/>
          </a:p>
        </p:txBody>
      </p:sp>
      <p:sp>
        <p:nvSpPr>
          <p:cNvPr id="13" name="Text 10"/>
          <p:cNvSpPr/>
          <p:nvPr/>
        </p:nvSpPr>
        <p:spPr>
          <a:xfrm>
            <a:off x="786384" y="4526280"/>
            <a:ext cx="3108960" cy="685800"/>
          </a:xfrm>
          <a:prstGeom prst="rect">
            <a:avLst/>
          </a:prstGeom>
          <a:noFill/>
          <a:ln/>
        </p:spPr>
        <p:txBody>
          <a:bodyPr wrap="square" lIns="0" tIns="0" rIns="0" bIns="0" rtlCol="0" anchor="ctr"/>
          <a:lstStyle/>
          <a:p>
            <a:pPr indent="0" marL="0">
              <a:lnSpc>
                <a:spcPts val="1400"/>
              </a:lnSpc>
              <a:buNone/>
            </a:pPr>
            <a:r>
              <a:rPr lang="en-US" sz="1100" dirty="0">
                <a:solidFill>
                  <a:srgbClr val="262626"/>
                </a:solidFill>
                <a:latin typeface="Calibri" pitchFamily="34" charset="0"/>
                <a:ea typeface="Calibri" pitchFamily="34" charset="-122"/>
                <a:cs typeface="Calibri" pitchFamily="34" charset="-120"/>
              </a:rPr>
              <a:t>In Week 6 you must write “one row represents…” for every table. Get it wrong and the model built on it is wrong.</a:t>
            </a:r>
            <a:endParaRPr lang="en-US" sz="1100" dirty="0"/>
          </a:p>
        </p:txBody>
      </p:sp>
      <p:sp>
        <p:nvSpPr>
          <p:cNvPr id="14" name="Shape 11"/>
          <p:cNvSpPr/>
          <p:nvPr/>
        </p:nvSpPr>
        <p:spPr>
          <a:xfrm>
            <a:off x="4325112" y="3063240"/>
            <a:ext cx="3547872" cy="2194560"/>
          </a:xfrm>
          <a:prstGeom prst="roundRect">
            <a:avLst>
              <a:gd name="adj" fmla="val 2917"/>
            </a:avLst>
          </a:prstGeom>
          <a:solidFill>
            <a:srgbClr val="FAF2F3"/>
          </a:solidFill>
          <a:ln/>
        </p:spPr>
      </p:sp>
      <p:sp>
        <p:nvSpPr>
          <p:cNvPr id="15" name="Shape 12"/>
          <p:cNvSpPr/>
          <p:nvPr/>
        </p:nvSpPr>
        <p:spPr>
          <a:xfrm>
            <a:off x="4562856" y="3291840"/>
            <a:ext cx="530352" cy="530352"/>
          </a:xfrm>
          <a:prstGeom prst="ellipse">
            <a:avLst/>
          </a:prstGeom>
          <a:solidFill>
            <a:srgbClr val="9D2235"/>
          </a:solidFill>
          <a:ln/>
        </p:spPr>
      </p:sp>
      <p:pic>
        <p:nvPicPr>
          <p:cNvPr id="16" name="Image 1" descr="preencoded.png">    </p:cNvPr>
          <p:cNvPicPr>
            <a:picLocks noChangeAspect="1"/>
          </p:cNvPicPr>
          <p:nvPr/>
        </p:nvPicPr>
        <p:blipFill>
          <a:blip r:embed="rId2"/>
          <a:stretch>
            <a:fillRect/>
          </a:stretch>
        </p:blipFill>
        <p:spPr>
          <a:xfrm>
            <a:off x="4700748" y="3429732"/>
            <a:ext cx="254569" cy="254569"/>
          </a:xfrm>
          <a:prstGeom prst="rect">
            <a:avLst/>
          </a:prstGeom>
        </p:spPr>
      </p:pic>
      <p:sp>
        <p:nvSpPr>
          <p:cNvPr id="17" name="Text 13"/>
          <p:cNvSpPr/>
          <p:nvPr/>
        </p:nvSpPr>
        <p:spPr>
          <a:xfrm>
            <a:off x="4562856" y="3950208"/>
            <a:ext cx="3108960" cy="548640"/>
          </a:xfrm>
          <a:prstGeom prst="rect">
            <a:avLst/>
          </a:prstGeom>
          <a:noFill/>
          <a:ln/>
        </p:spPr>
        <p:txBody>
          <a:bodyPr wrap="square" lIns="0" tIns="0" rIns="0" bIns="0" rtlCol="0" anchor="ctr"/>
          <a:lstStyle/>
          <a:p>
            <a:pPr indent="0" marL="0">
              <a:lnSpc>
                <a:spcPts val="1600"/>
              </a:lnSpc>
              <a:buNone/>
            </a:pPr>
            <a:r>
              <a:rPr lang="en-US" sz="1350" b="1" dirty="0">
                <a:solidFill>
                  <a:srgbClr val="9D2235"/>
                </a:solidFill>
                <a:latin typeface="Calibri" pitchFamily="34" charset="0"/>
                <a:ea typeface="Calibri" pitchFamily="34" charset="-122"/>
                <a:cs typeface="Calibri" pitchFamily="34" charset="-120"/>
              </a:rPr>
              <a:t>Every count inherits it</a:t>
            </a:r>
            <a:endParaRPr lang="en-US" sz="1350" dirty="0"/>
          </a:p>
        </p:txBody>
      </p:sp>
      <p:sp>
        <p:nvSpPr>
          <p:cNvPr id="18" name="Text 14"/>
          <p:cNvSpPr/>
          <p:nvPr/>
        </p:nvSpPr>
        <p:spPr>
          <a:xfrm>
            <a:off x="4562856" y="4526280"/>
            <a:ext cx="3108960" cy="685800"/>
          </a:xfrm>
          <a:prstGeom prst="rect">
            <a:avLst/>
          </a:prstGeom>
          <a:noFill/>
          <a:ln/>
        </p:spPr>
        <p:txBody>
          <a:bodyPr wrap="square" lIns="0" tIns="0" rIns="0" bIns="0" rtlCol="0" anchor="ctr"/>
          <a:lstStyle/>
          <a:p>
            <a:pPr indent="0" marL="0">
              <a:lnSpc>
                <a:spcPts val="1400"/>
              </a:lnSpc>
              <a:buNone/>
            </a:pPr>
            <a:r>
              <a:rPr lang="en-US" sz="1100" dirty="0">
                <a:solidFill>
                  <a:srgbClr val="262626"/>
                </a:solidFill>
                <a:latin typeface="Calibri" pitchFamily="34" charset="0"/>
                <a:ea typeface="Calibri" pitchFamily="34" charset="-122"/>
                <a:cs typeface="Calibri" pitchFamily="34" charset="-120"/>
              </a:rPr>
              <a:t>If you think a row is a sale, your transaction count is wrong and you will not know.</a:t>
            </a:r>
            <a:endParaRPr lang="en-US" sz="1100" dirty="0"/>
          </a:p>
        </p:txBody>
      </p:sp>
      <p:sp>
        <p:nvSpPr>
          <p:cNvPr id="19" name="Shape 15"/>
          <p:cNvSpPr/>
          <p:nvPr/>
        </p:nvSpPr>
        <p:spPr>
          <a:xfrm>
            <a:off x="8101584" y="3063240"/>
            <a:ext cx="3547872" cy="2194560"/>
          </a:xfrm>
          <a:prstGeom prst="roundRect">
            <a:avLst>
              <a:gd name="adj" fmla="val 2917"/>
            </a:avLst>
          </a:prstGeom>
          <a:solidFill>
            <a:srgbClr val="FAF2F3"/>
          </a:solidFill>
          <a:ln/>
        </p:spPr>
      </p:sp>
      <p:sp>
        <p:nvSpPr>
          <p:cNvPr id="20" name="Shape 16"/>
          <p:cNvSpPr/>
          <p:nvPr/>
        </p:nvSpPr>
        <p:spPr>
          <a:xfrm>
            <a:off x="8339328" y="3291840"/>
            <a:ext cx="530352" cy="530352"/>
          </a:xfrm>
          <a:prstGeom prst="ellipse">
            <a:avLst/>
          </a:prstGeom>
          <a:solidFill>
            <a:srgbClr val="9D2235"/>
          </a:solidFill>
          <a:ln/>
        </p:spPr>
      </p:sp>
      <p:pic>
        <p:nvPicPr>
          <p:cNvPr id="21" name="Image 2" descr="preencoded.png">    </p:cNvPr>
          <p:cNvPicPr>
            <a:picLocks noChangeAspect="1"/>
          </p:cNvPicPr>
          <p:nvPr/>
        </p:nvPicPr>
        <p:blipFill>
          <a:blip r:embed="rId3"/>
          <a:stretch>
            <a:fillRect/>
          </a:stretch>
        </p:blipFill>
        <p:spPr>
          <a:xfrm>
            <a:off x="8477220" y="3429732"/>
            <a:ext cx="254569" cy="254569"/>
          </a:xfrm>
          <a:prstGeom prst="rect">
            <a:avLst/>
          </a:prstGeom>
        </p:spPr>
      </p:pic>
      <p:sp>
        <p:nvSpPr>
          <p:cNvPr id="22" name="Text 17"/>
          <p:cNvSpPr/>
          <p:nvPr/>
        </p:nvSpPr>
        <p:spPr>
          <a:xfrm>
            <a:off x="8339328" y="3950208"/>
            <a:ext cx="3108960" cy="548640"/>
          </a:xfrm>
          <a:prstGeom prst="rect">
            <a:avLst/>
          </a:prstGeom>
          <a:noFill/>
          <a:ln/>
        </p:spPr>
        <p:txBody>
          <a:bodyPr wrap="square" lIns="0" tIns="0" rIns="0" bIns="0" rtlCol="0" anchor="ctr"/>
          <a:lstStyle/>
          <a:p>
            <a:pPr indent="0" marL="0">
              <a:lnSpc>
                <a:spcPts val="1600"/>
              </a:lnSpc>
              <a:buNone/>
            </a:pPr>
            <a:r>
              <a:rPr lang="en-US" sz="1350" b="1" dirty="0">
                <a:solidFill>
                  <a:srgbClr val="9D2235"/>
                </a:solidFill>
                <a:latin typeface="Calibri" pitchFamily="34" charset="0"/>
                <a:ea typeface="Calibri" pitchFamily="34" charset="-122"/>
                <a:cs typeface="Calibri" pitchFamily="34" charset="-120"/>
              </a:rPr>
              <a:t>It is checkable in 30 seconds</a:t>
            </a:r>
            <a:endParaRPr lang="en-US" sz="1350" dirty="0"/>
          </a:p>
        </p:txBody>
      </p:sp>
      <p:sp>
        <p:nvSpPr>
          <p:cNvPr id="23" name="Text 18"/>
          <p:cNvSpPr/>
          <p:nvPr/>
        </p:nvSpPr>
        <p:spPr>
          <a:xfrm>
            <a:off x="8339328" y="4526280"/>
            <a:ext cx="3108960" cy="685800"/>
          </a:xfrm>
          <a:prstGeom prst="rect">
            <a:avLst/>
          </a:prstGeom>
          <a:noFill/>
          <a:ln/>
        </p:spPr>
        <p:txBody>
          <a:bodyPr wrap="square" lIns="0" tIns="0" rIns="0" bIns="0" rtlCol="0" anchor="ctr"/>
          <a:lstStyle/>
          <a:p>
            <a:pPr indent="0" marL="0">
              <a:lnSpc>
                <a:spcPts val="1400"/>
              </a:lnSpc>
              <a:buNone/>
            </a:pPr>
            <a:r>
              <a:rPr lang="en-US" sz="1100" dirty="0">
                <a:solidFill>
                  <a:srgbClr val="262626"/>
                </a:solidFill>
                <a:latin typeface="Calibri" pitchFamily="34" charset="0"/>
                <a:ea typeface="Calibri" pitchFamily="34" charset="-122"/>
                <a:cs typeface="Calibri" pitchFamily="34" charset="-120"/>
              </a:rPr>
              <a:t>Filter to one date, one branch, one customer. Count the rows. We will do it now.</a:t>
            </a:r>
            <a:endParaRPr lang="en-US" sz="1100" dirty="0"/>
          </a:p>
        </p:txBody>
      </p:sp>
      <p:sp>
        <p:nvSpPr>
          <p:cNvPr id="24" name="Text 19"/>
          <p:cNvSpPr/>
          <p:nvPr/>
        </p:nvSpPr>
        <p:spPr>
          <a:xfrm>
            <a:off x="548640" y="5532120"/>
            <a:ext cx="11091672" cy="411480"/>
          </a:xfrm>
          <a:prstGeom prst="rect">
            <a:avLst/>
          </a:prstGeom>
          <a:noFill/>
          <a:ln/>
        </p:spPr>
        <p:txBody>
          <a:bodyPr wrap="square" lIns="0" tIns="0" rIns="0" bIns="0" rtlCol="0" anchor="ctr"/>
          <a:lstStyle/>
          <a:p>
            <a:pPr indent="0" marL="0">
              <a:buNone/>
            </a:pPr>
            <a:r>
              <a:rPr lang="en-US" sz="1400" b="1" i="1" dirty="0">
                <a:solidFill>
                  <a:srgbClr val="9D2235"/>
                </a:solidFill>
                <a:latin typeface="Calibri" pitchFamily="34" charset="0"/>
                <a:ea typeface="Calibri" pitchFamily="34" charset="-122"/>
                <a:cs typeface="Calibri" pitchFamily="34" charset="-120"/>
              </a:rPr>
              <a:t>This is not a mark you lost. It is the sentence the next ten weeks are built on.</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B1 DEBRIEF</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What a grain statement should sound like</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8</a:t>
            </a:r>
            <a:endParaRPr lang="en-US" sz="850" dirty="0"/>
          </a:p>
        </p:txBody>
      </p:sp>
      <p:sp>
        <p:nvSpPr>
          <p:cNvPr id="6" name="Shape 4"/>
          <p:cNvSpPr/>
          <p:nvPr/>
        </p:nvSpPr>
        <p:spPr>
          <a:xfrm>
            <a:off x="548640" y="1463040"/>
            <a:ext cx="11091672" cy="1828800"/>
          </a:xfrm>
          <a:prstGeom prst="roundRect">
            <a:avLst>
              <a:gd name="adj" fmla="val 3500"/>
            </a:avLst>
          </a:prstGeom>
          <a:solidFill>
            <a:srgbClr val="EFF5F0"/>
          </a:solidFill>
          <a:ln/>
        </p:spPr>
      </p:sp>
      <p:sp>
        <p:nvSpPr>
          <p:cNvPr id="7" name="Shape 5"/>
          <p:cNvSpPr/>
          <p:nvPr/>
        </p:nvSpPr>
        <p:spPr>
          <a:xfrm>
            <a:off x="822960" y="1737360"/>
            <a:ext cx="548640" cy="548640"/>
          </a:xfrm>
          <a:prstGeom prst="ellipse">
            <a:avLst/>
          </a:prstGeom>
          <a:solidFill>
            <a:srgbClr val="2C6E49"/>
          </a:solidFill>
          <a:ln/>
        </p:spPr>
      </p:sp>
      <p:pic>
        <p:nvPicPr>
          <p:cNvPr id="8" name="Image 0" descr="preencoded.png">    </p:cNvPr>
          <p:cNvPicPr>
            <a:picLocks noChangeAspect="1"/>
          </p:cNvPicPr>
          <p:nvPr/>
        </p:nvPicPr>
        <p:blipFill>
          <a:blip r:embed="rId1"/>
          <a:stretch>
            <a:fillRect/>
          </a:stretch>
        </p:blipFill>
        <p:spPr>
          <a:xfrm>
            <a:off x="965606" y="1880006"/>
            <a:ext cx="263347" cy="263347"/>
          </a:xfrm>
          <a:prstGeom prst="rect">
            <a:avLst/>
          </a:prstGeom>
        </p:spPr>
      </p:pic>
      <p:sp>
        <p:nvSpPr>
          <p:cNvPr id="9" name="Text 6"/>
          <p:cNvSpPr/>
          <p:nvPr/>
        </p:nvSpPr>
        <p:spPr>
          <a:xfrm>
            <a:off x="1508760" y="1783080"/>
            <a:ext cx="5486400" cy="365760"/>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From one of your own submissions</a:t>
            </a:r>
            <a:endParaRPr lang="en-US" sz="1300" dirty="0"/>
          </a:p>
        </p:txBody>
      </p:sp>
      <p:sp>
        <p:nvSpPr>
          <p:cNvPr id="10" name="Text 7"/>
          <p:cNvSpPr/>
          <p:nvPr/>
        </p:nvSpPr>
        <p:spPr>
          <a:xfrm>
            <a:off x="1508760" y="2194560"/>
            <a:ext cx="9875520" cy="822960"/>
          </a:xfrm>
          <a:prstGeom prst="rect">
            <a:avLst/>
          </a:prstGeom>
          <a:noFill/>
          <a:ln/>
        </p:spPr>
        <p:txBody>
          <a:bodyPr wrap="square" lIns="0" tIns="0" rIns="0" bIns="0" rtlCol="0" anchor="ctr"/>
          <a:lstStyle/>
          <a:p>
            <a:pPr indent="0" marL="0">
              <a:lnSpc>
                <a:spcPts val="2400"/>
              </a:lnSpc>
              <a:buNone/>
            </a:pPr>
            <a:r>
              <a:rPr lang="en-US" sz="1900" i="1" dirty="0">
                <a:solidFill>
                  <a:srgbClr val="262626"/>
                </a:solidFill>
                <a:latin typeface="Cambria" pitchFamily="34" charset="0"/>
                <a:ea typeface="Cambria" pitchFamily="34" charset="-122"/>
                <a:cs typeface="Cambria" pitchFamily="34" charset="-120"/>
              </a:rPr>
              <a:t>“One row represents one inventory movement for a product at a branch on a specific date.”</a:t>
            </a:r>
            <a:endParaRPr lang="en-US" sz="1900" dirty="0"/>
          </a:p>
        </p:txBody>
      </p:sp>
      <p:sp>
        <p:nvSpPr>
          <p:cNvPr id="11" name="Text 8"/>
          <p:cNvSpPr/>
          <p:nvPr/>
        </p:nvSpPr>
        <p:spPr>
          <a:xfrm>
            <a:off x="548640" y="3566160"/>
            <a:ext cx="5486400" cy="365760"/>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Why that works</a:t>
            </a:r>
            <a:endParaRPr lang="en-US" sz="1500" dirty="0"/>
          </a:p>
        </p:txBody>
      </p:sp>
      <p:sp>
        <p:nvSpPr>
          <p:cNvPr id="12" name="Shape 9"/>
          <p:cNvSpPr/>
          <p:nvPr/>
        </p:nvSpPr>
        <p:spPr>
          <a:xfrm>
            <a:off x="548640" y="4023360"/>
            <a:ext cx="11091672" cy="658368"/>
          </a:xfrm>
          <a:prstGeom prst="roundRect">
            <a:avLst>
              <a:gd name="adj" fmla="val 9722"/>
            </a:avLst>
          </a:prstGeom>
          <a:solidFill>
            <a:srgbClr val="FAF2F3"/>
          </a:solidFill>
          <a:ln/>
        </p:spPr>
      </p:sp>
      <p:sp>
        <p:nvSpPr>
          <p:cNvPr id="13" name="Text 10"/>
          <p:cNvSpPr/>
          <p:nvPr/>
        </p:nvSpPr>
        <p:spPr>
          <a:xfrm>
            <a:off x="822960" y="4078224"/>
            <a:ext cx="3931920" cy="548640"/>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It names the thing, not its columns</a:t>
            </a:r>
            <a:endParaRPr lang="en-US" sz="1300" dirty="0"/>
          </a:p>
        </p:txBody>
      </p:sp>
      <p:sp>
        <p:nvSpPr>
          <p:cNvPr id="14" name="Text 11"/>
          <p:cNvSpPr/>
          <p:nvPr/>
        </p:nvSpPr>
        <p:spPr>
          <a:xfrm>
            <a:off x="4937760" y="4078224"/>
            <a:ext cx="6400800" cy="54864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“One row represents one movement” — not “Date, BranchID, ProductID, MovementType…”</a:t>
            </a:r>
            <a:endParaRPr lang="en-US" sz="1150" dirty="0"/>
          </a:p>
        </p:txBody>
      </p:sp>
      <p:sp>
        <p:nvSpPr>
          <p:cNvPr id="15" name="Shape 12"/>
          <p:cNvSpPr/>
          <p:nvPr/>
        </p:nvSpPr>
        <p:spPr>
          <a:xfrm>
            <a:off x="548640" y="4800600"/>
            <a:ext cx="11091672" cy="658368"/>
          </a:xfrm>
          <a:prstGeom prst="roundRect">
            <a:avLst>
              <a:gd name="adj" fmla="val 9722"/>
            </a:avLst>
          </a:prstGeom>
          <a:solidFill>
            <a:srgbClr val="FAF2F3"/>
          </a:solidFill>
          <a:ln/>
        </p:spPr>
      </p:sp>
      <p:sp>
        <p:nvSpPr>
          <p:cNvPr id="16" name="Text 13"/>
          <p:cNvSpPr/>
          <p:nvPr/>
        </p:nvSpPr>
        <p:spPr>
          <a:xfrm>
            <a:off x="822960" y="4855464"/>
            <a:ext cx="3931920" cy="548640"/>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It is specific enough to test</a:t>
            </a:r>
            <a:endParaRPr lang="en-US" sz="1300" dirty="0"/>
          </a:p>
        </p:txBody>
      </p:sp>
      <p:sp>
        <p:nvSpPr>
          <p:cNvPr id="17" name="Text 14"/>
          <p:cNvSpPr/>
          <p:nvPr/>
        </p:nvSpPr>
        <p:spPr>
          <a:xfrm>
            <a:off x="4937760" y="4855464"/>
            <a:ext cx="6400800" cy="54864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One movement, one product, one branch, one date. You can check that claim against the file.</a:t>
            </a:r>
            <a:endParaRPr lang="en-US" sz="1150" dirty="0"/>
          </a:p>
        </p:txBody>
      </p:sp>
      <p:sp>
        <p:nvSpPr>
          <p:cNvPr id="18" name="Shape 15"/>
          <p:cNvSpPr/>
          <p:nvPr/>
        </p:nvSpPr>
        <p:spPr>
          <a:xfrm>
            <a:off x="548640" y="5577840"/>
            <a:ext cx="11091672" cy="658368"/>
          </a:xfrm>
          <a:prstGeom prst="roundRect">
            <a:avLst>
              <a:gd name="adj" fmla="val 9722"/>
            </a:avLst>
          </a:prstGeom>
          <a:solidFill>
            <a:srgbClr val="FAF2F3"/>
          </a:solidFill>
          <a:ln/>
        </p:spPr>
      </p:sp>
      <p:sp>
        <p:nvSpPr>
          <p:cNvPr id="19" name="Text 16"/>
          <p:cNvSpPr/>
          <p:nvPr/>
        </p:nvSpPr>
        <p:spPr>
          <a:xfrm>
            <a:off x="822960" y="5632704"/>
            <a:ext cx="3931920" cy="548640"/>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It fits in one sentence</a:t>
            </a:r>
            <a:endParaRPr lang="en-US" sz="1300" dirty="0"/>
          </a:p>
        </p:txBody>
      </p:sp>
      <p:sp>
        <p:nvSpPr>
          <p:cNvPr id="20" name="Text 17"/>
          <p:cNvSpPr/>
          <p:nvPr/>
        </p:nvSpPr>
        <p:spPr>
          <a:xfrm>
            <a:off x="4937760" y="5632704"/>
            <a:ext cx="6400800" cy="548640"/>
          </a:xfrm>
          <a:prstGeom prst="rect">
            <a:avLst/>
          </a:prstGeom>
          <a:noFill/>
          <a:ln/>
        </p:spPr>
        <p:txBody>
          <a:bodyPr wrap="square" lIns="0" tIns="0" rIns="0" bIns="0" rtlCol="0" anchor="ctr"/>
          <a:lstStyle/>
          <a:p>
            <a:pPr indent="0" marL="0">
              <a:buNone/>
            </a:pPr>
            <a:r>
              <a:rPr lang="en-US" sz="1150" dirty="0">
                <a:solidFill>
                  <a:srgbClr val="262626"/>
                </a:solidFill>
                <a:latin typeface="Calibri" pitchFamily="34" charset="0"/>
                <a:ea typeface="Calibri" pitchFamily="34" charset="-122"/>
                <a:cs typeface="Calibri" pitchFamily="34" charset="-120"/>
              </a:rPr>
              <a:t>If you need three, you probably do not know the grain yet.</a:t>
            </a:r>
            <a:endParaRPr lang="en-US" sz="11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COUNTING AS TECHNIQUE</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Nobody could tell me how many</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9</a:t>
            </a:r>
            <a:endParaRPr lang="en-US" sz="850" dirty="0"/>
          </a:p>
        </p:txBody>
      </p:sp>
      <p:sp>
        <p:nvSpPr>
          <p:cNvPr id="6" name="Text 4"/>
          <p:cNvSpPr/>
          <p:nvPr/>
        </p:nvSpPr>
        <p:spPr>
          <a:xfrm>
            <a:off x="548640" y="1417320"/>
            <a:ext cx="11091672" cy="457200"/>
          </a:xfrm>
          <a:prstGeom prst="rect">
            <a:avLst/>
          </a:prstGeom>
          <a:noFill/>
          <a:ln/>
        </p:spPr>
        <p:txBody>
          <a:bodyPr wrap="square" lIns="0" tIns="0" rIns="0" bIns="0" rtlCol="0" anchor="ctr"/>
          <a:lstStyle/>
          <a:p>
            <a:pPr indent="0" marL="0">
              <a:buNone/>
            </a:pPr>
            <a:r>
              <a:rPr lang="en-US" sz="1500" dirty="0">
                <a:solidFill>
                  <a:srgbClr val="262626"/>
                </a:solidFill>
                <a:latin typeface="Calibri" pitchFamily="34" charset="0"/>
                <a:ea typeface="Calibri" pitchFamily="34" charset="-122"/>
                <a:cs typeface="Calibri" pitchFamily="34" charset="-120"/>
              </a:rPr>
              <a:t>Between the four of you, B1 reported roughly thirty findings. Almost none carried a number.</a:t>
            </a:r>
            <a:endParaRPr lang="en-US" sz="1500" dirty="0"/>
          </a:p>
        </p:txBody>
      </p:sp>
      <p:sp>
        <p:nvSpPr>
          <p:cNvPr id="7" name="Shape 5"/>
          <p:cNvSpPr/>
          <p:nvPr/>
        </p:nvSpPr>
        <p:spPr>
          <a:xfrm>
            <a:off x="548640" y="2057400"/>
            <a:ext cx="5394960" cy="3017520"/>
          </a:xfrm>
          <a:prstGeom prst="roundRect">
            <a:avLst>
              <a:gd name="adj" fmla="val 2121"/>
            </a:avLst>
          </a:prstGeom>
          <a:solidFill>
            <a:srgbClr val="F3E4E7"/>
          </a:solidFill>
          <a:ln/>
        </p:spPr>
      </p:sp>
      <p:sp>
        <p:nvSpPr>
          <p:cNvPr id="8" name="Text 6"/>
          <p:cNvSpPr/>
          <p:nvPr/>
        </p:nvSpPr>
        <p:spPr>
          <a:xfrm>
            <a:off x="868680" y="2286000"/>
            <a:ext cx="4754880" cy="365760"/>
          </a:xfrm>
          <a:prstGeom prst="rect">
            <a:avLst/>
          </a:prstGeom>
          <a:noFill/>
          <a:ln/>
        </p:spPr>
        <p:txBody>
          <a:bodyPr wrap="square" lIns="0" tIns="0" rIns="0" bIns="0" rtlCol="0" anchor="ctr"/>
          <a:lstStyle/>
          <a:p>
            <a:pPr indent="0" marL="0">
              <a:buNone/>
            </a:pPr>
            <a:r>
              <a:rPr lang="en-US" sz="1500" b="1" dirty="0">
                <a:solidFill>
                  <a:srgbClr val="B8434F"/>
                </a:solidFill>
                <a:latin typeface="Calibri" pitchFamily="34" charset="0"/>
                <a:ea typeface="Calibri" pitchFamily="34" charset="-122"/>
                <a:cs typeface="Calibri" pitchFamily="34" charset="-120"/>
              </a:rPr>
              <a:t>Not enough</a:t>
            </a:r>
            <a:endParaRPr lang="en-US" sz="1500" dirty="0"/>
          </a:p>
        </p:txBody>
      </p:sp>
      <p:sp>
        <p:nvSpPr>
          <p:cNvPr id="9" name="Text 7"/>
          <p:cNvSpPr/>
          <p:nvPr/>
        </p:nvSpPr>
        <p:spPr>
          <a:xfrm>
            <a:off x="868680" y="2788920"/>
            <a:ext cx="4846320" cy="2103120"/>
          </a:xfrm>
          <a:prstGeom prst="rect">
            <a:avLst/>
          </a:prstGeom>
          <a:noFill/>
          <a:ln/>
        </p:spPr>
        <p:txBody>
          <a:bodyPr wrap="square" lIns="0" tIns="0" rIns="0" bIns="0" rtlCol="0" anchor="ctr"/>
          <a:lstStyle/>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“Some records are missing.”</a:t>
            </a:r>
            <a:endParaRPr lang="en-US" sz="1300" dirty="0"/>
          </a:p>
          <a:p>
            <a:pPr indent="0" marL="0">
              <a:lnSpc>
                <a:spcPts val="1900"/>
              </a:lnSpc>
              <a:buNone/>
            </a:pPr>
            <a:endParaRPr lang="en-US" sz="1300" dirty="0"/>
          </a:p>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“Inconsistent BranchID formats.”</a:t>
            </a:r>
            <a:endParaRPr lang="en-US" sz="1300" dirty="0"/>
          </a:p>
          <a:p>
            <a:pPr indent="0" marL="0">
              <a:lnSpc>
                <a:spcPts val="1900"/>
              </a:lnSpc>
              <a:buNone/>
            </a:pPr>
            <a:endParaRPr lang="en-US" sz="1300" dirty="0"/>
          </a:p>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“Some customers have no email.”</a:t>
            </a:r>
            <a:endParaRPr lang="en-US" sz="1300" dirty="0"/>
          </a:p>
        </p:txBody>
      </p:sp>
      <p:sp>
        <p:nvSpPr>
          <p:cNvPr id="10" name="Shape 8"/>
          <p:cNvSpPr/>
          <p:nvPr/>
        </p:nvSpPr>
        <p:spPr>
          <a:xfrm>
            <a:off x="6263640" y="2057400"/>
            <a:ext cx="5394960" cy="3017520"/>
          </a:xfrm>
          <a:prstGeom prst="roundRect">
            <a:avLst>
              <a:gd name="adj" fmla="val 2121"/>
            </a:avLst>
          </a:prstGeom>
          <a:solidFill>
            <a:srgbClr val="EFF5F0"/>
          </a:solidFill>
          <a:ln/>
        </p:spPr>
      </p:sp>
      <p:sp>
        <p:nvSpPr>
          <p:cNvPr id="11" name="Text 9"/>
          <p:cNvSpPr/>
          <p:nvPr/>
        </p:nvSpPr>
        <p:spPr>
          <a:xfrm>
            <a:off x="6583680" y="2286000"/>
            <a:ext cx="4754880" cy="365760"/>
          </a:xfrm>
          <a:prstGeom prst="rect">
            <a:avLst/>
          </a:prstGeom>
          <a:noFill/>
          <a:ln/>
        </p:spPr>
        <p:txBody>
          <a:bodyPr wrap="square" lIns="0" tIns="0" rIns="0" bIns="0" rtlCol="0" anchor="ctr"/>
          <a:lstStyle/>
          <a:p>
            <a:pPr indent="0" marL="0">
              <a:buNone/>
            </a:pPr>
            <a:r>
              <a:rPr lang="en-US" sz="1500" b="1" dirty="0">
                <a:solidFill>
                  <a:srgbClr val="2C6E49"/>
                </a:solidFill>
                <a:latin typeface="Calibri" pitchFamily="34" charset="0"/>
                <a:ea typeface="Calibri" pitchFamily="34" charset="-122"/>
                <a:cs typeface="Calibri" pitchFamily="34" charset="-120"/>
              </a:rPr>
              <a:t>What a manager can act on</a:t>
            </a:r>
            <a:endParaRPr lang="en-US" sz="1500" dirty="0"/>
          </a:p>
        </p:txBody>
      </p:sp>
      <p:sp>
        <p:nvSpPr>
          <p:cNvPr id="12" name="Text 10"/>
          <p:cNvSpPr/>
          <p:nvPr/>
        </p:nvSpPr>
        <p:spPr>
          <a:xfrm>
            <a:off x="6583680" y="2788920"/>
            <a:ext cx="4846320" cy="2103120"/>
          </a:xfrm>
          <a:prstGeom prst="rect">
            <a:avLst/>
          </a:prstGeom>
          <a:noFill/>
          <a:ln/>
        </p:spPr>
        <p:txBody>
          <a:bodyPr wrap="square" lIns="0" tIns="0" rIns="0" bIns="0" rtlCol="0" anchor="ctr"/>
          <a:lstStyle/>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“12 rows blank Date, of 10,589.”</a:t>
            </a:r>
            <a:endParaRPr lang="en-US" sz="1300" dirty="0"/>
          </a:p>
          <a:p>
            <a:pPr indent="0" marL="0">
              <a:lnSpc>
                <a:spcPts val="1900"/>
              </a:lnSpc>
              <a:buNone/>
            </a:pPr>
            <a:endParaRPr lang="en-US" sz="1300" dirty="0"/>
          </a:p>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“40 rows across 6 branch-code variants.”</a:t>
            </a:r>
            <a:endParaRPr lang="en-US" sz="1300" dirty="0"/>
          </a:p>
          <a:p>
            <a:pPr indent="0" marL="0">
              <a:lnSpc>
                <a:spcPts val="1900"/>
              </a:lnSpc>
              <a:buNone/>
            </a:pPr>
            <a:endParaRPr lang="en-US" sz="1300" dirty="0"/>
          </a:p>
          <a:p>
            <a:pPr indent="0" marL="0">
              <a:lnSpc>
                <a:spcPts val="1900"/>
              </a:lnSpc>
              <a:buNone/>
            </a:pPr>
            <a:r>
              <a:rPr lang="en-US" sz="1300" dirty="0">
                <a:solidFill>
                  <a:srgbClr val="262626"/>
                </a:solidFill>
                <a:latin typeface="Calibri" pitchFamily="34" charset="0"/>
                <a:ea typeface="Calibri" pitchFamily="34" charset="-122"/>
                <a:cs typeface="Calibri" pitchFamily="34" charset="-120"/>
              </a:rPr>
              <a:t>“11 of 186 customers have no email.”</a:t>
            </a:r>
            <a:endParaRPr lang="en-US" sz="1300" dirty="0"/>
          </a:p>
        </p:txBody>
      </p:sp>
      <p:sp>
        <p:nvSpPr>
          <p:cNvPr id="13" name="Shape 11"/>
          <p:cNvSpPr/>
          <p:nvPr/>
        </p:nvSpPr>
        <p:spPr>
          <a:xfrm>
            <a:off x="548640" y="5349240"/>
            <a:ext cx="11091672" cy="960120"/>
          </a:xfrm>
          <a:prstGeom prst="roundRect">
            <a:avLst>
              <a:gd name="adj" fmla="val 6667"/>
            </a:avLst>
          </a:prstGeom>
          <a:solidFill>
            <a:srgbClr val="FFF7E6"/>
          </a:solidFill>
          <a:ln/>
        </p:spPr>
      </p:sp>
      <p:sp>
        <p:nvSpPr>
          <p:cNvPr id="14" name="Text 12"/>
          <p:cNvSpPr/>
          <p:nvPr/>
        </p:nvSpPr>
        <p:spPr>
          <a:xfrm>
            <a:off x="822960" y="5422392"/>
            <a:ext cx="10561320" cy="822960"/>
          </a:xfrm>
          <a:prstGeom prst="rect">
            <a:avLst/>
          </a:prstGeom>
          <a:noFill/>
          <a:ln/>
        </p:spPr>
        <p:txBody>
          <a:bodyPr wrap="square" lIns="0" tIns="0" rIns="0" bIns="0" rtlCol="0" anchor="ctr"/>
          <a:lstStyle/>
          <a:p>
            <a:pPr indent="0" marL="0">
              <a:lnSpc>
                <a:spcPts val="1700"/>
              </a:lnSpc>
              <a:buNone/>
            </a:pPr>
            <a:r>
              <a:rPr lang="en-US" sz="1300" b="1" dirty="0">
                <a:solidFill>
                  <a:srgbClr val="262626"/>
                </a:solidFill>
                <a:latin typeface="Calibri" pitchFamily="34" charset="0"/>
                <a:ea typeface="Calibri" pitchFamily="34" charset="-122"/>
                <a:cs typeface="Calibri" pitchFamily="34" charset="-120"/>
              </a:rPr>
              <a:t>Both columns describe the same data. </a:t>
            </a:r>
            <a:pPr indent="0" marL="0">
              <a:lnSpc>
                <a:spcPts val="1700"/>
              </a:lnSpc>
              <a:buNone/>
            </a:pPr>
            <a:r>
              <a:rPr lang="en-US" sz="1300" dirty="0">
                <a:solidFill>
                  <a:srgbClr val="262626"/>
                </a:solidFill>
                <a:latin typeface="Calibri" pitchFamily="34" charset="0"/>
                <a:ea typeface="Calibri" pitchFamily="34" charset="-122"/>
                <a:cs typeface="Calibri" pitchFamily="34" charset="-120"/>
              </a:rPr>
              <a:t>Only one of them lets someone decide what to do about it. The difference is not effort — it is knowing which four buttons to press.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COUNTING AS TECHNIQUE</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Group by — distinct values with exact counts</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10</a:t>
            </a:r>
            <a:endParaRPr lang="en-US" sz="850" dirty="0"/>
          </a:p>
        </p:txBody>
      </p:sp>
      <p:sp>
        <p:nvSpPr>
          <p:cNvPr id="6" name="Text 4"/>
          <p:cNvSpPr/>
          <p:nvPr/>
        </p:nvSpPr>
        <p:spPr>
          <a:xfrm>
            <a:off x="548640" y="1417320"/>
            <a:ext cx="11091672" cy="411480"/>
          </a:xfrm>
          <a:prstGeom prst="rect">
            <a:avLst/>
          </a:prstGeom>
          <a:noFill/>
          <a:ln/>
        </p:spPr>
        <p:txBody>
          <a:bodyPr wrap="square" lIns="0" tIns="0" rIns="0" bIns="0" rtlCol="0" anchor="ctr"/>
          <a:lstStyle/>
          <a:p>
            <a:pPr indent="0" marL="0">
              <a:buNone/>
            </a:pPr>
            <a:r>
              <a:rPr lang="en-US" sz="1450" dirty="0">
                <a:solidFill>
                  <a:srgbClr val="262626"/>
                </a:solidFill>
                <a:latin typeface="Calibri" pitchFamily="34" charset="0"/>
                <a:ea typeface="Calibri" pitchFamily="34" charset="-122"/>
                <a:cs typeface="Calibri" pitchFamily="34" charset="-120"/>
              </a:rPr>
              <a:t>The workhorse. Turns a column into a table of every distinct value with the number of rows for each.</a:t>
            </a:r>
            <a:endParaRPr lang="en-US" sz="1450" dirty="0"/>
          </a:p>
        </p:txBody>
      </p:sp>
      <p:sp>
        <p:nvSpPr>
          <p:cNvPr id="7" name="Shape 5"/>
          <p:cNvSpPr/>
          <p:nvPr/>
        </p:nvSpPr>
        <p:spPr>
          <a:xfrm>
            <a:off x="548640" y="2011680"/>
            <a:ext cx="6035040" cy="731520"/>
          </a:xfrm>
          <a:prstGeom prst="roundRect">
            <a:avLst>
              <a:gd name="adj" fmla="val 8750"/>
            </a:avLst>
          </a:prstGeom>
          <a:solidFill>
            <a:srgbClr val="FAF2F3"/>
          </a:solidFill>
          <a:ln/>
        </p:spPr>
      </p:sp>
      <p:sp>
        <p:nvSpPr>
          <p:cNvPr id="8" name="Shape 6"/>
          <p:cNvSpPr/>
          <p:nvPr/>
        </p:nvSpPr>
        <p:spPr>
          <a:xfrm>
            <a:off x="713232" y="2103120"/>
            <a:ext cx="548640" cy="548640"/>
          </a:xfrm>
          <a:prstGeom prst="ellipse">
            <a:avLst/>
          </a:prstGeom>
          <a:solidFill>
            <a:srgbClr val="9D2235"/>
          </a:solidFill>
          <a:ln/>
        </p:spPr>
      </p:sp>
      <p:sp>
        <p:nvSpPr>
          <p:cNvPr id="9" name="Text 7"/>
          <p:cNvSpPr/>
          <p:nvPr/>
        </p:nvSpPr>
        <p:spPr>
          <a:xfrm>
            <a:off x="713232" y="21031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10" name="Text 8"/>
          <p:cNvSpPr/>
          <p:nvPr/>
        </p:nvSpPr>
        <p:spPr>
          <a:xfrm>
            <a:off x="1463040" y="2066544"/>
            <a:ext cx="3017520" cy="621792"/>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Right-click the column header</a:t>
            </a:r>
            <a:endParaRPr lang="en-US" sz="1300" dirty="0"/>
          </a:p>
        </p:txBody>
      </p:sp>
      <p:sp>
        <p:nvSpPr>
          <p:cNvPr id="11" name="Text 9"/>
          <p:cNvSpPr/>
          <p:nvPr/>
        </p:nvSpPr>
        <p:spPr>
          <a:xfrm>
            <a:off x="4526280" y="2066544"/>
            <a:ext cx="1920240" cy="621792"/>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BranchID, in tblSales</a:t>
            </a:r>
            <a:endParaRPr lang="en-US" sz="1100" dirty="0"/>
          </a:p>
        </p:txBody>
      </p:sp>
      <p:sp>
        <p:nvSpPr>
          <p:cNvPr id="12" name="Shape 10"/>
          <p:cNvSpPr/>
          <p:nvPr/>
        </p:nvSpPr>
        <p:spPr>
          <a:xfrm>
            <a:off x="548640" y="2852928"/>
            <a:ext cx="6035040" cy="731520"/>
          </a:xfrm>
          <a:prstGeom prst="roundRect">
            <a:avLst>
              <a:gd name="adj" fmla="val 8750"/>
            </a:avLst>
          </a:prstGeom>
          <a:solidFill>
            <a:srgbClr val="FAF2F3"/>
          </a:solidFill>
          <a:ln/>
        </p:spPr>
      </p:sp>
      <p:sp>
        <p:nvSpPr>
          <p:cNvPr id="13" name="Shape 11"/>
          <p:cNvSpPr/>
          <p:nvPr/>
        </p:nvSpPr>
        <p:spPr>
          <a:xfrm>
            <a:off x="713232" y="2944368"/>
            <a:ext cx="548640" cy="548640"/>
          </a:xfrm>
          <a:prstGeom prst="ellipse">
            <a:avLst/>
          </a:prstGeom>
          <a:solidFill>
            <a:srgbClr val="9D2235"/>
          </a:solidFill>
          <a:ln/>
        </p:spPr>
      </p:sp>
      <p:sp>
        <p:nvSpPr>
          <p:cNvPr id="14" name="Text 12"/>
          <p:cNvSpPr/>
          <p:nvPr/>
        </p:nvSpPr>
        <p:spPr>
          <a:xfrm>
            <a:off x="713232" y="2944368"/>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5" name="Text 13"/>
          <p:cNvSpPr/>
          <p:nvPr/>
        </p:nvSpPr>
        <p:spPr>
          <a:xfrm>
            <a:off x="1463040" y="2907792"/>
            <a:ext cx="3017520" cy="621792"/>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Choose Group by</a:t>
            </a:r>
            <a:endParaRPr lang="en-US" sz="1300" dirty="0"/>
          </a:p>
        </p:txBody>
      </p:sp>
      <p:sp>
        <p:nvSpPr>
          <p:cNvPr id="16" name="Text 14"/>
          <p:cNvSpPr/>
          <p:nvPr/>
        </p:nvSpPr>
        <p:spPr>
          <a:xfrm>
            <a:off x="4526280" y="2907792"/>
            <a:ext cx="1920240" cy="621792"/>
          </a:xfrm>
          <a:prstGeom prst="rect">
            <a:avLst/>
          </a:prstGeom>
          <a:noFill/>
          <a:ln/>
        </p:spPr>
        <p:txBody>
          <a:bodyPr wrap="square" lIns="0" tIns="0" rIns="0" bIns="0" rtlCol="0" anchor="ctr"/>
          <a:lstStyle/>
          <a:p>
            <a:pPr indent="0" marL="0">
              <a:buNone/>
            </a:pPr>
            <a:endParaRPr lang="en-US" sz="1100" dirty="0"/>
          </a:p>
        </p:txBody>
      </p:sp>
      <p:sp>
        <p:nvSpPr>
          <p:cNvPr id="17" name="Shape 15"/>
          <p:cNvSpPr/>
          <p:nvPr/>
        </p:nvSpPr>
        <p:spPr>
          <a:xfrm>
            <a:off x="548640" y="3694176"/>
            <a:ext cx="6035040" cy="731520"/>
          </a:xfrm>
          <a:prstGeom prst="roundRect">
            <a:avLst>
              <a:gd name="adj" fmla="val 8750"/>
            </a:avLst>
          </a:prstGeom>
          <a:solidFill>
            <a:srgbClr val="FAF2F3"/>
          </a:solidFill>
          <a:ln/>
        </p:spPr>
      </p:sp>
      <p:sp>
        <p:nvSpPr>
          <p:cNvPr id="18" name="Shape 16"/>
          <p:cNvSpPr/>
          <p:nvPr/>
        </p:nvSpPr>
        <p:spPr>
          <a:xfrm>
            <a:off x="713232" y="3785616"/>
            <a:ext cx="548640" cy="548640"/>
          </a:xfrm>
          <a:prstGeom prst="ellipse">
            <a:avLst/>
          </a:prstGeom>
          <a:solidFill>
            <a:srgbClr val="9D2235"/>
          </a:solidFill>
          <a:ln/>
        </p:spPr>
      </p:sp>
      <p:sp>
        <p:nvSpPr>
          <p:cNvPr id="19" name="Text 17"/>
          <p:cNvSpPr/>
          <p:nvPr/>
        </p:nvSpPr>
        <p:spPr>
          <a:xfrm>
            <a:off x="713232" y="3785616"/>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20" name="Text 18"/>
          <p:cNvSpPr/>
          <p:nvPr/>
        </p:nvSpPr>
        <p:spPr>
          <a:xfrm>
            <a:off x="1463040" y="3749040"/>
            <a:ext cx="3017520" cy="621792"/>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New column name: Count</a:t>
            </a:r>
            <a:endParaRPr lang="en-US" sz="1300" dirty="0"/>
          </a:p>
        </p:txBody>
      </p:sp>
      <p:sp>
        <p:nvSpPr>
          <p:cNvPr id="21" name="Text 19"/>
          <p:cNvSpPr/>
          <p:nvPr/>
        </p:nvSpPr>
        <p:spPr>
          <a:xfrm>
            <a:off x="4526280" y="3749040"/>
            <a:ext cx="1920240" cy="621792"/>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Operation: Count rows</a:t>
            </a:r>
            <a:endParaRPr lang="en-US" sz="1100" dirty="0"/>
          </a:p>
        </p:txBody>
      </p:sp>
      <p:sp>
        <p:nvSpPr>
          <p:cNvPr id="22" name="Shape 20"/>
          <p:cNvSpPr/>
          <p:nvPr/>
        </p:nvSpPr>
        <p:spPr>
          <a:xfrm>
            <a:off x="548640" y="4535424"/>
            <a:ext cx="6035040" cy="731520"/>
          </a:xfrm>
          <a:prstGeom prst="roundRect">
            <a:avLst>
              <a:gd name="adj" fmla="val 8750"/>
            </a:avLst>
          </a:prstGeom>
          <a:solidFill>
            <a:srgbClr val="FAF2F3"/>
          </a:solidFill>
          <a:ln/>
        </p:spPr>
      </p:sp>
      <p:sp>
        <p:nvSpPr>
          <p:cNvPr id="23" name="Shape 21"/>
          <p:cNvSpPr/>
          <p:nvPr/>
        </p:nvSpPr>
        <p:spPr>
          <a:xfrm>
            <a:off x="713232" y="4626864"/>
            <a:ext cx="548640" cy="548640"/>
          </a:xfrm>
          <a:prstGeom prst="ellipse">
            <a:avLst/>
          </a:prstGeom>
          <a:solidFill>
            <a:srgbClr val="9D2235"/>
          </a:solidFill>
          <a:ln/>
        </p:spPr>
      </p:sp>
      <p:sp>
        <p:nvSpPr>
          <p:cNvPr id="24" name="Text 22"/>
          <p:cNvSpPr/>
          <p:nvPr/>
        </p:nvSpPr>
        <p:spPr>
          <a:xfrm>
            <a:off x="713232" y="4626864"/>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5" name="Text 23"/>
          <p:cNvSpPr/>
          <p:nvPr/>
        </p:nvSpPr>
        <p:spPr>
          <a:xfrm>
            <a:off x="1463040" y="4590288"/>
            <a:ext cx="3017520" cy="621792"/>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OK</a:t>
            </a:r>
            <a:endParaRPr lang="en-US" sz="1300" dirty="0"/>
          </a:p>
        </p:txBody>
      </p:sp>
      <p:sp>
        <p:nvSpPr>
          <p:cNvPr id="26" name="Text 24"/>
          <p:cNvSpPr/>
          <p:nvPr/>
        </p:nvSpPr>
        <p:spPr>
          <a:xfrm>
            <a:off x="4526280" y="4590288"/>
            <a:ext cx="1920240" cy="621792"/>
          </a:xfrm>
          <a:prstGeom prst="rect">
            <a:avLst/>
          </a:prstGeom>
          <a:noFill/>
          <a:ln/>
        </p:spPr>
        <p:txBody>
          <a:bodyPr wrap="square" lIns="0" tIns="0" rIns="0" bIns="0" rtlCol="0" anchor="ctr"/>
          <a:lstStyle/>
          <a:p>
            <a:pPr indent="0" marL="0">
              <a:buNone/>
            </a:pPr>
            <a:r>
              <a:rPr lang="en-US" sz="1100" dirty="0">
                <a:solidFill>
                  <a:srgbClr val="6E6E6E"/>
                </a:solidFill>
                <a:latin typeface="Calibri" pitchFamily="34" charset="0"/>
                <a:ea typeface="Calibri" pitchFamily="34" charset="-122"/>
                <a:cs typeface="Calibri" pitchFamily="34" charset="-120"/>
              </a:rPr>
              <a:t>Read the table</a:t>
            </a:r>
            <a:endParaRPr lang="en-US" sz="1100" dirty="0"/>
          </a:p>
        </p:txBody>
      </p:sp>
      <p:sp>
        <p:nvSpPr>
          <p:cNvPr id="27" name="Shape 25"/>
          <p:cNvSpPr/>
          <p:nvPr/>
        </p:nvSpPr>
        <p:spPr>
          <a:xfrm>
            <a:off x="6858000" y="2011680"/>
            <a:ext cx="4782312" cy="3291840"/>
          </a:xfrm>
          <a:prstGeom prst="roundRect">
            <a:avLst>
              <a:gd name="adj" fmla="val 1944"/>
            </a:avLst>
          </a:prstGeom>
          <a:solidFill>
            <a:srgbClr val="3F0D18"/>
          </a:solidFill>
          <a:ln/>
        </p:spPr>
      </p:sp>
      <p:sp>
        <p:nvSpPr>
          <p:cNvPr id="28" name="Text 26"/>
          <p:cNvSpPr/>
          <p:nvPr/>
        </p:nvSpPr>
        <p:spPr>
          <a:xfrm>
            <a:off x="7132320" y="2240280"/>
            <a:ext cx="4206240" cy="365760"/>
          </a:xfrm>
          <a:prstGeom prst="rect">
            <a:avLst/>
          </a:prstGeom>
          <a:noFill/>
          <a:ln/>
        </p:spPr>
        <p:txBody>
          <a:bodyPr wrap="square" lIns="0" tIns="0" rIns="0" bIns="0" rtlCol="0" anchor="ctr"/>
          <a:lstStyle/>
          <a:p>
            <a:pPr indent="0" marL="0">
              <a:buNone/>
            </a:pPr>
            <a:r>
              <a:rPr lang="en-US" sz="1500" b="1" dirty="0">
                <a:solidFill>
                  <a:srgbClr val="E3B23C"/>
                </a:solidFill>
                <a:latin typeface="Calibri" pitchFamily="34" charset="0"/>
                <a:ea typeface="Calibri" pitchFamily="34" charset="-122"/>
                <a:cs typeface="Calibri" pitchFamily="34" charset="-120"/>
              </a:rPr>
              <a:t>Do it on a copy</a:t>
            </a:r>
            <a:endParaRPr lang="en-US" sz="1500" dirty="0"/>
          </a:p>
        </p:txBody>
      </p:sp>
      <p:sp>
        <p:nvSpPr>
          <p:cNvPr id="29" name="Text 27"/>
          <p:cNvSpPr/>
          <p:nvPr/>
        </p:nvSpPr>
        <p:spPr>
          <a:xfrm>
            <a:off x="7132320" y="2697480"/>
            <a:ext cx="4251960" cy="2468880"/>
          </a:xfrm>
          <a:prstGeom prst="rect">
            <a:avLst/>
          </a:prstGeom>
          <a:noFill/>
          <a:ln/>
        </p:spPr>
        <p:txBody>
          <a:bodyPr wrap="square" lIns="0" tIns="0" rIns="0" bIns="0" rtlCol="0" anchor="ctr"/>
          <a:lstStyle/>
          <a:p>
            <a:pPr indent="0" marL="0">
              <a:lnSpc>
                <a:spcPts val="1600"/>
              </a:lnSpc>
              <a:buNone/>
            </a:pPr>
            <a:r>
              <a:rPr lang="en-US" sz="1150" dirty="0">
                <a:solidFill>
                  <a:srgbClr val="EFDFE2"/>
                </a:solidFill>
                <a:latin typeface="Calibri" pitchFamily="34" charset="0"/>
                <a:ea typeface="Calibri" pitchFamily="34" charset="-122"/>
                <a:cs typeface="Calibri" pitchFamily="34" charset="-120"/>
              </a:rPr>
              <a:t>Counting changes your query. Right-click the query name → Duplicate, count in the copy, delete the copy when done.</a:t>
            </a:r>
            <a:endParaRPr lang="en-US" sz="1150" dirty="0"/>
          </a:p>
          <a:p>
            <a:pPr indent="0" marL="0">
              <a:lnSpc>
                <a:spcPts val="1600"/>
              </a:lnSpc>
              <a:buNone/>
            </a:pPr>
            <a:endParaRPr lang="en-US" sz="1150" dirty="0"/>
          </a:p>
          <a:p>
            <a:pPr indent="0" marL="0">
              <a:lnSpc>
                <a:spcPts val="1600"/>
              </a:lnSpc>
              <a:buNone/>
            </a:pPr>
            <a:r>
              <a:rPr lang="en-US" sz="1150" dirty="0">
                <a:solidFill>
                  <a:srgbClr val="EFDFE2"/>
                </a:solidFill>
                <a:latin typeface="Calibri" pitchFamily="34" charset="0"/>
                <a:ea typeface="Calibri" pitchFamily="34" charset="-122"/>
                <a:cs typeface="Calibri" pitchFamily="34" charset="-120"/>
              </a:rPr>
              <a:t>Or add the step, read the number, then remove it with the ✕ in Applied steps.</a:t>
            </a:r>
            <a:endParaRPr lang="en-US" sz="1150" dirty="0"/>
          </a:p>
          <a:p>
            <a:pPr indent="0" marL="0">
              <a:lnSpc>
                <a:spcPts val="1600"/>
              </a:lnSpc>
              <a:buNone/>
            </a:pPr>
            <a:endParaRPr lang="en-US" sz="1150" dirty="0"/>
          </a:p>
          <a:p>
            <a:pPr indent="0" marL="0">
              <a:lnSpc>
                <a:spcPts val="1600"/>
              </a:lnSpc>
              <a:buNone/>
            </a:pPr>
            <a:r>
              <a:rPr lang="en-US" sz="1150" b="1" dirty="0">
                <a:solidFill>
                  <a:srgbClr val="E3B23C"/>
                </a:solidFill>
                <a:latin typeface="Calibri" pitchFamily="34" charset="0"/>
                <a:ea typeface="Calibri" pitchFamily="34" charset="-122"/>
                <a:cs typeface="Calibri" pitchFamily="34" charset="-120"/>
              </a:rPr>
              <a:t>A query is a recipe, not a scratchpad.</a:t>
            </a:r>
            <a:endParaRPr lang="en-US" sz="1150" dirty="0"/>
          </a:p>
        </p:txBody>
      </p:sp>
      <p:sp>
        <p:nvSpPr>
          <p:cNvPr id="30" name="Text 28"/>
          <p:cNvSpPr/>
          <p:nvPr/>
        </p:nvSpPr>
        <p:spPr>
          <a:xfrm>
            <a:off x="548640" y="5532120"/>
            <a:ext cx="11091672" cy="36576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Run it now on tblSales[BranchID]. You should get 12 rows.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COUNTING AS TECHNIQUE</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Now sort it, and look carefully</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11</a:t>
            </a:r>
            <a:endParaRPr lang="en-US" sz="850" dirty="0"/>
          </a:p>
        </p:txBody>
      </p:sp>
      <p:sp>
        <p:nvSpPr>
          <p:cNvPr id="6" name="Shape 4"/>
          <p:cNvSpPr/>
          <p:nvPr/>
        </p:nvSpPr>
        <p:spPr>
          <a:xfrm>
            <a:off x="548640" y="1572768"/>
            <a:ext cx="2834640" cy="566928"/>
          </a:xfrm>
          <a:prstGeom prst="roundRect">
            <a:avLst>
              <a:gd name="adj" fmla="val 11290"/>
            </a:avLst>
          </a:prstGeom>
          <a:solidFill>
            <a:srgbClr val="FAF2F3"/>
          </a:solidFill>
          <a:ln/>
        </p:spPr>
      </p:sp>
      <p:sp>
        <p:nvSpPr>
          <p:cNvPr id="7" name="Text 5"/>
          <p:cNvSpPr/>
          <p:nvPr/>
        </p:nvSpPr>
        <p:spPr>
          <a:xfrm>
            <a:off x="731520" y="1572768"/>
            <a:ext cx="1280160" cy="566928"/>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b04</a:t>
            </a:r>
            <a:endParaRPr lang="en-US" sz="1400" dirty="0"/>
          </a:p>
        </p:txBody>
      </p:sp>
      <p:sp>
        <p:nvSpPr>
          <p:cNvPr id="8" name="Text 6"/>
          <p:cNvSpPr/>
          <p:nvPr/>
        </p:nvSpPr>
        <p:spPr>
          <a:xfrm>
            <a:off x="2011680" y="1572768"/>
            <a:ext cx="1188720" cy="566928"/>
          </a:xfrm>
          <a:prstGeom prst="rect">
            <a:avLst/>
          </a:prstGeom>
          <a:noFill/>
          <a:ln/>
        </p:spPr>
        <p:txBody>
          <a:bodyPr wrap="square" lIns="0" tIns="0" rIns="0" bIns="0" rtlCol="0" anchor="ctr"/>
          <a:lstStyle/>
          <a:p>
            <a:pPr algn="r" indent="0" marL="0">
              <a:buNone/>
            </a:pPr>
            <a:r>
              <a:rPr lang="en-US" sz="1300" dirty="0">
                <a:solidFill>
                  <a:srgbClr val="6E6E6E"/>
                </a:solidFill>
                <a:latin typeface="Calibri" pitchFamily="34" charset="0"/>
                <a:ea typeface="Calibri" pitchFamily="34" charset="-122"/>
                <a:cs typeface="Calibri" pitchFamily="34" charset="-120"/>
              </a:rPr>
              <a:t>5</a:t>
            </a:r>
            <a:endParaRPr lang="en-US" sz="1300" dirty="0"/>
          </a:p>
        </p:txBody>
      </p:sp>
      <p:sp>
        <p:nvSpPr>
          <p:cNvPr id="9" name="Shape 7"/>
          <p:cNvSpPr/>
          <p:nvPr/>
        </p:nvSpPr>
        <p:spPr>
          <a:xfrm>
            <a:off x="548640" y="2231136"/>
            <a:ext cx="2834640" cy="566928"/>
          </a:xfrm>
          <a:prstGeom prst="roundRect">
            <a:avLst>
              <a:gd name="adj" fmla="val 11290"/>
            </a:avLst>
          </a:prstGeom>
          <a:solidFill>
            <a:srgbClr val="FAF2F3"/>
          </a:solidFill>
          <a:ln/>
        </p:spPr>
      </p:sp>
      <p:sp>
        <p:nvSpPr>
          <p:cNvPr id="10" name="Text 8"/>
          <p:cNvSpPr/>
          <p:nvPr/>
        </p:nvSpPr>
        <p:spPr>
          <a:xfrm>
            <a:off x="731520" y="2231136"/>
            <a:ext cx="1280160" cy="566928"/>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b01</a:t>
            </a:r>
            <a:endParaRPr lang="en-US" sz="1400" dirty="0"/>
          </a:p>
        </p:txBody>
      </p:sp>
      <p:sp>
        <p:nvSpPr>
          <p:cNvPr id="11" name="Text 9"/>
          <p:cNvSpPr/>
          <p:nvPr/>
        </p:nvSpPr>
        <p:spPr>
          <a:xfrm>
            <a:off x="2011680" y="2231136"/>
            <a:ext cx="1188720" cy="566928"/>
          </a:xfrm>
          <a:prstGeom prst="rect">
            <a:avLst/>
          </a:prstGeom>
          <a:noFill/>
          <a:ln/>
        </p:spPr>
        <p:txBody>
          <a:bodyPr wrap="square" lIns="0" tIns="0" rIns="0" bIns="0" rtlCol="0" anchor="ctr"/>
          <a:lstStyle/>
          <a:p>
            <a:pPr algn="r" indent="0" marL="0">
              <a:buNone/>
            </a:pPr>
            <a:r>
              <a:rPr lang="en-US" sz="1300" dirty="0">
                <a:solidFill>
                  <a:srgbClr val="6E6E6E"/>
                </a:solidFill>
                <a:latin typeface="Calibri" pitchFamily="34" charset="0"/>
                <a:ea typeface="Calibri" pitchFamily="34" charset="-122"/>
                <a:cs typeface="Calibri" pitchFamily="34" charset="-120"/>
              </a:rPr>
              <a:t>12</a:t>
            </a:r>
            <a:endParaRPr lang="en-US" sz="1300" dirty="0"/>
          </a:p>
        </p:txBody>
      </p:sp>
      <p:sp>
        <p:nvSpPr>
          <p:cNvPr id="12" name="Shape 10"/>
          <p:cNvSpPr/>
          <p:nvPr/>
        </p:nvSpPr>
        <p:spPr>
          <a:xfrm>
            <a:off x="548640" y="2889504"/>
            <a:ext cx="2834640" cy="566928"/>
          </a:xfrm>
          <a:prstGeom prst="roundRect">
            <a:avLst>
              <a:gd name="adj" fmla="val 11290"/>
            </a:avLst>
          </a:prstGeom>
          <a:solidFill>
            <a:srgbClr val="FFE8EA"/>
          </a:solidFill>
          <a:ln/>
        </p:spPr>
      </p:sp>
      <p:sp>
        <p:nvSpPr>
          <p:cNvPr id="13" name="Text 11"/>
          <p:cNvSpPr/>
          <p:nvPr/>
        </p:nvSpPr>
        <p:spPr>
          <a:xfrm>
            <a:off x="731520" y="2889504"/>
            <a:ext cx="1280160" cy="566928"/>
          </a:xfrm>
          <a:prstGeom prst="rect">
            <a:avLst/>
          </a:prstGeom>
          <a:noFill/>
          <a:ln/>
        </p:spPr>
        <p:txBody>
          <a:bodyPr wrap="square" lIns="0" tIns="0" rIns="0" bIns="0" rtlCol="0" anchor="ctr"/>
          <a:lstStyle/>
          <a:p>
            <a:pPr indent="0" marL="0">
              <a:buNone/>
            </a:pPr>
            <a:r>
              <a:rPr lang="en-US" sz="1400" b="1" dirty="0">
                <a:solidFill>
                  <a:srgbClr val="9D2235"/>
                </a:solidFill>
                <a:latin typeface="Courier New" pitchFamily="34" charset="0"/>
                <a:ea typeface="Courier New" pitchFamily="34" charset="-122"/>
                <a:cs typeface="Courier New" pitchFamily="34" charset="-120"/>
              </a:rPr>
              <a:t>B06</a:t>
            </a:r>
            <a:endParaRPr lang="en-US" sz="1400" dirty="0"/>
          </a:p>
        </p:txBody>
      </p:sp>
      <p:sp>
        <p:nvSpPr>
          <p:cNvPr id="14" name="Text 12"/>
          <p:cNvSpPr/>
          <p:nvPr/>
        </p:nvSpPr>
        <p:spPr>
          <a:xfrm>
            <a:off x="2011680" y="2889504"/>
            <a:ext cx="1188720" cy="566928"/>
          </a:xfrm>
          <a:prstGeom prst="rect">
            <a:avLst/>
          </a:prstGeom>
          <a:noFill/>
          <a:ln/>
        </p:spPr>
        <p:txBody>
          <a:bodyPr wrap="square" lIns="0" tIns="0" rIns="0" bIns="0" rtlCol="0" anchor="ctr"/>
          <a:lstStyle/>
          <a:p>
            <a:pPr algn="r" indent="0" marL="0">
              <a:buNone/>
            </a:pPr>
            <a:r>
              <a:rPr lang="en-US" sz="1300" dirty="0">
                <a:solidFill>
                  <a:srgbClr val="9D2235"/>
                </a:solidFill>
                <a:latin typeface="Calibri" pitchFamily="34" charset="0"/>
                <a:ea typeface="Calibri" pitchFamily="34" charset="-122"/>
                <a:cs typeface="Calibri" pitchFamily="34" charset="-120"/>
              </a:rPr>
              <a:t>4</a:t>
            </a:r>
            <a:endParaRPr lang="en-US" sz="1300" dirty="0"/>
          </a:p>
        </p:txBody>
      </p:sp>
      <p:sp>
        <p:nvSpPr>
          <p:cNvPr id="15" name="Shape 13"/>
          <p:cNvSpPr/>
          <p:nvPr/>
        </p:nvSpPr>
        <p:spPr>
          <a:xfrm>
            <a:off x="548640" y="3547872"/>
            <a:ext cx="2834640" cy="566928"/>
          </a:xfrm>
          <a:prstGeom prst="roundRect">
            <a:avLst>
              <a:gd name="adj" fmla="val 11290"/>
            </a:avLst>
          </a:prstGeom>
          <a:solidFill>
            <a:srgbClr val="FFE8EA"/>
          </a:solidFill>
          <a:ln/>
        </p:spPr>
      </p:sp>
      <p:sp>
        <p:nvSpPr>
          <p:cNvPr id="16" name="Text 14"/>
          <p:cNvSpPr/>
          <p:nvPr/>
        </p:nvSpPr>
        <p:spPr>
          <a:xfrm>
            <a:off x="731520" y="3547872"/>
            <a:ext cx="1280160" cy="566928"/>
          </a:xfrm>
          <a:prstGeom prst="rect">
            <a:avLst/>
          </a:prstGeom>
          <a:noFill/>
          <a:ln/>
        </p:spPr>
        <p:txBody>
          <a:bodyPr wrap="square" lIns="0" tIns="0" rIns="0" bIns="0" rtlCol="0" anchor="ctr"/>
          <a:lstStyle/>
          <a:p>
            <a:pPr indent="0" marL="0">
              <a:buNone/>
            </a:pPr>
            <a:r>
              <a:rPr lang="en-US" sz="1400" b="1" dirty="0">
                <a:solidFill>
                  <a:srgbClr val="9D2235"/>
                </a:solidFill>
                <a:latin typeface="Courier New" pitchFamily="34" charset="0"/>
                <a:ea typeface="Courier New" pitchFamily="34" charset="-122"/>
                <a:cs typeface="Courier New" pitchFamily="34" charset="-120"/>
              </a:rPr>
              <a:t>B06</a:t>
            </a:r>
            <a:endParaRPr lang="en-US" sz="1400" dirty="0"/>
          </a:p>
        </p:txBody>
      </p:sp>
      <p:sp>
        <p:nvSpPr>
          <p:cNvPr id="17" name="Text 15"/>
          <p:cNvSpPr/>
          <p:nvPr/>
        </p:nvSpPr>
        <p:spPr>
          <a:xfrm>
            <a:off x="2011680" y="3547872"/>
            <a:ext cx="1188720" cy="566928"/>
          </a:xfrm>
          <a:prstGeom prst="rect">
            <a:avLst/>
          </a:prstGeom>
          <a:noFill/>
          <a:ln/>
        </p:spPr>
        <p:txBody>
          <a:bodyPr wrap="square" lIns="0" tIns="0" rIns="0" bIns="0" rtlCol="0" anchor="ctr"/>
          <a:lstStyle/>
          <a:p>
            <a:pPr algn="r" indent="0" marL="0">
              <a:buNone/>
            </a:pPr>
            <a:r>
              <a:rPr lang="en-US" sz="1300" dirty="0">
                <a:solidFill>
                  <a:srgbClr val="9D2235"/>
                </a:solidFill>
                <a:latin typeface="Calibri" pitchFamily="34" charset="0"/>
                <a:ea typeface="Calibri" pitchFamily="34" charset="-122"/>
                <a:cs typeface="Calibri" pitchFamily="34" charset="-120"/>
              </a:rPr>
              <a:t>885</a:t>
            </a:r>
            <a:endParaRPr lang="en-US" sz="1300" dirty="0"/>
          </a:p>
        </p:txBody>
      </p:sp>
      <p:sp>
        <p:nvSpPr>
          <p:cNvPr id="18" name="Shape 16"/>
          <p:cNvSpPr/>
          <p:nvPr/>
        </p:nvSpPr>
        <p:spPr>
          <a:xfrm>
            <a:off x="548640" y="4206240"/>
            <a:ext cx="2834640" cy="566928"/>
          </a:xfrm>
          <a:prstGeom prst="roundRect">
            <a:avLst>
              <a:gd name="adj" fmla="val 11290"/>
            </a:avLst>
          </a:prstGeom>
          <a:solidFill>
            <a:srgbClr val="FAF2F3"/>
          </a:solidFill>
          <a:ln/>
        </p:spPr>
      </p:sp>
      <p:sp>
        <p:nvSpPr>
          <p:cNvPr id="19" name="Text 17"/>
          <p:cNvSpPr/>
          <p:nvPr/>
        </p:nvSpPr>
        <p:spPr>
          <a:xfrm>
            <a:off x="731520" y="4206240"/>
            <a:ext cx="1280160" cy="566928"/>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B05</a:t>
            </a:r>
            <a:endParaRPr lang="en-US" sz="1400" dirty="0"/>
          </a:p>
        </p:txBody>
      </p:sp>
      <p:sp>
        <p:nvSpPr>
          <p:cNvPr id="20" name="Text 18"/>
          <p:cNvSpPr/>
          <p:nvPr/>
        </p:nvSpPr>
        <p:spPr>
          <a:xfrm>
            <a:off x="2011680" y="4206240"/>
            <a:ext cx="1188720" cy="566928"/>
          </a:xfrm>
          <a:prstGeom prst="rect">
            <a:avLst/>
          </a:prstGeom>
          <a:noFill/>
          <a:ln/>
        </p:spPr>
        <p:txBody>
          <a:bodyPr wrap="square" lIns="0" tIns="0" rIns="0" bIns="0" rtlCol="0" anchor="ctr"/>
          <a:lstStyle/>
          <a:p>
            <a:pPr algn="r" indent="0" marL="0">
              <a:buNone/>
            </a:pPr>
            <a:r>
              <a:rPr lang="en-US" sz="1300" dirty="0">
                <a:solidFill>
                  <a:srgbClr val="6E6E6E"/>
                </a:solidFill>
                <a:latin typeface="Calibri" pitchFamily="34" charset="0"/>
                <a:ea typeface="Calibri" pitchFamily="34" charset="-122"/>
                <a:cs typeface="Calibri" pitchFamily="34" charset="-120"/>
              </a:rPr>
              <a:t>1707</a:t>
            </a:r>
            <a:endParaRPr lang="en-US" sz="1300" dirty="0"/>
          </a:p>
        </p:txBody>
      </p:sp>
      <p:sp>
        <p:nvSpPr>
          <p:cNvPr id="21" name="Shape 19"/>
          <p:cNvSpPr/>
          <p:nvPr/>
        </p:nvSpPr>
        <p:spPr>
          <a:xfrm>
            <a:off x="548640" y="4864608"/>
            <a:ext cx="2834640" cy="566928"/>
          </a:xfrm>
          <a:prstGeom prst="roundRect">
            <a:avLst>
              <a:gd name="adj" fmla="val 11290"/>
            </a:avLst>
          </a:prstGeom>
          <a:solidFill>
            <a:srgbClr val="FAF2F3"/>
          </a:solidFill>
          <a:ln/>
        </p:spPr>
      </p:sp>
      <p:sp>
        <p:nvSpPr>
          <p:cNvPr id="22" name="Text 20"/>
          <p:cNvSpPr/>
          <p:nvPr/>
        </p:nvSpPr>
        <p:spPr>
          <a:xfrm>
            <a:off x="731520" y="4864608"/>
            <a:ext cx="1280160" cy="566928"/>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B04</a:t>
            </a:r>
            <a:endParaRPr lang="en-US" sz="1400" dirty="0"/>
          </a:p>
        </p:txBody>
      </p:sp>
      <p:sp>
        <p:nvSpPr>
          <p:cNvPr id="23" name="Text 21"/>
          <p:cNvSpPr/>
          <p:nvPr/>
        </p:nvSpPr>
        <p:spPr>
          <a:xfrm>
            <a:off x="2011680" y="4864608"/>
            <a:ext cx="1188720" cy="566928"/>
          </a:xfrm>
          <a:prstGeom prst="rect">
            <a:avLst/>
          </a:prstGeom>
          <a:noFill/>
          <a:ln/>
        </p:spPr>
        <p:txBody>
          <a:bodyPr wrap="square" lIns="0" tIns="0" rIns="0" bIns="0" rtlCol="0" anchor="ctr"/>
          <a:lstStyle/>
          <a:p>
            <a:pPr algn="r" indent="0" marL="0">
              <a:buNone/>
            </a:pPr>
            <a:r>
              <a:rPr lang="en-US" sz="1300" dirty="0">
                <a:solidFill>
                  <a:srgbClr val="6E6E6E"/>
                </a:solidFill>
                <a:latin typeface="Calibri" pitchFamily="34" charset="0"/>
                <a:ea typeface="Calibri" pitchFamily="34" charset="-122"/>
                <a:cs typeface="Calibri" pitchFamily="34" charset="-120"/>
              </a:rPr>
              <a:t>1462</a:t>
            </a:r>
            <a:endParaRPr lang="en-US" sz="1300" dirty="0"/>
          </a:p>
        </p:txBody>
      </p:sp>
      <p:sp>
        <p:nvSpPr>
          <p:cNvPr id="24" name="Shape 22"/>
          <p:cNvSpPr/>
          <p:nvPr/>
        </p:nvSpPr>
        <p:spPr>
          <a:xfrm>
            <a:off x="3566160" y="1572768"/>
            <a:ext cx="2834640" cy="566928"/>
          </a:xfrm>
          <a:prstGeom prst="roundRect">
            <a:avLst>
              <a:gd name="adj" fmla="val 11290"/>
            </a:avLst>
          </a:prstGeom>
          <a:solidFill>
            <a:srgbClr val="FFE8EA"/>
          </a:solidFill>
          <a:ln/>
        </p:spPr>
      </p:sp>
      <p:sp>
        <p:nvSpPr>
          <p:cNvPr id="25" name="Text 23"/>
          <p:cNvSpPr/>
          <p:nvPr/>
        </p:nvSpPr>
        <p:spPr>
          <a:xfrm>
            <a:off x="3749040" y="1572768"/>
            <a:ext cx="1280160" cy="566928"/>
          </a:xfrm>
          <a:prstGeom prst="rect">
            <a:avLst/>
          </a:prstGeom>
          <a:noFill/>
          <a:ln/>
        </p:spPr>
        <p:txBody>
          <a:bodyPr wrap="square" lIns="0" tIns="0" rIns="0" bIns="0" rtlCol="0" anchor="ctr"/>
          <a:lstStyle/>
          <a:p>
            <a:pPr indent="0" marL="0">
              <a:buNone/>
            </a:pPr>
            <a:r>
              <a:rPr lang="en-US" sz="1400" b="1" dirty="0">
                <a:solidFill>
                  <a:srgbClr val="9D2235"/>
                </a:solidFill>
                <a:latin typeface="Courier New" pitchFamily="34" charset="0"/>
                <a:ea typeface="Courier New" pitchFamily="34" charset="-122"/>
                <a:cs typeface="Courier New" pitchFamily="34" charset="-120"/>
              </a:rPr>
              <a:t>B03</a:t>
            </a:r>
            <a:endParaRPr lang="en-US" sz="1400" dirty="0"/>
          </a:p>
        </p:txBody>
      </p:sp>
      <p:sp>
        <p:nvSpPr>
          <p:cNvPr id="26" name="Text 24"/>
          <p:cNvSpPr/>
          <p:nvPr/>
        </p:nvSpPr>
        <p:spPr>
          <a:xfrm>
            <a:off x="5029200" y="1572768"/>
            <a:ext cx="1188720" cy="566928"/>
          </a:xfrm>
          <a:prstGeom prst="rect">
            <a:avLst/>
          </a:prstGeom>
          <a:noFill/>
          <a:ln/>
        </p:spPr>
        <p:txBody>
          <a:bodyPr wrap="square" lIns="0" tIns="0" rIns="0" bIns="0" rtlCol="0" anchor="ctr"/>
          <a:lstStyle/>
          <a:p>
            <a:pPr algn="r" indent="0" marL="0">
              <a:buNone/>
            </a:pPr>
            <a:r>
              <a:rPr lang="en-US" sz="1300" dirty="0">
                <a:solidFill>
                  <a:srgbClr val="9D2235"/>
                </a:solidFill>
                <a:latin typeface="Calibri" pitchFamily="34" charset="0"/>
                <a:ea typeface="Calibri" pitchFamily="34" charset="-122"/>
                <a:cs typeface="Calibri" pitchFamily="34" charset="-120"/>
              </a:rPr>
              <a:t>7</a:t>
            </a:r>
            <a:endParaRPr lang="en-US" sz="1300" dirty="0"/>
          </a:p>
        </p:txBody>
      </p:sp>
      <p:sp>
        <p:nvSpPr>
          <p:cNvPr id="27" name="Shape 25"/>
          <p:cNvSpPr/>
          <p:nvPr/>
        </p:nvSpPr>
        <p:spPr>
          <a:xfrm>
            <a:off x="3566160" y="2231136"/>
            <a:ext cx="2834640" cy="566928"/>
          </a:xfrm>
          <a:prstGeom prst="roundRect">
            <a:avLst>
              <a:gd name="adj" fmla="val 11290"/>
            </a:avLst>
          </a:prstGeom>
          <a:solidFill>
            <a:srgbClr val="FFE8EA"/>
          </a:solidFill>
          <a:ln/>
        </p:spPr>
      </p:sp>
      <p:sp>
        <p:nvSpPr>
          <p:cNvPr id="28" name="Text 26"/>
          <p:cNvSpPr/>
          <p:nvPr/>
        </p:nvSpPr>
        <p:spPr>
          <a:xfrm>
            <a:off x="3749040" y="2231136"/>
            <a:ext cx="1280160" cy="566928"/>
          </a:xfrm>
          <a:prstGeom prst="rect">
            <a:avLst/>
          </a:prstGeom>
          <a:noFill/>
          <a:ln/>
        </p:spPr>
        <p:txBody>
          <a:bodyPr wrap="square" lIns="0" tIns="0" rIns="0" bIns="0" rtlCol="0" anchor="ctr"/>
          <a:lstStyle/>
          <a:p>
            <a:pPr indent="0" marL="0">
              <a:buNone/>
            </a:pPr>
            <a:r>
              <a:rPr lang="en-US" sz="1400" b="1" dirty="0">
                <a:solidFill>
                  <a:srgbClr val="9D2235"/>
                </a:solidFill>
                <a:latin typeface="Courier New" pitchFamily="34" charset="0"/>
                <a:ea typeface="Courier New" pitchFamily="34" charset="-122"/>
                <a:cs typeface="Courier New" pitchFamily="34" charset="-120"/>
              </a:rPr>
              <a:t>B03</a:t>
            </a:r>
            <a:endParaRPr lang="en-US" sz="1400" dirty="0"/>
          </a:p>
        </p:txBody>
      </p:sp>
      <p:sp>
        <p:nvSpPr>
          <p:cNvPr id="29" name="Text 27"/>
          <p:cNvSpPr/>
          <p:nvPr/>
        </p:nvSpPr>
        <p:spPr>
          <a:xfrm>
            <a:off x="5029200" y="2231136"/>
            <a:ext cx="1188720" cy="566928"/>
          </a:xfrm>
          <a:prstGeom prst="rect">
            <a:avLst/>
          </a:prstGeom>
          <a:noFill/>
          <a:ln/>
        </p:spPr>
        <p:txBody>
          <a:bodyPr wrap="square" lIns="0" tIns="0" rIns="0" bIns="0" rtlCol="0" anchor="ctr"/>
          <a:lstStyle/>
          <a:p>
            <a:pPr algn="r" indent="0" marL="0">
              <a:buNone/>
            </a:pPr>
            <a:r>
              <a:rPr lang="en-US" sz="1300" dirty="0">
                <a:solidFill>
                  <a:srgbClr val="9D2235"/>
                </a:solidFill>
                <a:latin typeface="Calibri" pitchFamily="34" charset="0"/>
                <a:ea typeface="Calibri" pitchFamily="34" charset="-122"/>
                <a:cs typeface="Calibri" pitchFamily="34" charset="-120"/>
              </a:rPr>
              <a:t>1814</a:t>
            </a:r>
            <a:endParaRPr lang="en-US" sz="1300" dirty="0"/>
          </a:p>
        </p:txBody>
      </p:sp>
      <p:sp>
        <p:nvSpPr>
          <p:cNvPr id="30" name="Shape 28"/>
          <p:cNvSpPr/>
          <p:nvPr/>
        </p:nvSpPr>
        <p:spPr>
          <a:xfrm>
            <a:off x="3566160" y="2889504"/>
            <a:ext cx="2834640" cy="566928"/>
          </a:xfrm>
          <a:prstGeom prst="roundRect">
            <a:avLst>
              <a:gd name="adj" fmla="val 11290"/>
            </a:avLst>
          </a:prstGeom>
          <a:solidFill>
            <a:srgbClr val="FAF2F3"/>
          </a:solidFill>
          <a:ln/>
        </p:spPr>
      </p:sp>
      <p:sp>
        <p:nvSpPr>
          <p:cNvPr id="31" name="Text 29"/>
          <p:cNvSpPr/>
          <p:nvPr/>
        </p:nvSpPr>
        <p:spPr>
          <a:xfrm>
            <a:off x="3749040" y="2889504"/>
            <a:ext cx="1280160" cy="566928"/>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B02</a:t>
            </a:r>
            <a:endParaRPr lang="en-US" sz="1400" dirty="0"/>
          </a:p>
        </p:txBody>
      </p:sp>
      <p:sp>
        <p:nvSpPr>
          <p:cNvPr id="32" name="Text 30"/>
          <p:cNvSpPr/>
          <p:nvPr/>
        </p:nvSpPr>
        <p:spPr>
          <a:xfrm>
            <a:off x="5029200" y="2889504"/>
            <a:ext cx="1188720" cy="566928"/>
          </a:xfrm>
          <a:prstGeom prst="rect">
            <a:avLst/>
          </a:prstGeom>
          <a:noFill/>
          <a:ln/>
        </p:spPr>
        <p:txBody>
          <a:bodyPr wrap="square" lIns="0" tIns="0" rIns="0" bIns="0" rtlCol="0" anchor="ctr"/>
          <a:lstStyle/>
          <a:p>
            <a:pPr algn="r" indent="0" marL="0">
              <a:buNone/>
            </a:pPr>
            <a:r>
              <a:rPr lang="en-US" sz="1300" dirty="0">
                <a:solidFill>
                  <a:srgbClr val="6E6E6E"/>
                </a:solidFill>
                <a:latin typeface="Calibri" pitchFamily="34" charset="0"/>
                <a:ea typeface="Calibri" pitchFamily="34" charset="-122"/>
                <a:cs typeface="Calibri" pitchFamily="34" charset="-120"/>
              </a:rPr>
              <a:t>2116</a:t>
            </a:r>
            <a:endParaRPr lang="en-US" sz="1300" dirty="0"/>
          </a:p>
        </p:txBody>
      </p:sp>
      <p:sp>
        <p:nvSpPr>
          <p:cNvPr id="33" name="Shape 31"/>
          <p:cNvSpPr/>
          <p:nvPr/>
        </p:nvSpPr>
        <p:spPr>
          <a:xfrm>
            <a:off x="3566160" y="3547872"/>
            <a:ext cx="2834640" cy="566928"/>
          </a:xfrm>
          <a:prstGeom prst="roundRect">
            <a:avLst>
              <a:gd name="adj" fmla="val 11290"/>
            </a:avLst>
          </a:prstGeom>
          <a:solidFill>
            <a:srgbClr val="FAF2F3"/>
          </a:solidFill>
          <a:ln/>
        </p:spPr>
      </p:sp>
      <p:sp>
        <p:nvSpPr>
          <p:cNvPr id="34" name="Text 32"/>
          <p:cNvSpPr/>
          <p:nvPr/>
        </p:nvSpPr>
        <p:spPr>
          <a:xfrm>
            <a:off x="3749040" y="3547872"/>
            <a:ext cx="1280160" cy="566928"/>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B01</a:t>
            </a:r>
            <a:endParaRPr lang="en-US" sz="1400" dirty="0"/>
          </a:p>
        </p:txBody>
      </p:sp>
      <p:sp>
        <p:nvSpPr>
          <p:cNvPr id="35" name="Text 33"/>
          <p:cNvSpPr/>
          <p:nvPr/>
        </p:nvSpPr>
        <p:spPr>
          <a:xfrm>
            <a:off x="5029200" y="3547872"/>
            <a:ext cx="1188720" cy="566928"/>
          </a:xfrm>
          <a:prstGeom prst="rect">
            <a:avLst/>
          </a:prstGeom>
          <a:noFill/>
          <a:ln/>
        </p:spPr>
        <p:txBody>
          <a:bodyPr wrap="square" lIns="0" tIns="0" rIns="0" bIns="0" rtlCol="0" anchor="ctr"/>
          <a:lstStyle/>
          <a:p>
            <a:pPr algn="r" indent="0" marL="0">
              <a:buNone/>
            </a:pPr>
            <a:r>
              <a:rPr lang="en-US" sz="1300" dirty="0">
                <a:solidFill>
                  <a:srgbClr val="6E6E6E"/>
                </a:solidFill>
                <a:latin typeface="Calibri" pitchFamily="34" charset="0"/>
                <a:ea typeface="Calibri" pitchFamily="34" charset="-122"/>
                <a:cs typeface="Calibri" pitchFamily="34" charset="-120"/>
              </a:rPr>
              <a:t>2565</a:t>
            </a:r>
            <a:endParaRPr lang="en-US" sz="1300" dirty="0"/>
          </a:p>
        </p:txBody>
      </p:sp>
      <p:sp>
        <p:nvSpPr>
          <p:cNvPr id="36" name="Shape 34"/>
          <p:cNvSpPr/>
          <p:nvPr/>
        </p:nvSpPr>
        <p:spPr>
          <a:xfrm>
            <a:off x="3566160" y="4206240"/>
            <a:ext cx="2834640" cy="566928"/>
          </a:xfrm>
          <a:prstGeom prst="roundRect">
            <a:avLst>
              <a:gd name="adj" fmla="val 11290"/>
            </a:avLst>
          </a:prstGeom>
          <a:solidFill>
            <a:srgbClr val="FAF2F3"/>
          </a:solidFill>
          <a:ln/>
        </p:spPr>
      </p:sp>
      <p:sp>
        <p:nvSpPr>
          <p:cNvPr id="37" name="Text 35"/>
          <p:cNvSpPr/>
          <p:nvPr/>
        </p:nvSpPr>
        <p:spPr>
          <a:xfrm>
            <a:off x="3749040" y="4206240"/>
            <a:ext cx="1280160" cy="566928"/>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B-05</a:t>
            </a:r>
            <a:endParaRPr lang="en-US" sz="1400" dirty="0"/>
          </a:p>
        </p:txBody>
      </p:sp>
      <p:sp>
        <p:nvSpPr>
          <p:cNvPr id="38" name="Text 36"/>
          <p:cNvSpPr/>
          <p:nvPr/>
        </p:nvSpPr>
        <p:spPr>
          <a:xfrm>
            <a:off x="5029200" y="4206240"/>
            <a:ext cx="1188720" cy="566928"/>
          </a:xfrm>
          <a:prstGeom prst="rect">
            <a:avLst/>
          </a:prstGeom>
          <a:noFill/>
          <a:ln/>
        </p:spPr>
        <p:txBody>
          <a:bodyPr wrap="square" lIns="0" tIns="0" rIns="0" bIns="0" rtlCol="0" anchor="ctr"/>
          <a:lstStyle/>
          <a:p>
            <a:pPr algn="r" indent="0" marL="0">
              <a:buNone/>
            </a:pPr>
            <a:r>
              <a:rPr lang="en-US" sz="1300" dirty="0">
                <a:solidFill>
                  <a:srgbClr val="6E6E6E"/>
                </a:solidFill>
                <a:latin typeface="Calibri" pitchFamily="34" charset="0"/>
                <a:ea typeface="Calibri" pitchFamily="34" charset="-122"/>
                <a:cs typeface="Calibri" pitchFamily="34" charset="-120"/>
              </a:rPr>
              <a:t>5</a:t>
            </a:r>
            <a:endParaRPr lang="en-US" sz="1300" dirty="0"/>
          </a:p>
        </p:txBody>
      </p:sp>
      <p:sp>
        <p:nvSpPr>
          <p:cNvPr id="39" name="Shape 37"/>
          <p:cNvSpPr/>
          <p:nvPr/>
        </p:nvSpPr>
        <p:spPr>
          <a:xfrm>
            <a:off x="3566160" y="4864608"/>
            <a:ext cx="2834640" cy="566928"/>
          </a:xfrm>
          <a:prstGeom prst="roundRect">
            <a:avLst>
              <a:gd name="adj" fmla="val 11290"/>
            </a:avLst>
          </a:prstGeom>
          <a:solidFill>
            <a:srgbClr val="FAF2F3"/>
          </a:solidFill>
          <a:ln/>
        </p:spPr>
      </p:sp>
      <p:sp>
        <p:nvSpPr>
          <p:cNvPr id="40" name="Text 38"/>
          <p:cNvSpPr/>
          <p:nvPr/>
        </p:nvSpPr>
        <p:spPr>
          <a:xfrm>
            <a:off x="3749040" y="4864608"/>
            <a:ext cx="1280160" cy="566928"/>
          </a:xfrm>
          <a:prstGeom prst="rect">
            <a:avLst/>
          </a:prstGeom>
          <a:noFill/>
          <a:ln/>
        </p:spPr>
        <p:txBody>
          <a:bodyPr wrap="square" lIns="0" tIns="0" rIns="0" bIns="0" rtlCol="0" anchor="ctr"/>
          <a:lstStyle/>
          <a:p>
            <a:pPr indent="0" marL="0">
              <a:buNone/>
            </a:pPr>
            <a:r>
              <a:rPr lang="en-US" sz="1400" b="1" dirty="0">
                <a:solidFill>
                  <a:srgbClr val="262626"/>
                </a:solidFill>
                <a:latin typeface="Courier New" pitchFamily="34" charset="0"/>
                <a:ea typeface="Courier New" pitchFamily="34" charset="-122"/>
                <a:cs typeface="Courier New" pitchFamily="34" charset="-120"/>
              </a:rPr>
              <a:t>B-02</a:t>
            </a:r>
            <a:endParaRPr lang="en-US" sz="1400" dirty="0"/>
          </a:p>
        </p:txBody>
      </p:sp>
      <p:sp>
        <p:nvSpPr>
          <p:cNvPr id="41" name="Text 39"/>
          <p:cNvSpPr/>
          <p:nvPr/>
        </p:nvSpPr>
        <p:spPr>
          <a:xfrm>
            <a:off x="5029200" y="4864608"/>
            <a:ext cx="1188720" cy="566928"/>
          </a:xfrm>
          <a:prstGeom prst="rect">
            <a:avLst/>
          </a:prstGeom>
          <a:noFill/>
          <a:ln/>
        </p:spPr>
        <p:txBody>
          <a:bodyPr wrap="square" lIns="0" tIns="0" rIns="0" bIns="0" rtlCol="0" anchor="ctr"/>
          <a:lstStyle/>
          <a:p>
            <a:pPr algn="r" indent="0" marL="0">
              <a:buNone/>
            </a:pPr>
            <a:r>
              <a:rPr lang="en-US" sz="1300" dirty="0">
                <a:solidFill>
                  <a:srgbClr val="6E6E6E"/>
                </a:solidFill>
                <a:latin typeface="Calibri" pitchFamily="34" charset="0"/>
                <a:ea typeface="Calibri" pitchFamily="34" charset="-122"/>
                <a:cs typeface="Calibri" pitchFamily="34" charset="-120"/>
              </a:rPr>
              <a:t>7</a:t>
            </a:r>
            <a:endParaRPr lang="en-US" sz="1300" dirty="0"/>
          </a:p>
        </p:txBody>
      </p:sp>
      <p:sp>
        <p:nvSpPr>
          <p:cNvPr id="42" name="Shape 40"/>
          <p:cNvSpPr/>
          <p:nvPr/>
        </p:nvSpPr>
        <p:spPr>
          <a:xfrm>
            <a:off x="6492240" y="1572768"/>
            <a:ext cx="5148072" cy="3931920"/>
          </a:xfrm>
          <a:prstGeom prst="roundRect">
            <a:avLst>
              <a:gd name="adj" fmla="val 1628"/>
            </a:avLst>
          </a:prstGeom>
          <a:solidFill>
            <a:srgbClr val="3F0D18"/>
          </a:solidFill>
          <a:ln/>
        </p:spPr>
      </p:sp>
      <p:sp>
        <p:nvSpPr>
          <p:cNvPr id="43" name="Shape 41"/>
          <p:cNvSpPr/>
          <p:nvPr/>
        </p:nvSpPr>
        <p:spPr>
          <a:xfrm>
            <a:off x="6766560" y="1828800"/>
            <a:ext cx="566928" cy="566928"/>
          </a:xfrm>
          <a:prstGeom prst="ellipse">
            <a:avLst/>
          </a:prstGeom>
          <a:solidFill>
            <a:srgbClr val="9D2235"/>
          </a:solidFill>
          <a:ln/>
        </p:spPr>
      </p:sp>
      <p:pic>
        <p:nvPicPr>
          <p:cNvPr id="44" name="Image 0" descr="preencoded.png">    </p:cNvPr>
          <p:cNvPicPr>
            <a:picLocks noChangeAspect="1"/>
          </p:cNvPicPr>
          <p:nvPr/>
        </p:nvPicPr>
        <p:blipFill>
          <a:blip r:embed="rId1"/>
          <a:stretch>
            <a:fillRect/>
          </a:stretch>
        </p:blipFill>
        <p:spPr>
          <a:xfrm>
            <a:off x="6913961" y="1976201"/>
            <a:ext cx="272125" cy="272125"/>
          </a:xfrm>
          <a:prstGeom prst="rect">
            <a:avLst/>
          </a:prstGeom>
        </p:spPr>
      </p:pic>
      <p:sp>
        <p:nvSpPr>
          <p:cNvPr id="45" name="Text 42"/>
          <p:cNvSpPr/>
          <p:nvPr/>
        </p:nvSpPr>
        <p:spPr>
          <a:xfrm>
            <a:off x="6766560" y="2560320"/>
            <a:ext cx="4572000" cy="411480"/>
          </a:xfrm>
          <a:prstGeom prst="rect">
            <a:avLst/>
          </a:prstGeom>
          <a:noFill/>
          <a:ln/>
        </p:spPr>
        <p:txBody>
          <a:bodyPr wrap="square" lIns="0" tIns="0" rIns="0" bIns="0" rtlCol="0" anchor="ctr"/>
          <a:lstStyle/>
          <a:p>
            <a:pPr indent="0" marL="0">
              <a:buNone/>
            </a:pPr>
            <a:r>
              <a:rPr lang="en-US" sz="1700" b="1" dirty="0">
                <a:solidFill>
                  <a:srgbClr val="E3B23C"/>
                </a:solidFill>
                <a:latin typeface="Calibri" pitchFamily="34" charset="0"/>
                <a:ea typeface="Calibri" pitchFamily="34" charset="-122"/>
                <a:cs typeface="Calibri" pitchFamily="34" charset="-120"/>
              </a:rPr>
              <a:t>Two rows say B06</a:t>
            </a:r>
            <a:endParaRPr lang="en-US" sz="1700" dirty="0"/>
          </a:p>
        </p:txBody>
      </p:sp>
      <p:sp>
        <p:nvSpPr>
          <p:cNvPr id="46" name="Text 43"/>
          <p:cNvSpPr/>
          <p:nvPr/>
        </p:nvSpPr>
        <p:spPr>
          <a:xfrm>
            <a:off x="6766560" y="3063240"/>
            <a:ext cx="4617720" cy="2286000"/>
          </a:xfrm>
          <a:prstGeom prst="rect">
            <a:avLst/>
          </a:prstGeom>
          <a:noFill/>
          <a:ln/>
        </p:spPr>
        <p:txBody>
          <a:bodyPr wrap="square" lIns="0" tIns="0" rIns="0" bIns="0" rtlCol="0" anchor="ctr"/>
          <a:lstStyle/>
          <a:p>
            <a:pPr indent="0" marL="0">
              <a:lnSpc>
                <a:spcPts val="1600"/>
              </a:lnSpc>
              <a:buNone/>
            </a:pPr>
            <a:r>
              <a:rPr lang="en-US" sz="1200" dirty="0">
                <a:solidFill>
                  <a:srgbClr val="EFDFE2"/>
                </a:solidFill>
                <a:latin typeface="Calibri" pitchFamily="34" charset="0"/>
                <a:ea typeface="Calibri" pitchFamily="34" charset="-122"/>
                <a:cs typeface="Calibri" pitchFamily="34" charset="-120"/>
              </a:rPr>
              <a:t>One has 4 sales. One has 885.</a:t>
            </a:r>
            <a:endParaRPr lang="en-US" sz="1200" dirty="0"/>
          </a:p>
          <a:p>
            <a:pPr indent="0" marL="0">
              <a:lnSpc>
                <a:spcPts val="1600"/>
              </a:lnSpc>
              <a:buNone/>
            </a:pPr>
            <a:endParaRPr lang="en-US" sz="1200" dirty="0"/>
          </a:p>
          <a:p>
            <a:pPr indent="0" marL="0">
              <a:lnSpc>
                <a:spcPts val="1600"/>
              </a:lnSpc>
              <a:buNone/>
            </a:pPr>
            <a:r>
              <a:rPr lang="en-US" sz="1200" dirty="0">
                <a:solidFill>
                  <a:srgbClr val="EFDFE2"/>
                </a:solidFill>
                <a:latin typeface="Calibri" pitchFamily="34" charset="0"/>
                <a:ea typeface="Calibri" pitchFamily="34" charset="-122"/>
                <a:cs typeface="Calibri" pitchFamily="34" charset="-120"/>
              </a:rPr>
              <a:t>They are not the same code. One ends with a space you cannot see.</a:t>
            </a:r>
            <a:endParaRPr lang="en-US" sz="1200" dirty="0"/>
          </a:p>
          <a:p>
            <a:pPr indent="0" marL="0">
              <a:lnSpc>
                <a:spcPts val="1600"/>
              </a:lnSpc>
              <a:buNone/>
            </a:pPr>
            <a:endParaRPr lang="en-US" sz="1200" dirty="0"/>
          </a:p>
          <a:p>
            <a:pPr indent="0" marL="0">
              <a:lnSpc>
                <a:spcPts val="1600"/>
              </a:lnSpc>
              <a:buNone/>
            </a:pPr>
            <a:r>
              <a:rPr lang="en-US" sz="1200" dirty="0">
                <a:solidFill>
                  <a:srgbClr val="EFDFE2"/>
                </a:solidFill>
                <a:latin typeface="Calibri" pitchFamily="34" charset="0"/>
                <a:ea typeface="Calibri" pitchFamily="34" charset="-122"/>
                <a:cs typeface="Calibri" pitchFamily="34" charset="-120"/>
              </a:rPr>
              <a:t>Same for B03: 7 and 1,814.</a:t>
            </a:r>
            <a:endParaRPr lang="en-US" sz="1200" dirty="0"/>
          </a:p>
          <a:p>
            <a:pPr indent="0" marL="0">
              <a:lnSpc>
                <a:spcPts val="1600"/>
              </a:lnSpc>
              <a:buNone/>
            </a:pPr>
            <a:endParaRPr lang="en-US" sz="1200" dirty="0"/>
          </a:p>
          <a:p>
            <a:pPr indent="0" marL="0">
              <a:lnSpc>
                <a:spcPts val="1600"/>
              </a:lnSpc>
              <a:buNone/>
            </a:pPr>
            <a:r>
              <a:rPr lang="en-US" sz="1200" b="1" dirty="0">
                <a:solidFill>
                  <a:srgbClr val="E3B23C"/>
                </a:solidFill>
                <a:latin typeface="Calibri" pitchFamily="34" charset="0"/>
                <a:ea typeface="Calibri" pitchFamily="34" charset="-122"/>
                <a:cs typeface="Calibri" pitchFamily="34" charset="-120"/>
              </a:rPr>
              <a:t>You cannot see the defect. You can see the count.</a:t>
            </a:r>
            <a:endParaRPr lang="en-US" sz="1200" dirty="0"/>
          </a:p>
        </p:txBody>
      </p:sp>
      <p:sp>
        <p:nvSpPr>
          <p:cNvPr id="47" name="Text 44"/>
          <p:cNvSpPr/>
          <p:nvPr/>
        </p:nvSpPr>
        <p:spPr>
          <a:xfrm>
            <a:off x="548640" y="5760720"/>
            <a:ext cx="11091672" cy="41148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Check your arithmetic: 10,549 real + 40 misfiled = 10,589 total. If the parts do not sum to the whole, you have lost rows somewhere.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COUNTING AS TECHNIQUE</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Three more moves, then you have the full set</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12</a:t>
            </a:r>
            <a:endParaRPr lang="en-US" sz="850" dirty="0"/>
          </a:p>
        </p:txBody>
      </p:sp>
      <p:sp>
        <p:nvSpPr>
          <p:cNvPr id="6" name="Shape 4"/>
          <p:cNvSpPr/>
          <p:nvPr/>
        </p:nvSpPr>
        <p:spPr>
          <a:xfrm>
            <a:off x="548640" y="1600200"/>
            <a:ext cx="11091672" cy="1280160"/>
          </a:xfrm>
          <a:prstGeom prst="roundRect">
            <a:avLst>
              <a:gd name="adj" fmla="val 5000"/>
            </a:avLst>
          </a:prstGeom>
          <a:solidFill>
            <a:srgbClr val="FAF2F3"/>
          </a:solidFill>
          <a:ln/>
        </p:spPr>
      </p:sp>
      <p:sp>
        <p:nvSpPr>
          <p:cNvPr id="7" name="Shape 5"/>
          <p:cNvSpPr/>
          <p:nvPr/>
        </p:nvSpPr>
        <p:spPr>
          <a:xfrm>
            <a:off x="804672" y="1920240"/>
            <a:ext cx="640080" cy="640080"/>
          </a:xfrm>
          <a:prstGeom prst="ellipse">
            <a:avLst/>
          </a:prstGeom>
          <a:solidFill>
            <a:srgbClr val="9D2235"/>
          </a:solidFill>
          <a:ln/>
        </p:spPr>
      </p:sp>
      <p:pic>
        <p:nvPicPr>
          <p:cNvPr id="8" name="Image 0" descr="preencoded.png">    </p:cNvPr>
          <p:cNvPicPr>
            <a:picLocks noChangeAspect="1"/>
          </p:cNvPicPr>
          <p:nvPr/>
        </p:nvPicPr>
        <p:blipFill>
          <a:blip r:embed="rId1"/>
          <a:stretch>
            <a:fillRect/>
          </a:stretch>
        </p:blipFill>
        <p:spPr>
          <a:xfrm>
            <a:off x="971093" y="2086661"/>
            <a:ext cx="307238" cy="307238"/>
          </a:xfrm>
          <a:prstGeom prst="rect">
            <a:avLst/>
          </a:prstGeom>
        </p:spPr>
      </p:pic>
      <p:sp>
        <p:nvSpPr>
          <p:cNvPr id="9" name="Text 6"/>
          <p:cNvSpPr/>
          <p:nvPr/>
        </p:nvSpPr>
        <p:spPr>
          <a:xfrm>
            <a:off x="1645920" y="1764792"/>
            <a:ext cx="2651760" cy="365760"/>
          </a:xfrm>
          <a:prstGeom prst="rect">
            <a:avLst/>
          </a:prstGeom>
          <a:noFill/>
          <a:ln/>
        </p:spPr>
        <p:txBody>
          <a:bodyPr wrap="square" lIns="0" tIns="0" rIns="0" bIns="0" rtlCol="0" anchor="ctr"/>
          <a:lstStyle/>
          <a:p>
            <a:pPr indent="0" marL="0">
              <a:buNone/>
            </a:pPr>
            <a:r>
              <a:rPr lang="en-US" sz="1550" b="1" dirty="0">
                <a:solidFill>
                  <a:srgbClr val="9D2235"/>
                </a:solidFill>
                <a:latin typeface="Calibri" pitchFamily="34" charset="0"/>
                <a:ea typeface="Calibri" pitchFamily="34" charset="-122"/>
                <a:cs typeface="Calibri" pitchFamily="34" charset="-120"/>
              </a:rPr>
              <a:t>Exact total</a:t>
            </a:r>
            <a:endParaRPr lang="en-US" sz="1550" dirty="0"/>
          </a:p>
        </p:txBody>
      </p:sp>
      <p:sp>
        <p:nvSpPr>
          <p:cNvPr id="10" name="Text 7"/>
          <p:cNvSpPr/>
          <p:nvPr/>
        </p:nvSpPr>
        <p:spPr>
          <a:xfrm>
            <a:off x="1645920" y="2167128"/>
            <a:ext cx="2651760" cy="548640"/>
          </a:xfrm>
          <a:prstGeom prst="rect">
            <a:avLst/>
          </a:prstGeom>
          <a:noFill/>
          <a:ln/>
        </p:spPr>
        <p:txBody>
          <a:bodyPr wrap="square" lIns="0" tIns="0" rIns="0" bIns="0" rtlCol="0" anchor="ctr"/>
          <a:lstStyle/>
          <a:p>
            <a:pPr indent="0" marL="0">
              <a:lnSpc>
                <a:spcPts val="1400"/>
              </a:lnSpc>
              <a:buNone/>
            </a:pPr>
            <a:r>
              <a:rPr lang="en-US" sz="1050" dirty="0">
                <a:solidFill>
                  <a:srgbClr val="6E6E6E"/>
                </a:solidFill>
                <a:latin typeface="Courier New" pitchFamily="34" charset="0"/>
                <a:ea typeface="Courier New" pitchFamily="34" charset="-122"/>
                <a:cs typeface="Courier New" pitchFamily="34" charset="-120"/>
              </a:rPr>
              <a:t>Transform → Count rows</a:t>
            </a:r>
            <a:endParaRPr lang="en-US" sz="1050" dirty="0"/>
          </a:p>
        </p:txBody>
      </p:sp>
      <p:sp>
        <p:nvSpPr>
          <p:cNvPr id="11" name="Text 8"/>
          <p:cNvSpPr/>
          <p:nvPr/>
        </p:nvSpPr>
        <p:spPr>
          <a:xfrm>
            <a:off x="4572000" y="1783080"/>
            <a:ext cx="6766560" cy="914400"/>
          </a:xfrm>
          <a:prstGeom prst="rect">
            <a:avLst/>
          </a:prstGeom>
          <a:noFill/>
          <a:ln/>
        </p:spPr>
        <p:txBody>
          <a:bodyPr wrap="square" lIns="0" tIns="0" rIns="0" bIns="0" rtlCol="0" anchor="ctr"/>
          <a:lstStyle/>
          <a:p>
            <a:pPr indent="0" marL="0">
              <a:lnSpc>
                <a:spcPts val="1700"/>
              </a:lnSpc>
              <a:buNone/>
            </a:pPr>
            <a:r>
              <a:rPr lang="en-US" sz="1250" dirty="0">
                <a:solidFill>
                  <a:srgbClr val="262626"/>
                </a:solidFill>
                <a:latin typeface="Calibri" pitchFamily="34" charset="0"/>
                <a:ea typeface="Calibri" pitchFamily="34" charset="-122"/>
                <a:cs typeface="Calibri" pitchFamily="34" charset="-120"/>
              </a:rPr>
              <a:t>tblSales → 10,589. Fixes the status bar that only ever says “99+”.</a:t>
            </a:r>
            <a:endParaRPr lang="en-US" sz="1250" dirty="0"/>
          </a:p>
        </p:txBody>
      </p:sp>
      <p:sp>
        <p:nvSpPr>
          <p:cNvPr id="12" name="Shape 9"/>
          <p:cNvSpPr/>
          <p:nvPr/>
        </p:nvSpPr>
        <p:spPr>
          <a:xfrm>
            <a:off x="548640" y="3017520"/>
            <a:ext cx="11091672" cy="1280160"/>
          </a:xfrm>
          <a:prstGeom prst="roundRect">
            <a:avLst>
              <a:gd name="adj" fmla="val 5000"/>
            </a:avLst>
          </a:prstGeom>
          <a:solidFill>
            <a:srgbClr val="FAF2F3"/>
          </a:solidFill>
          <a:ln/>
        </p:spPr>
      </p:sp>
      <p:sp>
        <p:nvSpPr>
          <p:cNvPr id="13" name="Shape 10"/>
          <p:cNvSpPr/>
          <p:nvPr/>
        </p:nvSpPr>
        <p:spPr>
          <a:xfrm>
            <a:off x="804672" y="3337560"/>
            <a:ext cx="640080" cy="640080"/>
          </a:xfrm>
          <a:prstGeom prst="ellipse">
            <a:avLst/>
          </a:prstGeom>
          <a:solidFill>
            <a:srgbClr val="9D2235"/>
          </a:solidFill>
          <a:ln/>
        </p:spPr>
      </p:sp>
      <p:pic>
        <p:nvPicPr>
          <p:cNvPr id="14" name="Image 1" descr="preencoded.png">    </p:cNvPr>
          <p:cNvPicPr>
            <a:picLocks noChangeAspect="1"/>
          </p:cNvPicPr>
          <p:nvPr/>
        </p:nvPicPr>
        <p:blipFill>
          <a:blip r:embed="rId2"/>
          <a:stretch>
            <a:fillRect/>
          </a:stretch>
        </p:blipFill>
        <p:spPr>
          <a:xfrm>
            <a:off x="971093" y="3503981"/>
            <a:ext cx="307238" cy="307238"/>
          </a:xfrm>
          <a:prstGeom prst="rect">
            <a:avLst/>
          </a:prstGeom>
        </p:spPr>
      </p:pic>
      <p:sp>
        <p:nvSpPr>
          <p:cNvPr id="15" name="Text 11"/>
          <p:cNvSpPr/>
          <p:nvPr/>
        </p:nvSpPr>
        <p:spPr>
          <a:xfrm>
            <a:off x="1645920" y="3182112"/>
            <a:ext cx="2651760" cy="365760"/>
          </a:xfrm>
          <a:prstGeom prst="rect">
            <a:avLst/>
          </a:prstGeom>
          <a:noFill/>
          <a:ln/>
        </p:spPr>
        <p:txBody>
          <a:bodyPr wrap="square" lIns="0" tIns="0" rIns="0" bIns="0" rtlCol="0" anchor="ctr"/>
          <a:lstStyle/>
          <a:p>
            <a:pPr indent="0" marL="0">
              <a:buNone/>
            </a:pPr>
            <a:r>
              <a:rPr lang="en-US" sz="1550" b="1" dirty="0">
                <a:solidFill>
                  <a:srgbClr val="9D2235"/>
                </a:solidFill>
                <a:latin typeface="Calibri" pitchFamily="34" charset="0"/>
                <a:ea typeface="Calibri" pitchFamily="34" charset="-122"/>
                <a:cs typeface="Calibri" pitchFamily="34" charset="-120"/>
              </a:rPr>
              <a:t>Conditional count</a:t>
            </a:r>
            <a:endParaRPr lang="en-US" sz="1550" dirty="0"/>
          </a:p>
        </p:txBody>
      </p:sp>
      <p:sp>
        <p:nvSpPr>
          <p:cNvPr id="16" name="Text 12"/>
          <p:cNvSpPr/>
          <p:nvPr/>
        </p:nvSpPr>
        <p:spPr>
          <a:xfrm>
            <a:off x="1645920" y="3584448"/>
            <a:ext cx="2651760" cy="548640"/>
          </a:xfrm>
          <a:prstGeom prst="rect">
            <a:avLst/>
          </a:prstGeom>
          <a:noFill/>
          <a:ln/>
        </p:spPr>
        <p:txBody>
          <a:bodyPr wrap="square" lIns="0" tIns="0" rIns="0" bIns="0" rtlCol="0" anchor="ctr"/>
          <a:lstStyle/>
          <a:p>
            <a:pPr indent="0" marL="0">
              <a:lnSpc>
                <a:spcPts val="1400"/>
              </a:lnSpc>
              <a:buNone/>
            </a:pPr>
            <a:r>
              <a:rPr lang="en-US" sz="1050" dirty="0">
                <a:solidFill>
                  <a:srgbClr val="6E6E6E"/>
                </a:solidFill>
                <a:latin typeface="Courier New" pitchFamily="34" charset="0"/>
                <a:ea typeface="Courier New" pitchFamily="34" charset="-122"/>
                <a:cs typeface="Courier New" pitchFamily="34" charset="-120"/>
              </a:rPr>
              <a:t>Filter first, then Count rows</a:t>
            </a:r>
            <a:endParaRPr lang="en-US" sz="1050" dirty="0"/>
          </a:p>
        </p:txBody>
      </p:sp>
      <p:sp>
        <p:nvSpPr>
          <p:cNvPr id="17" name="Text 13"/>
          <p:cNvSpPr/>
          <p:nvPr/>
        </p:nvSpPr>
        <p:spPr>
          <a:xfrm>
            <a:off x="4572000" y="3200400"/>
            <a:ext cx="6766560" cy="914400"/>
          </a:xfrm>
          <a:prstGeom prst="rect">
            <a:avLst/>
          </a:prstGeom>
          <a:noFill/>
          <a:ln/>
        </p:spPr>
        <p:txBody>
          <a:bodyPr wrap="square" lIns="0" tIns="0" rIns="0" bIns="0" rtlCol="0" anchor="ctr"/>
          <a:lstStyle/>
          <a:p>
            <a:pPr indent="0" marL="0">
              <a:lnSpc>
                <a:spcPts val="1700"/>
              </a:lnSpc>
              <a:buNone/>
            </a:pPr>
            <a:r>
              <a:rPr lang="en-US" sz="1250" dirty="0">
                <a:solidFill>
                  <a:srgbClr val="262626"/>
                </a:solidFill>
                <a:latin typeface="Calibri" pitchFamily="34" charset="0"/>
                <a:ea typeface="Calibri" pitchFamily="34" charset="-122"/>
                <a:cs typeface="Calibri" pitchFamily="34" charset="-120"/>
              </a:rPr>
              <a:t>Quantity = 0 → 6 rows. Blank Date → 12 rows.</a:t>
            </a:r>
            <a:endParaRPr lang="en-US" sz="1250" dirty="0"/>
          </a:p>
        </p:txBody>
      </p:sp>
      <p:sp>
        <p:nvSpPr>
          <p:cNvPr id="18" name="Shape 14"/>
          <p:cNvSpPr/>
          <p:nvPr/>
        </p:nvSpPr>
        <p:spPr>
          <a:xfrm>
            <a:off x="548640" y="4434840"/>
            <a:ext cx="11091672" cy="1280160"/>
          </a:xfrm>
          <a:prstGeom prst="roundRect">
            <a:avLst>
              <a:gd name="adj" fmla="val 5000"/>
            </a:avLst>
          </a:prstGeom>
          <a:solidFill>
            <a:srgbClr val="FAF2F3"/>
          </a:solidFill>
          <a:ln/>
        </p:spPr>
      </p:sp>
      <p:sp>
        <p:nvSpPr>
          <p:cNvPr id="19" name="Shape 15"/>
          <p:cNvSpPr/>
          <p:nvPr/>
        </p:nvSpPr>
        <p:spPr>
          <a:xfrm>
            <a:off x="804672" y="4754880"/>
            <a:ext cx="640080" cy="640080"/>
          </a:xfrm>
          <a:prstGeom prst="ellipse">
            <a:avLst/>
          </a:prstGeom>
          <a:solidFill>
            <a:srgbClr val="9D2235"/>
          </a:solidFill>
          <a:ln/>
        </p:spPr>
      </p:sp>
      <p:pic>
        <p:nvPicPr>
          <p:cNvPr id="20" name="Image 2" descr="preencoded.png">    </p:cNvPr>
          <p:cNvPicPr>
            <a:picLocks noChangeAspect="1"/>
          </p:cNvPicPr>
          <p:nvPr/>
        </p:nvPicPr>
        <p:blipFill>
          <a:blip r:embed="rId3"/>
          <a:stretch>
            <a:fillRect/>
          </a:stretch>
        </p:blipFill>
        <p:spPr>
          <a:xfrm>
            <a:off x="971093" y="4921301"/>
            <a:ext cx="307238" cy="307238"/>
          </a:xfrm>
          <a:prstGeom prst="rect">
            <a:avLst/>
          </a:prstGeom>
        </p:spPr>
      </p:pic>
      <p:sp>
        <p:nvSpPr>
          <p:cNvPr id="21" name="Text 16"/>
          <p:cNvSpPr/>
          <p:nvPr/>
        </p:nvSpPr>
        <p:spPr>
          <a:xfrm>
            <a:off x="1645920" y="4599432"/>
            <a:ext cx="2651760" cy="365760"/>
          </a:xfrm>
          <a:prstGeom prst="rect">
            <a:avLst/>
          </a:prstGeom>
          <a:noFill/>
          <a:ln/>
        </p:spPr>
        <p:txBody>
          <a:bodyPr wrap="square" lIns="0" tIns="0" rIns="0" bIns="0" rtlCol="0" anchor="ctr"/>
          <a:lstStyle/>
          <a:p>
            <a:pPr indent="0" marL="0">
              <a:buNone/>
            </a:pPr>
            <a:r>
              <a:rPr lang="en-US" sz="1550" b="1" dirty="0">
                <a:solidFill>
                  <a:srgbClr val="9D2235"/>
                </a:solidFill>
                <a:latin typeface="Calibri" pitchFamily="34" charset="0"/>
                <a:ea typeface="Calibri" pitchFamily="34" charset="-122"/>
                <a:cs typeface="Calibri" pitchFamily="34" charset="-120"/>
              </a:rPr>
              <a:t>The duplicates pair</a:t>
            </a:r>
            <a:endParaRPr lang="en-US" sz="1550" dirty="0"/>
          </a:p>
        </p:txBody>
      </p:sp>
      <p:sp>
        <p:nvSpPr>
          <p:cNvPr id="22" name="Text 17"/>
          <p:cNvSpPr/>
          <p:nvPr/>
        </p:nvSpPr>
        <p:spPr>
          <a:xfrm>
            <a:off x="1645920" y="5001768"/>
            <a:ext cx="2651760" cy="548640"/>
          </a:xfrm>
          <a:prstGeom prst="rect">
            <a:avLst/>
          </a:prstGeom>
          <a:noFill/>
          <a:ln/>
        </p:spPr>
        <p:txBody>
          <a:bodyPr wrap="square" lIns="0" tIns="0" rIns="0" bIns="0" rtlCol="0" anchor="ctr"/>
          <a:lstStyle/>
          <a:p>
            <a:pPr indent="0" marL="0">
              <a:lnSpc>
                <a:spcPts val="1400"/>
              </a:lnSpc>
              <a:buNone/>
            </a:pPr>
            <a:r>
              <a:rPr lang="en-US" sz="1050" dirty="0">
                <a:solidFill>
                  <a:srgbClr val="6E6E6E"/>
                </a:solidFill>
                <a:latin typeface="Courier New" pitchFamily="34" charset="0"/>
                <a:ea typeface="Courier New" pitchFamily="34" charset="-122"/>
                <a:cs typeface="Courier New" pitchFamily="34" charset="-120"/>
              </a:rPr>
              <a:t>Keep duplicates, then Remove duplicates</a:t>
            </a:r>
            <a:endParaRPr lang="en-US" sz="1050" dirty="0"/>
          </a:p>
        </p:txBody>
      </p:sp>
      <p:sp>
        <p:nvSpPr>
          <p:cNvPr id="23" name="Text 18"/>
          <p:cNvSpPr/>
          <p:nvPr/>
        </p:nvSpPr>
        <p:spPr>
          <a:xfrm>
            <a:off x="4572000" y="4617720"/>
            <a:ext cx="6766560" cy="914400"/>
          </a:xfrm>
          <a:prstGeom prst="rect">
            <a:avLst/>
          </a:prstGeom>
          <a:noFill/>
          <a:ln/>
        </p:spPr>
        <p:txBody>
          <a:bodyPr wrap="square" lIns="0" tIns="0" rIns="0" bIns="0" rtlCol="0" anchor="ctr"/>
          <a:lstStyle/>
          <a:p>
            <a:pPr indent="0" marL="0">
              <a:lnSpc>
                <a:spcPts val="1700"/>
              </a:lnSpc>
              <a:buNone/>
            </a:pPr>
            <a:r>
              <a:rPr lang="en-US" sz="1250" dirty="0">
                <a:solidFill>
                  <a:srgbClr val="262626"/>
                </a:solidFill>
                <a:latin typeface="Calibri" pitchFamily="34" charset="0"/>
                <a:ea typeface="Calibri" pitchFamily="34" charset="-122"/>
                <a:cs typeface="Calibri" pitchFamily="34" charset="-120"/>
              </a:rPr>
              <a:t>46 rows involved. 23 extra copies. Two different questions.</a:t>
            </a:r>
            <a:endParaRPr lang="en-US" sz="1250" dirty="0"/>
          </a:p>
        </p:txBody>
      </p:sp>
      <p:sp>
        <p:nvSpPr>
          <p:cNvPr id="24" name="Shape 19"/>
          <p:cNvSpPr/>
          <p:nvPr/>
        </p:nvSpPr>
        <p:spPr>
          <a:xfrm>
            <a:off x="548640" y="5943600"/>
            <a:ext cx="11091672" cy="731520"/>
          </a:xfrm>
          <a:prstGeom prst="roundRect">
            <a:avLst>
              <a:gd name="adj" fmla="val 8750"/>
            </a:avLst>
          </a:prstGeom>
          <a:solidFill>
            <a:srgbClr val="FFF7E6"/>
          </a:solidFill>
          <a:ln/>
        </p:spPr>
      </p:sp>
      <p:sp>
        <p:nvSpPr>
          <p:cNvPr id="25" name="Text 20"/>
          <p:cNvSpPr/>
          <p:nvPr/>
        </p:nvSpPr>
        <p:spPr>
          <a:xfrm>
            <a:off x="822960" y="5943600"/>
            <a:ext cx="10561320" cy="731520"/>
          </a:xfrm>
          <a:prstGeom prst="rect">
            <a:avLst/>
          </a:prstGeom>
          <a:noFill/>
          <a:ln/>
        </p:spPr>
        <p:txBody>
          <a:bodyPr wrap="square" lIns="0" tIns="0" rIns="0" bIns="0" rtlCol="0" anchor="ctr"/>
          <a:lstStyle/>
          <a:p>
            <a:pPr indent="0" marL="0">
              <a:buNone/>
            </a:pPr>
            <a:r>
              <a:rPr lang="en-US" sz="1250" b="1" dirty="0">
                <a:solidFill>
                  <a:srgbClr val="C99700"/>
                </a:solidFill>
                <a:latin typeface="Calibri" pitchFamily="34" charset="0"/>
                <a:ea typeface="Calibri" pitchFamily="34" charset="-122"/>
                <a:cs typeface="Calibri" pitchFamily="34" charset="-120"/>
              </a:rPr>
              <a:t>On the duplicates pair: </a:t>
            </a:r>
            <a:pPr indent="0" marL="0">
              <a:buNone/>
            </a:pPr>
            <a:r>
              <a:rPr lang="en-US" sz="1250" dirty="0">
                <a:solidFill>
                  <a:srgbClr val="262626"/>
                </a:solidFill>
                <a:latin typeface="Calibri" pitchFamily="34" charset="0"/>
                <a:ea typeface="Calibri" pitchFamily="34" charset="-122"/>
                <a:cs typeface="Calibri" pitchFamily="34" charset="-120"/>
              </a:rPr>
              <a:t>46 rows are involved in duplication; 23 are extra copies. Both numbers are true. Say which one you counted.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DATA TYPES DELIBERATELY</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A defect from your own data, this week</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13</a:t>
            </a:r>
            <a:endParaRPr lang="en-US" sz="850" dirty="0"/>
          </a:p>
        </p:txBody>
      </p:sp>
      <p:sp>
        <p:nvSpPr>
          <p:cNvPr id="6" name="Text 4"/>
          <p:cNvSpPr/>
          <p:nvPr/>
        </p:nvSpPr>
        <p:spPr>
          <a:xfrm>
            <a:off x="548640" y="1371600"/>
            <a:ext cx="11091672" cy="457200"/>
          </a:xfrm>
          <a:prstGeom prst="rect">
            <a:avLst/>
          </a:prstGeom>
          <a:noFill/>
          <a:ln/>
        </p:spPr>
        <p:txBody>
          <a:bodyPr wrap="square" lIns="0" tIns="0" rIns="0" bIns="0" rtlCol="0" anchor="ctr"/>
          <a:lstStyle/>
          <a:p>
            <a:pPr indent="0" marL="0">
              <a:buNone/>
            </a:pPr>
            <a:r>
              <a:rPr lang="en-US" sz="1450" dirty="0">
                <a:solidFill>
                  <a:srgbClr val="262626"/>
                </a:solidFill>
                <a:latin typeface="Calibri" pitchFamily="34" charset="0"/>
                <a:ea typeface="Calibri" pitchFamily="34" charset="-122"/>
                <a:cs typeface="Calibri" pitchFamily="34" charset="-120"/>
              </a:rPr>
              <a:t>Power Query opened our sales file, looked at the Date column, and decided it was a whole number. Nobody asked it to.</a:t>
            </a:r>
            <a:endParaRPr lang="en-US" sz="1450" dirty="0"/>
          </a:p>
        </p:txBody>
      </p:sp>
      <p:sp>
        <p:nvSpPr>
          <p:cNvPr id="7" name="Shape 5"/>
          <p:cNvSpPr/>
          <p:nvPr/>
        </p:nvSpPr>
        <p:spPr>
          <a:xfrm>
            <a:off x="548640" y="1920240"/>
            <a:ext cx="4572000" cy="1371600"/>
          </a:xfrm>
          <a:prstGeom prst="roundRect">
            <a:avLst>
              <a:gd name="adj" fmla="val 4667"/>
            </a:avLst>
          </a:prstGeom>
          <a:solidFill>
            <a:srgbClr val="EFF5F0"/>
          </a:solidFill>
          <a:ln/>
        </p:spPr>
      </p:sp>
      <p:sp>
        <p:nvSpPr>
          <p:cNvPr id="8" name="Text 6"/>
          <p:cNvSpPr/>
          <p:nvPr/>
        </p:nvSpPr>
        <p:spPr>
          <a:xfrm>
            <a:off x="822960" y="2057400"/>
            <a:ext cx="4023360" cy="274320"/>
          </a:xfrm>
          <a:prstGeom prst="rect">
            <a:avLst/>
          </a:prstGeom>
          <a:noFill/>
          <a:ln/>
        </p:spPr>
        <p:txBody>
          <a:bodyPr wrap="square" lIns="0" tIns="0" rIns="0" bIns="0" rtlCol="0" anchor="ctr"/>
          <a:lstStyle/>
          <a:p>
            <a:pPr indent="0" marL="0">
              <a:buNone/>
            </a:pPr>
            <a:r>
              <a:rPr lang="en-US" sz="1100" b="1" spc="120" kern="0" dirty="0">
                <a:solidFill>
                  <a:srgbClr val="2C6E49"/>
                </a:solidFill>
                <a:latin typeface="Calibri" pitchFamily="34" charset="0"/>
                <a:ea typeface="Calibri" pitchFamily="34" charset="-122"/>
                <a:cs typeface="Calibri" pitchFamily="34" charset="-120"/>
              </a:rPr>
              <a:t>WHAT THE FILE SAID</a:t>
            </a:r>
            <a:endParaRPr lang="en-US" sz="1100" dirty="0"/>
          </a:p>
        </p:txBody>
      </p:sp>
      <p:sp>
        <p:nvSpPr>
          <p:cNvPr id="9" name="Text 7"/>
          <p:cNvSpPr/>
          <p:nvPr/>
        </p:nvSpPr>
        <p:spPr>
          <a:xfrm>
            <a:off x="822960" y="2331720"/>
            <a:ext cx="4023360" cy="685800"/>
          </a:xfrm>
          <a:prstGeom prst="rect">
            <a:avLst/>
          </a:prstGeom>
          <a:noFill/>
          <a:ln/>
        </p:spPr>
        <p:txBody>
          <a:bodyPr wrap="square" lIns="0" tIns="0" rIns="0" bIns="0" rtlCol="0" anchor="ctr"/>
          <a:lstStyle/>
          <a:p>
            <a:pPr indent="0" marL="0">
              <a:buNone/>
            </a:pPr>
            <a:r>
              <a:rPr lang="en-US" sz="2800" b="1" dirty="0">
                <a:solidFill>
                  <a:srgbClr val="2C6E49"/>
                </a:solidFill>
                <a:latin typeface="Cambria" pitchFamily="34" charset="0"/>
                <a:ea typeface="Cambria" pitchFamily="34" charset="-122"/>
                <a:cs typeface="Cambria" pitchFamily="34" charset="-120"/>
              </a:rPr>
              <a:t>1 January 2025</a:t>
            </a:r>
            <a:endParaRPr lang="en-US" sz="2800" dirty="0"/>
          </a:p>
        </p:txBody>
      </p:sp>
      <p:sp>
        <p:nvSpPr>
          <p:cNvPr id="10" name="Text 8"/>
          <p:cNvSpPr/>
          <p:nvPr/>
        </p:nvSpPr>
        <p:spPr>
          <a:xfrm>
            <a:off x="5257800" y="1920240"/>
            <a:ext cx="914400" cy="1371600"/>
          </a:xfrm>
          <a:prstGeom prst="rect">
            <a:avLst/>
          </a:prstGeom>
          <a:noFill/>
          <a:ln/>
        </p:spPr>
        <p:txBody>
          <a:bodyPr wrap="square" lIns="0" tIns="0" rIns="0" bIns="0" rtlCol="0" anchor="ctr"/>
          <a:lstStyle/>
          <a:p>
            <a:pPr algn="ctr" indent="0" marL="0">
              <a:buNone/>
            </a:pPr>
            <a:r>
              <a:rPr lang="en-US" sz="3800" b="1" dirty="0">
                <a:solidFill>
                  <a:srgbClr val="6E6E6E"/>
                </a:solidFill>
                <a:latin typeface="Calibri" pitchFamily="34" charset="0"/>
                <a:ea typeface="Calibri" pitchFamily="34" charset="-122"/>
                <a:cs typeface="Calibri" pitchFamily="34" charset="-120"/>
              </a:rPr>
              <a:t>→</a:t>
            </a:r>
            <a:endParaRPr lang="en-US" sz="3800" dirty="0"/>
          </a:p>
        </p:txBody>
      </p:sp>
      <p:sp>
        <p:nvSpPr>
          <p:cNvPr id="11" name="Shape 9"/>
          <p:cNvSpPr/>
          <p:nvPr/>
        </p:nvSpPr>
        <p:spPr>
          <a:xfrm>
            <a:off x="6217920" y="1920240"/>
            <a:ext cx="5422392" cy="1371600"/>
          </a:xfrm>
          <a:prstGeom prst="roundRect">
            <a:avLst>
              <a:gd name="adj" fmla="val 4667"/>
            </a:avLst>
          </a:prstGeom>
          <a:solidFill>
            <a:srgbClr val="F3E4E7"/>
          </a:solidFill>
          <a:ln/>
        </p:spPr>
      </p:sp>
      <p:sp>
        <p:nvSpPr>
          <p:cNvPr id="12" name="Text 10"/>
          <p:cNvSpPr/>
          <p:nvPr/>
        </p:nvSpPr>
        <p:spPr>
          <a:xfrm>
            <a:off x="6492240" y="2057400"/>
            <a:ext cx="4846320" cy="274320"/>
          </a:xfrm>
          <a:prstGeom prst="rect">
            <a:avLst/>
          </a:prstGeom>
          <a:noFill/>
          <a:ln/>
        </p:spPr>
        <p:txBody>
          <a:bodyPr wrap="square" lIns="0" tIns="0" rIns="0" bIns="0" rtlCol="0" anchor="ctr"/>
          <a:lstStyle/>
          <a:p>
            <a:pPr indent="0" marL="0">
              <a:buNone/>
            </a:pPr>
            <a:r>
              <a:rPr lang="en-US" sz="1100" b="1" spc="120" kern="0" dirty="0">
                <a:solidFill>
                  <a:srgbClr val="9D2235"/>
                </a:solidFill>
                <a:latin typeface="Calibri" pitchFamily="34" charset="0"/>
                <a:ea typeface="Calibri" pitchFamily="34" charset="-122"/>
                <a:cs typeface="Calibri" pitchFamily="34" charset="-120"/>
              </a:rPr>
              <a:t>WHAT POWER BI STORED</a:t>
            </a:r>
            <a:endParaRPr lang="en-US" sz="1100" dirty="0"/>
          </a:p>
        </p:txBody>
      </p:sp>
      <p:sp>
        <p:nvSpPr>
          <p:cNvPr id="13" name="Text 11"/>
          <p:cNvSpPr/>
          <p:nvPr/>
        </p:nvSpPr>
        <p:spPr>
          <a:xfrm>
            <a:off x="6492240" y="2331720"/>
            <a:ext cx="2743200" cy="685800"/>
          </a:xfrm>
          <a:prstGeom prst="rect">
            <a:avLst/>
          </a:prstGeom>
          <a:noFill/>
          <a:ln/>
        </p:spPr>
        <p:txBody>
          <a:bodyPr wrap="square" lIns="0" tIns="0" rIns="0" bIns="0" rtlCol="0" anchor="ctr"/>
          <a:lstStyle/>
          <a:p>
            <a:pPr indent="0" marL="0">
              <a:buNone/>
            </a:pPr>
            <a:r>
              <a:rPr lang="en-US" sz="3200" b="1" dirty="0">
                <a:solidFill>
                  <a:srgbClr val="9D2235"/>
                </a:solidFill>
                <a:latin typeface="Cambria" pitchFamily="34" charset="0"/>
                <a:ea typeface="Cambria" pitchFamily="34" charset="-122"/>
                <a:cs typeface="Cambria" pitchFamily="34" charset="-120"/>
              </a:rPr>
              <a:t>45658</a:t>
            </a:r>
            <a:endParaRPr lang="en-US" sz="3200" dirty="0"/>
          </a:p>
        </p:txBody>
      </p:sp>
      <p:sp>
        <p:nvSpPr>
          <p:cNvPr id="14" name="Text 12"/>
          <p:cNvSpPr/>
          <p:nvPr/>
        </p:nvSpPr>
        <p:spPr>
          <a:xfrm>
            <a:off x="9052560" y="2331720"/>
            <a:ext cx="2377440" cy="685800"/>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no warning · no error</a:t>
            </a:r>
            <a:endParaRPr lang="en-US" sz="1100" dirty="0"/>
          </a:p>
        </p:txBody>
      </p:sp>
      <p:sp>
        <p:nvSpPr>
          <p:cNvPr id="15" name="Shape 13"/>
          <p:cNvSpPr/>
          <p:nvPr/>
        </p:nvSpPr>
        <p:spPr>
          <a:xfrm>
            <a:off x="548640" y="3456432"/>
            <a:ext cx="11091672" cy="621792"/>
          </a:xfrm>
          <a:prstGeom prst="roundRect">
            <a:avLst>
              <a:gd name="adj" fmla="val 10294"/>
            </a:avLst>
          </a:prstGeom>
          <a:solidFill>
            <a:srgbClr val="3F0D18"/>
          </a:solidFill>
          <a:ln/>
        </p:spPr>
      </p:sp>
      <p:sp>
        <p:nvSpPr>
          <p:cNvPr id="16" name="Text 14"/>
          <p:cNvSpPr/>
          <p:nvPr/>
        </p:nvSpPr>
        <p:spPr>
          <a:xfrm>
            <a:off x="804672" y="3456432"/>
            <a:ext cx="2651760" cy="621792"/>
          </a:xfrm>
          <a:prstGeom prst="rect">
            <a:avLst/>
          </a:prstGeom>
          <a:noFill/>
          <a:ln/>
        </p:spPr>
        <p:txBody>
          <a:bodyPr wrap="square" lIns="0" tIns="0" rIns="0" bIns="0" rtlCol="0" anchor="ctr"/>
          <a:lstStyle/>
          <a:p>
            <a:pPr indent="0" marL="0">
              <a:buNone/>
            </a:pPr>
            <a:r>
              <a:rPr lang="en-US" sz="1150" b="1" dirty="0">
                <a:solidFill>
                  <a:srgbClr val="E3B23C"/>
                </a:solidFill>
                <a:latin typeface="Calibri" pitchFamily="34" charset="0"/>
                <a:ea typeface="Calibri" pitchFamily="34" charset="-122"/>
                <a:cs typeface="Calibri" pitchFamily="34" charset="-120"/>
              </a:rPr>
              <a:t>The step it wrote for itself:</a:t>
            </a:r>
            <a:endParaRPr lang="en-US" sz="1150" dirty="0"/>
          </a:p>
        </p:txBody>
      </p:sp>
      <p:sp>
        <p:nvSpPr>
          <p:cNvPr id="17" name="Text 15"/>
          <p:cNvSpPr/>
          <p:nvPr/>
        </p:nvSpPr>
        <p:spPr>
          <a:xfrm>
            <a:off x="3566160" y="3456432"/>
            <a:ext cx="7772400" cy="621792"/>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{"Date", Int64.Type}</a:t>
            </a:r>
            <a:endParaRPr lang="en-US" sz="1300" dirty="0"/>
          </a:p>
        </p:txBody>
      </p:sp>
      <p:sp>
        <p:nvSpPr>
          <p:cNvPr id="18" name="Shape 16"/>
          <p:cNvSpPr/>
          <p:nvPr/>
        </p:nvSpPr>
        <p:spPr>
          <a:xfrm>
            <a:off x="548640" y="4251960"/>
            <a:ext cx="3547872" cy="1554480"/>
          </a:xfrm>
          <a:prstGeom prst="roundRect">
            <a:avLst>
              <a:gd name="adj" fmla="val 4118"/>
            </a:avLst>
          </a:prstGeom>
          <a:solidFill>
            <a:srgbClr val="FAF2F3"/>
          </a:solidFill>
          <a:ln/>
        </p:spPr>
      </p:sp>
      <p:sp>
        <p:nvSpPr>
          <p:cNvPr id="19" name="Shape 17"/>
          <p:cNvSpPr/>
          <p:nvPr/>
        </p:nvSpPr>
        <p:spPr>
          <a:xfrm>
            <a:off x="786384" y="4462272"/>
            <a:ext cx="493776" cy="493776"/>
          </a:xfrm>
          <a:prstGeom prst="ellipse">
            <a:avLst/>
          </a:prstGeom>
          <a:solidFill>
            <a:srgbClr val="2C6E49"/>
          </a:solidFill>
          <a:ln/>
        </p:spPr>
      </p:sp>
      <p:pic>
        <p:nvPicPr>
          <p:cNvPr id="20" name="Image 0" descr="preencoded.png">    </p:cNvPr>
          <p:cNvPicPr>
            <a:picLocks noChangeAspect="1"/>
          </p:cNvPicPr>
          <p:nvPr/>
        </p:nvPicPr>
        <p:blipFill>
          <a:blip r:embed="rId1"/>
          <a:stretch>
            <a:fillRect/>
          </a:stretch>
        </p:blipFill>
        <p:spPr>
          <a:xfrm>
            <a:off x="914766" y="4590654"/>
            <a:ext cx="237012" cy="237012"/>
          </a:xfrm>
          <a:prstGeom prst="rect">
            <a:avLst/>
          </a:prstGeom>
        </p:spPr>
      </p:pic>
      <p:sp>
        <p:nvSpPr>
          <p:cNvPr id="21" name="Text 18"/>
          <p:cNvSpPr/>
          <p:nvPr/>
        </p:nvSpPr>
        <p:spPr>
          <a:xfrm>
            <a:off x="1389888" y="4462272"/>
            <a:ext cx="2606040" cy="493776"/>
          </a:xfrm>
          <a:prstGeom prst="rect">
            <a:avLst/>
          </a:prstGeom>
          <a:noFill/>
          <a:ln/>
        </p:spPr>
        <p:txBody>
          <a:bodyPr wrap="square" lIns="0" tIns="0" rIns="0" bIns="0" rtlCol="0" anchor="ctr"/>
          <a:lstStyle/>
          <a:p>
            <a:pPr indent="0" marL="0">
              <a:lnSpc>
                <a:spcPts val="1500"/>
              </a:lnSpc>
              <a:buNone/>
            </a:pPr>
            <a:r>
              <a:rPr lang="en-US" sz="1300" b="1" dirty="0">
                <a:solidFill>
                  <a:srgbClr val="2C6E49"/>
                </a:solidFill>
                <a:latin typeface="Calibri" pitchFamily="34" charset="0"/>
                <a:ea typeface="Calibri" pitchFamily="34" charset="-122"/>
                <a:cs typeface="Calibri" pitchFamily="34" charset="-120"/>
              </a:rPr>
              <a:t>Nobody made a mistake</a:t>
            </a:r>
            <a:endParaRPr lang="en-US" sz="1300" dirty="0"/>
          </a:p>
        </p:txBody>
      </p:sp>
      <p:sp>
        <p:nvSpPr>
          <p:cNvPr id="22" name="Text 19"/>
          <p:cNvSpPr/>
          <p:nvPr/>
        </p:nvSpPr>
        <p:spPr>
          <a:xfrm>
            <a:off x="786384" y="5029200"/>
            <a:ext cx="3108960" cy="658368"/>
          </a:xfrm>
          <a:prstGeom prst="rect">
            <a:avLst/>
          </a:prstGeom>
          <a:noFill/>
          <a:ln/>
        </p:spPr>
        <p:txBody>
          <a:bodyPr wrap="square" lIns="0" tIns="0" rIns="0" bIns="0" rtlCol="0" anchor="ctr"/>
          <a:lstStyle/>
          <a:p>
            <a:pPr indent="0" marL="0">
              <a:lnSpc>
                <a:spcPts val="1400"/>
              </a:lnSpc>
              <a:buNone/>
            </a:pPr>
            <a:r>
              <a:rPr lang="en-US" sz="1100" dirty="0">
                <a:solidFill>
                  <a:srgbClr val="262626"/>
                </a:solidFill>
                <a:latin typeface="Calibri" pitchFamily="34" charset="0"/>
                <a:ea typeface="Calibri" pitchFamily="34" charset="-122"/>
                <a:cs typeface="Calibri" pitchFamily="34" charset="-120"/>
              </a:rPr>
              <a:t>The dates were correct in the file. They still are.</a:t>
            </a:r>
            <a:endParaRPr lang="en-US" sz="1100" dirty="0"/>
          </a:p>
        </p:txBody>
      </p:sp>
      <p:sp>
        <p:nvSpPr>
          <p:cNvPr id="23" name="Shape 20"/>
          <p:cNvSpPr/>
          <p:nvPr/>
        </p:nvSpPr>
        <p:spPr>
          <a:xfrm>
            <a:off x="4325112" y="4251960"/>
            <a:ext cx="3547872" cy="1554480"/>
          </a:xfrm>
          <a:prstGeom prst="roundRect">
            <a:avLst>
              <a:gd name="adj" fmla="val 4118"/>
            </a:avLst>
          </a:prstGeom>
          <a:solidFill>
            <a:srgbClr val="FAF2F3"/>
          </a:solidFill>
          <a:ln/>
        </p:spPr>
      </p:sp>
      <p:sp>
        <p:nvSpPr>
          <p:cNvPr id="24" name="Shape 21"/>
          <p:cNvSpPr/>
          <p:nvPr/>
        </p:nvSpPr>
        <p:spPr>
          <a:xfrm>
            <a:off x="4562856" y="4462272"/>
            <a:ext cx="493776" cy="493776"/>
          </a:xfrm>
          <a:prstGeom prst="ellipse">
            <a:avLst/>
          </a:prstGeom>
          <a:solidFill>
            <a:srgbClr val="9D2235"/>
          </a:solidFill>
          <a:ln/>
        </p:spPr>
      </p:sp>
      <p:pic>
        <p:nvPicPr>
          <p:cNvPr id="25" name="Image 1" descr="preencoded.png">    </p:cNvPr>
          <p:cNvPicPr>
            <a:picLocks noChangeAspect="1"/>
          </p:cNvPicPr>
          <p:nvPr/>
        </p:nvPicPr>
        <p:blipFill>
          <a:blip r:embed="rId2"/>
          <a:stretch>
            <a:fillRect/>
          </a:stretch>
        </p:blipFill>
        <p:spPr>
          <a:xfrm>
            <a:off x="4691238" y="4590654"/>
            <a:ext cx="237012" cy="237012"/>
          </a:xfrm>
          <a:prstGeom prst="rect">
            <a:avLst/>
          </a:prstGeom>
        </p:spPr>
      </p:pic>
      <p:sp>
        <p:nvSpPr>
          <p:cNvPr id="26" name="Text 22"/>
          <p:cNvSpPr/>
          <p:nvPr/>
        </p:nvSpPr>
        <p:spPr>
          <a:xfrm>
            <a:off x="5166360" y="4462272"/>
            <a:ext cx="2606040" cy="493776"/>
          </a:xfrm>
          <a:prstGeom prst="rect">
            <a:avLst/>
          </a:prstGeom>
          <a:noFill/>
          <a:ln/>
        </p:spPr>
        <p:txBody>
          <a:bodyPr wrap="square" lIns="0" tIns="0" rIns="0" bIns="0" rtlCol="0" anchor="ctr"/>
          <a:lstStyle/>
          <a:p>
            <a:pPr indent="0" marL="0">
              <a:lnSpc>
                <a:spcPts val="1500"/>
              </a:lnSpc>
              <a:buNone/>
            </a:pPr>
            <a:r>
              <a:rPr lang="en-US" sz="1300" b="1" dirty="0">
                <a:solidFill>
                  <a:srgbClr val="9D2235"/>
                </a:solidFill>
                <a:latin typeface="Calibri" pitchFamily="34" charset="0"/>
                <a:ea typeface="Calibri" pitchFamily="34" charset="-122"/>
                <a:cs typeface="Calibri" pitchFamily="34" charset="-120"/>
              </a:rPr>
              <a:t>The tool decided on its own</a:t>
            </a:r>
            <a:endParaRPr lang="en-US" sz="1300" dirty="0"/>
          </a:p>
        </p:txBody>
      </p:sp>
      <p:sp>
        <p:nvSpPr>
          <p:cNvPr id="27" name="Text 23"/>
          <p:cNvSpPr/>
          <p:nvPr/>
        </p:nvSpPr>
        <p:spPr>
          <a:xfrm>
            <a:off x="4562856" y="5029200"/>
            <a:ext cx="3108960" cy="658368"/>
          </a:xfrm>
          <a:prstGeom prst="rect">
            <a:avLst/>
          </a:prstGeom>
          <a:noFill/>
          <a:ln/>
        </p:spPr>
        <p:txBody>
          <a:bodyPr wrap="square" lIns="0" tIns="0" rIns="0" bIns="0" rtlCol="0" anchor="ctr"/>
          <a:lstStyle/>
          <a:p>
            <a:pPr indent="0" marL="0">
              <a:lnSpc>
                <a:spcPts val="1400"/>
              </a:lnSpc>
              <a:buNone/>
            </a:pPr>
            <a:r>
              <a:rPr lang="en-US" sz="1100" dirty="0">
                <a:solidFill>
                  <a:srgbClr val="262626"/>
                </a:solidFill>
                <a:latin typeface="Calibri" pitchFamily="34" charset="0"/>
                <a:ea typeface="Calibri" pitchFamily="34" charset="-122"/>
                <a:cs typeface="Calibri" pitchFamily="34" charset="-120"/>
              </a:rPr>
              <a:t>An auto-generated step nobody wrote or reviewed.</a:t>
            </a:r>
            <a:endParaRPr lang="en-US" sz="1100" dirty="0"/>
          </a:p>
        </p:txBody>
      </p:sp>
      <p:sp>
        <p:nvSpPr>
          <p:cNvPr id="28" name="Shape 24"/>
          <p:cNvSpPr/>
          <p:nvPr/>
        </p:nvSpPr>
        <p:spPr>
          <a:xfrm>
            <a:off x="8101584" y="4251960"/>
            <a:ext cx="3547872" cy="1554480"/>
          </a:xfrm>
          <a:prstGeom prst="roundRect">
            <a:avLst>
              <a:gd name="adj" fmla="val 4118"/>
            </a:avLst>
          </a:prstGeom>
          <a:solidFill>
            <a:srgbClr val="FFF7E6"/>
          </a:solidFill>
          <a:ln/>
        </p:spPr>
      </p:sp>
      <p:sp>
        <p:nvSpPr>
          <p:cNvPr id="29" name="Shape 25"/>
          <p:cNvSpPr/>
          <p:nvPr/>
        </p:nvSpPr>
        <p:spPr>
          <a:xfrm>
            <a:off x="8339328" y="4462272"/>
            <a:ext cx="493776" cy="493776"/>
          </a:xfrm>
          <a:prstGeom prst="ellipse">
            <a:avLst/>
          </a:prstGeom>
          <a:solidFill>
            <a:srgbClr val="C99700"/>
          </a:solidFill>
          <a:ln/>
        </p:spPr>
      </p:sp>
      <p:pic>
        <p:nvPicPr>
          <p:cNvPr id="30" name="Image 2" descr="preencoded.png">    </p:cNvPr>
          <p:cNvPicPr>
            <a:picLocks noChangeAspect="1"/>
          </p:cNvPicPr>
          <p:nvPr/>
        </p:nvPicPr>
        <p:blipFill>
          <a:blip r:embed="rId3"/>
          <a:stretch>
            <a:fillRect/>
          </a:stretch>
        </p:blipFill>
        <p:spPr>
          <a:xfrm>
            <a:off x="8467710" y="4590654"/>
            <a:ext cx="237012" cy="237012"/>
          </a:xfrm>
          <a:prstGeom prst="rect">
            <a:avLst/>
          </a:prstGeom>
        </p:spPr>
      </p:pic>
      <p:sp>
        <p:nvSpPr>
          <p:cNvPr id="31" name="Text 26"/>
          <p:cNvSpPr/>
          <p:nvPr/>
        </p:nvSpPr>
        <p:spPr>
          <a:xfrm>
            <a:off x="8942832" y="4462272"/>
            <a:ext cx="2606040" cy="493776"/>
          </a:xfrm>
          <a:prstGeom prst="rect">
            <a:avLst/>
          </a:prstGeom>
          <a:noFill/>
          <a:ln/>
        </p:spPr>
        <p:txBody>
          <a:bodyPr wrap="square" lIns="0" tIns="0" rIns="0" bIns="0" rtlCol="0" anchor="ctr"/>
          <a:lstStyle/>
          <a:p>
            <a:pPr indent="0" marL="0">
              <a:lnSpc>
                <a:spcPts val="1500"/>
              </a:lnSpc>
              <a:buNone/>
            </a:pPr>
            <a:r>
              <a:rPr lang="en-US" sz="1300" b="1" dirty="0">
                <a:solidFill>
                  <a:srgbClr val="C99700"/>
                </a:solidFill>
                <a:latin typeface="Calibri" pitchFamily="34" charset="0"/>
                <a:ea typeface="Calibri" pitchFamily="34" charset="-122"/>
                <a:cs typeface="Calibri" pitchFamily="34" charset="-120"/>
              </a:rPr>
              <a:t>It would have broken Week 10</a:t>
            </a:r>
            <a:endParaRPr lang="en-US" sz="1300" dirty="0"/>
          </a:p>
        </p:txBody>
      </p:sp>
      <p:sp>
        <p:nvSpPr>
          <p:cNvPr id="32" name="Text 27"/>
          <p:cNvSpPr/>
          <p:nvPr/>
        </p:nvSpPr>
        <p:spPr>
          <a:xfrm>
            <a:off x="8339328" y="5029200"/>
            <a:ext cx="3108960" cy="658368"/>
          </a:xfrm>
          <a:prstGeom prst="rect">
            <a:avLst/>
          </a:prstGeom>
          <a:noFill/>
          <a:ln/>
        </p:spPr>
        <p:txBody>
          <a:bodyPr wrap="square" lIns="0" tIns="0" rIns="0" bIns="0" rtlCol="0" anchor="ctr"/>
          <a:lstStyle/>
          <a:p>
            <a:pPr indent="0" marL="0">
              <a:lnSpc>
                <a:spcPts val="1400"/>
              </a:lnSpc>
              <a:buNone/>
            </a:pPr>
            <a:r>
              <a:rPr lang="en-US" sz="1100" dirty="0">
                <a:solidFill>
                  <a:srgbClr val="262626"/>
                </a:solidFill>
                <a:latin typeface="Calibri" pitchFamily="34" charset="0"/>
                <a:ea typeface="Calibri" pitchFamily="34" charset="-122"/>
                <a:cs typeface="Calibri" pitchFamily="34" charset="-120"/>
              </a:rPr>
              <a:t>No date table. No year-over-year. Still producing numbers.</a:t>
            </a:r>
            <a:endParaRPr lang="en-US" sz="1100" dirty="0"/>
          </a:p>
        </p:txBody>
      </p:sp>
      <p:sp>
        <p:nvSpPr>
          <p:cNvPr id="33" name="Text 28"/>
          <p:cNvSpPr/>
          <p:nvPr/>
        </p:nvSpPr>
        <p:spPr>
          <a:xfrm>
            <a:off x="548640" y="5989320"/>
            <a:ext cx="11091672" cy="365760"/>
          </a:xfrm>
          <a:prstGeom prst="rect">
            <a:avLst/>
          </a:prstGeom>
          <a:noFill/>
          <a:ln/>
        </p:spPr>
        <p:txBody>
          <a:bodyPr wrap="square" lIns="0" tIns="0" rIns="0" bIns="0" rtlCol="0" anchor="ctr"/>
          <a:lstStyle/>
          <a:p>
            <a:pPr indent="0" marL="0">
              <a:buNone/>
            </a:pPr>
            <a:r>
              <a:rPr lang="en-US" sz="1350" b="1" i="1" dirty="0">
                <a:solidFill>
                  <a:srgbClr val="9D2235"/>
                </a:solidFill>
                <a:latin typeface="Calibri" pitchFamily="34" charset="0"/>
                <a:ea typeface="Calibri" pitchFamily="34" charset="-122"/>
                <a:cs typeface="Calibri" pitchFamily="34" charset="-120"/>
              </a:rPr>
              <a:t>This is why we profile before we build. Not because people are careless — because tools are.</a:t>
            </a:r>
            <a:endParaRPr lang="en-US" sz="13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DATA TYPES DELIBERATELY</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Dates are where tools guess hardest</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14</a:t>
            </a:r>
            <a:endParaRPr lang="en-US" sz="850" dirty="0"/>
          </a:p>
        </p:txBody>
      </p:sp>
      <p:sp>
        <p:nvSpPr>
          <p:cNvPr id="6" name="Shape 4"/>
          <p:cNvSpPr/>
          <p:nvPr/>
        </p:nvSpPr>
        <p:spPr>
          <a:xfrm>
            <a:off x="548640" y="1463040"/>
            <a:ext cx="11091672" cy="1234440"/>
          </a:xfrm>
          <a:prstGeom prst="roundRect">
            <a:avLst>
              <a:gd name="adj" fmla="val 5185"/>
            </a:avLst>
          </a:prstGeom>
          <a:solidFill>
            <a:srgbClr val="FFF7E6"/>
          </a:solidFill>
          <a:ln/>
        </p:spPr>
      </p:sp>
      <p:sp>
        <p:nvSpPr>
          <p:cNvPr id="7" name="Text 5"/>
          <p:cNvSpPr/>
          <p:nvPr/>
        </p:nvSpPr>
        <p:spPr>
          <a:xfrm>
            <a:off x="914400" y="1600200"/>
            <a:ext cx="2377440" cy="548640"/>
          </a:xfrm>
          <a:prstGeom prst="rect">
            <a:avLst/>
          </a:prstGeom>
          <a:noFill/>
          <a:ln/>
        </p:spPr>
        <p:txBody>
          <a:bodyPr wrap="square" lIns="0" tIns="0" rIns="0" bIns="0" rtlCol="0" anchor="ctr"/>
          <a:lstStyle/>
          <a:p>
            <a:pPr indent="0" marL="0">
              <a:buNone/>
            </a:pPr>
            <a:r>
              <a:rPr lang="en-US" sz="2600" b="1" dirty="0">
                <a:solidFill>
                  <a:srgbClr val="9D2235"/>
                </a:solidFill>
                <a:latin typeface="Cambria" pitchFamily="34" charset="0"/>
                <a:ea typeface="Cambria" pitchFamily="34" charset="-122"/>
                <a:cs typeface="Cambria" pitchFamily="34" charset="-120"/>
              </a:rPr>
              <a:t>05/06/2025</a:t>
            </a:r>
            <a:endParaRPr lang="en-US" sz="2600" dirty="0"/>
          </a:p>
        </p:txBody>
      </p:sp>
      <p:sp>
        <p:nvSpPr>
          <p:cNvPr id="8" name="Text 6"/>
          <p:cNvSpPr/>
          <p:nvPr/>
        </p:nvSpPr>
        <p:spPr>
          <a:xfrm>
            <a:off x="3566160" y="1627632"/>
            <a:ext cx="7680960" cy="457200"/>
          </a:xfrm>
          <a:prstGeom prst="rect">
            <a:avLst/>
          </a:prstGeom>
          <a:noFill/>
          <a:ln/>
        </p:spPr>
        <p:txBody>
          <a:bodyPr wrap="square" lIns="0" tIns="0" rIns="0" bIns="0" rtlCol="0" anchor="ctr"/>
          <a:lstStyle/>
          <a:p>
            <a:pPr indent="0" marL="0">
              <a:buNone/>
            </a:pPr>
            <a:r>
              <a:rPr lang="en-US" sz="1600" b="1" dirty="0">
                <a:solidFill>
                  <a:srgbClr val="262626"/>
                </a:solidFill>
                <a:latin typeface="Calibri" pitchFamily="34" charset="0"/>
                <a:ea typeface="Calibri" pitchFamily="34" charset="-122"/>
                <a:cs typeface="Calibri" pitchFamily="34" charset="-120"/>
              </a:rPr>
              <a:t>Is that the 5th of June, or the 6th of May?</a:t>
            </a:r>
            <a:endParaRPr lang="en-US" sz="1600" dirty="0"/>
          </a:p>
        </p:txBody>
      </p:sp>
      <p:sp>
        <p:nvSpPr>
          <p:cNvPr id="9" name="Text 7"/>
          <p:cNvSpPr/>
          <p:nvPr/>
        </p:nvSpPr>
        <p:spPr>
          <a:xfrm>
            <a:off x="3566160" y="2084832"/>
            <a:ext cx="7680960" cy="411480"/>
          </a:xfrm>
          <a:prstGeom prst="rect">
            <a:avLst/>
          </a:prstGeom>
          <a:noFill/>
          <a:ln/>
        </p:spPr>
        <p:txBody>
          <a:bodyPr wrap="square" lIns="0" tIns="0" rIns="0" bIns="0" rtlCol="0" anchor="ctr"/>
          <a:lstStyle/>
          <a:p>
            <a:pPr indent="0" marL="0">
              <a:buNone/>
            </a:pPr>
            <a:r>
              <a:rPr lang="en-US" sz="1300" dirty="0">
                <a:solidFill>
                  <a:srgbClr val="6E6E6E"/>
                </a:solidFill>
                <a:latin typeface="Calibri" pitchFamily="34" charset="0"/>
                <a:ea typeface="Calibri" pitchFamily="34" charset="-122"/>
                <a:cs typeface="Calibri" pitchFamily="34" charset="-120"/>
              </a:rPr>
              <a:t>The file does not say. The tool decides, using a locale setting you never chose.</a:t>
            </a:r>
            <a:endParaRPr lang="en-US" sz="1300" dirty="0"/>
          </a:p>
        </p:txBody>
      </p:sp>
      <p:sp>
        <p:nvSpPr>
          <p:cNvPr id="10" name="Text 8"/>
          <p:cNvSpPr/>
          <p:nvPr/>
        </p:nvSpPr>
        <p:spPr>
          <a:xfrm>
            <a:off x="548640" y="2926080"/>
            <a:ext cx="5486400" cy="365760"/>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In your own case file</a:t>
            </a:r>
            <a:endParaRPr lang="en-US" sz="1500" dirty="0"/>
          </a:p>
        </p:txBody>
      </p:sp>
      <p:sp>
        <p:nvSpPr>
          <p:cNvPr id="11" name="Shape 9"/>
          <p:cNvSpPr/>
          <p:nvPr/>
        </p:nvSpPr>
        <p:spPr>
          <a:xfrm>
            <a:off x="548640" y="3383280"/>
            <a:ext cx="11091672" cy="804672"/>
          </a:xfrm>
          <a:prstGeom prst="roundRect">
            <a:avLst>
              <a:gd name="adj" fmla="val 7955"/>
            </a:avLst>
          </a:prstGeom>
          <a:solidFill>
            <a:srgbClr val="FAF2F3"/>
          </a:solidFill>
          <a:ln/>
        </p:spPr>
      </p:sp>
      <p:sp>
        <p:nvSpPr>
          <p:cNvPr id="12" name="Text 10"/>
          <p:cNvSpPr/>
          <p:nvPr/>
        </p:nvSpPr>
        <p:spPr>
          <a:xfrm>
            <a:off x="822960" y="3456432"/>
            <a:ext cx="3291840" cy="658368"/>
          </a:xfrm>
          <a:prstGeom prst="rect">
            <a:avLst/>
          </a:prstGeom>
          <a:noFill/>
          <a:ln/>
        </p:spPr>
        <p:txBody>
          <a:bodyPr wrap="square" lIns="0" tIns="0" rIns="0" bIns="0" rtlCol="0" anchor="ctr"/>
          <a:lstStyle/>
          <a:p>
            <a:pPr indent="0" marL="0">
              <a:buNone/>
            </a:pPr>
            <a:r>
              <a:rPr lang="en-US" sz="1250" b="1" dirty="0">
                <a:solidFill>
                  <a:srgbClr val="9D2235"/>
                </a:solidFill>
                <a:latin typeface="Calibri" pitchFamily="34" charset="0"/>
                <a:ea typeface="Calibri" pitchFamily="34" charset="-122"/>
                <a:cs typeface="Calibri" pitchFamily="34" charset="-120"/>
              </a:rPr>
              <a:t>customers.csv — JoinedDate</a:t>
            </a:r>
            <a:endParaRPr lang="en-US" sz="1250" dirty="0"/>
          </a:p>
        </p:txBody>
      </p:sp>
      <p:sp>
        <p:nvSpPr>
          <p:cNvPr id="13" name="Text 11"/>
          <p:cNvSpPr/>
          <p:nvPr/>
        </p:nvSpPr>
        <p:spPr>
          <a:xfrm>
            <a:off x="4297680" y="3456432"/>
            <a:ext cx="7040880" cy="658368"/>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22 of 186 rows use m/d/yyyy while the rest use yyyy-mm-dd. One column, two conventions.</a:t>
            </a:r>
            <a:endParaRPr lang="en-US" sz="1200" dirty="0"/>
          </a:p>
        </p:txBody>
      </p:sp>
      <p:sp>
        <p:nvSpPr>
          <p:cNvPr id="14" name="Shape 12"/>
          <p:cNvSpPr/>
          <p:nvPr/>
        </p:nvSpPr>
        <p:spPr>
          <a:xfrm>
            <a:off x="548640" y="4297680"/>
            <a:ext cx="11091672" cy="804672"/>
          </a:xfrm>
          <a:prstGeom prst="roundRect">
            <a:avLst>
              <a:gd name="adj" fmla="val 7955"/>
            </a:avLst>
          </a:prstGeom>
          <a:solidFill>
            <a:srgbClr val="FAF2F3"/>
          </a:solidFill>
          <a:ln/>
        </p:spPr>
      </p:sp>
      <p:sp>
        <p:nvSpPr>
          <p:cNvPr id="15" name="Text 13"/>
          <p:cNvSpPr/>
          <p:nvPr/>
        </p:nvSpPr>
        <p:spPr>
          <a:xfrm>
            <a:off x="822960" y="4370832"/>
            <a:ext cx="3291840" cy="658368"/>
          </a:xfrm>
          <a:prstGeom prst="rect">
            <a:avLst/>
          </a:prstGeom>
          <a:noFill/>
          <a:ln/>
        </p:spPr>
        <p:txBody>
          <a:bodyPr wrap="square" lIns="0" tIns="0" rIns="0" bIns="0" rtlCol="0" anchor="ctr"/>
          <a:lstStyle/>
          <a:p>
            <a:pPr indent="0" marL="0">
              <a:buNone/>
            </a:pPr>
            <a:r>
              <a:rPr lang="en-US" sz="1250" b="1" dirty="0">
                <a:solidFill>
                  <a:srgbClr val="9D2235"/>
                </a:solidFill>
                <a:latin typeface="Calibri" pitchFamily="34" charset="0"/>
                <a:ea typeface="Calibri" pitchFamily="34" charset="-122"/>
                <a:cs typeface="Calibri" pitchFamily="34" charset="-120"/>
              </a:rPr>
              <a:t>What Power Query will do</a:t>
            </a:r>
            <a:endParaRPr lang="en-US" sz="1250" dirty="0"/>
          </a:p>
        </p:txBody>
      </p:sp>
      <p:sp>
        <p:nvSpPr>
          <p:cNvPr id="16" name="Text 14"/>
          <p:cNvSpPr/>
          <p:nvPr/>
        </p:nvSpPr>
        <p:spPr>
          <a:xfrm>
            <a:off x="4297680" y="4370832"/>
            <a:ext cx="7040880" cy="658368"/>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Pick one interpretation for the whole column. The 22 either become errors, or become the wrong dates silently.</a:t>
            </a:r>
            <a:endParaRPr lang="en-US" sz="1200" dirty="0"/>
          </a:p>
        </p:txBody>
      </p:sp>
      <p:sp>
        <p:nvSpPr>
          <p:cNvPr id="17" name="Shape 15"/>
          <p:cNvSpPr/>
          <p:nvPr/>
        </p:nvSpPr>
        <p:spPr>
          <a:xfrm>
            <a:off x="548640" y="5212080"/>
            <a:ext cx="11091672" cy="804672"/>
          </a:xfrm>
          <a:prstGeom prst="roundRect">
            <a:avLst>
              <a:gd name="adj" fmla="val 7955"/>
            </a:avLst>
          </a:prstGeom>
          <a:solidFill>
            <a:srgbClr val="FAF2F3"/>
          </a:solidFill>
          <a:ln/>
        </p:spPr>
      </p:sp>
      <p:sp>
        <p:nvSpPr>
          <p:cNvPr id="18" name="Text 16"/>
          <p:cNvSpPr/>
          <p:nvPr/>
        </p:nvSpPr>
        <p:spPr>
          <a:xfrm>
            <a:off x="822960" y="5285232"/>
            <a:ext cx="3291840" cy="658368"/>
          </a:xfrm>
          <a:prstGeom prst="rect">
            <a:avLst/>
          </a:prstGeom>
          <a:noFill/>
          <a:ln/>
        </p:spPr>
        <p:txBody>
          <a:bodyPr wrap="square" lIns="0" tIns="0" rIns="0" bIns="0" rtlCol="0" anchor="ctr"/>
          <a:lstStyle/>
          <a:p>
            <a:pPr indent="0" marL="0">
              <a:buNone/>
            </a:pPr>
            <a:r>
              <a:rPr lang="en-US" sz="1250" b="1" dirty="0">
                <a:solidFill>
                  <a:srgbClr val="9D2235"/>
                </a:solidFill>
                <a:latin typeface="Calibri" pitchFamily="34" charset="0"/>
                <a:ea typeface="Calibri" pitchFamily="34" charset="-122"/>
                <a:cs typeface="Calibri" pitchFamily="34" charset="-120"/>
              </a:rPr>
              <a:t>What you must do</a:t>
            </a:r>
            <a:endParaRPr lang="en-US" sz="1250" dirty="0"/>
          </a:p>
        </p:txBody>
      </p:sp>
      <p:sp>
        <p:nvSpPr>
          <p:cNvPr id="19" name="Text 17"/>
          <p:cNvSpPr/>
          <p:nvPr/>
        </p:nvSpPr>
        <p:spPr>
          <a:xfrm>
            <a:off x="4297680" y="5285232"/>
            <a:ext cx="7040880" cy="658368"/>
          </a:xfrm>
          <a:prstGeom prst="rect">
            <a:avLst/>
          </a:prstGeom>
          <a:noFill/>
          <a:ln/>
        </p:spPr>
        <p:txBody>
          <a:bodyPr wrap="square" lIns="0" tIns="0" rIns="0" bIns="0" rtlCol="0" anchor="ctr"/>
          <a:lstStyle/>
          <a:p>
            <a:pPr indent="0" marL="0">
              <a:lnSpc>
                <a:spcPts val="1600"/>
              </a:lnSpc>
              <a:buNone/>
            </a:pPr>
            <a:r>
              <a:rPr lang="en-US" sz="1200" dirty="0">
                <a:solidFill>
                  <a:srgbClr val="262626"/>
                </a:solidFill>
                <a:latin typeface="Calibri" pitchFamily="34" charset="0"/>
                <a:ea typeface="Calibri" pitchFamily="34" charset="-122"/>
                <a:cs typeface="Calibri" pitchFamily="34" charset="-120"/>
              </a:rPr>
              <a:t>Set the type deliberately, using Change Type → Using Locale, and choose the locale that matches how the data was written.</a:t>
            </a:r>
            <a:endParaRPr lang="en-US" sz="1200" dirty="0"/>
          </a:p>
        </p:txBody>
      </p:sp>
      <p:sp>
        <p:nvSpPr>
          <p:cNvPr id="20" name="Text 18"/>
          <p:cNvSpPr/>
          <p:nvPr/>
        </p:nvSpPr>
        <p:spPr>
          <a:xfrm>
            <a:off x="548640" y="6172200"/>
            <a:ext cx="11091672" cy="36576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“Become the wrong dates silently” is the dangerous one. An error you can see. A wrong date looks like a date.</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THE CLEANING LAB</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Your turn — and everything you do gets written down</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15</a:t>
            </a:r>
            <a:endParaRPr lang="en-US" sz="850" dirty="0"/>
          </a:p>
        </p:txBody>
      </p:sp>
      <p:sp>
        <p:nvSpPr>
          <p:cNvPr id="6" name="Text 4"/>
          <p:cNvSpPr/>
          <p:nvPr/>
        </p:nvSpPr>
        <p:spPr>
          <a:xfrm>
            <a:off x="548640" y="1417320"/>
            <a:ext cx="11091672" cy="411480"/>
          </a:xfrm>
          <a:prstGeom prst="rect">
            <a:avLst/>
          </a:prstGeom>
          <a:noFill/>
          <a:ln/>
        </p:spPr>
        <p:txBody>
          <a:bodyPr wrap="square" lIns="0" tIns="0" rIns="0" bIns="0" rtlCol="0" anchor="ctr"/>
          <a:lstStyle/>
          <a:p>
            <a:pPr indent="0" marL="0">
              <a:buNone/>
            </a:pPr>
            <a:r>
              <a:rPr lang="en-US" sz="1450" dirty="0">
                <a:solidFill>
                  <a:srgbClr val="262626"/>
                </a:solidFill>
                <a:latin typeface="Calibri" pitchFamily="34" charset="0"/>
                <a:ea typeface="Calibri" pitchFamily="34" charset="-122"/>
                <a:cs typeface="Calibri" pitchFamily="34" charset="-120"/>
              </a:rPr>
              <a:t>You are cleaning the Kape Tayo files you profiled in B1. Your own findings are your work list.</a:t>
            </a:r>
            <a:endParaRPr lang="en-US" sz="1450" dirty="0"/>
          </a:p>
        </p:txBody>
      </p:sp>
      <p:sp>
        <p:nvSpPr>
          <p:cNvPr id="7" name="Shape 5"/>
          <p:cNvSpPr/>
          <p:nvPr/>
        </p:nvSpPr>
        <p:spPr>
          <a:xfrm>
            <a:off x="548640" y="1965960"/>
            <a:ext cx="5394960" cy="1280160"/>
          </a:xfrm>
          <a:prstGeom prst="roundRect">
            <a:avLst>
              <a:gd name="adj" fmla="val 5000"/>
            </a:avLst>
          </a:prstGeom>
          <a:solidFill>
            <a:srgbClr val="FAF2F3"/>
          </a:solidFill>
          <a:ln/>
        </p:spPr>
      </p:sp>
      <p:sp>
        <p:nvSpPr>
          <p:cNvPr id="8" name="Shape 6"/>
          <p:cNvSpPr/>
          <p:nvPr/>
        </p:nvSpPr>
        <p:spPr>
          <a:xfrm>
            <a:off x="804672" y="2286000"/>
            <a:ext cx="603504" cy="603504"/>
          </a:xfrm>
          <a:prstGeom prst="ellipse">
            <a:avLst/>
          </a:prstGeom>
          <a:solidFill>
            <a:srgbClr val="9D2235"/>
          </a:solidFill>
          <a:ln/>
        </p:spPr>
      </p:sp>
      <p:pic>
        <p:nvPicPr>
          <p:cNvPr id="9" name="Image 0" descr="preencoded.png">    </p:cNvPr>
          <p:cNvPicPr>
            <a:picLocks noChangeAspect="1"/>
          </p:cNvPicPr>
          <p:nvPr/>
        </p:nvPicPr>
        <p:blipFill>
          <a:blip r:embed="rId1"/>
          <a:stretch>
            <a:fillRect/>
          </a:stretch>
        </p:blipFill>
        <p:spPr>
          <a:xfrm>
            <a:off x="961583" y="2442911"/>
            <a:ext cx="289682" cy="289682"/>
          </a:xfrm>
          <a:prstGeom prst="rect">
            <a:avLst/>
          </a:prstGeom>
        </p:spPr>
      </p:pic>
      <p:sp>
        <p:nvSpPr>
          <p:cNvPr id="10" name="Text 7"/>
          <p:cNvSpPr/>
          <p:nvPr/>
        </p:nvSpPr>
        <p:spPr>
          <a:xfrm>
            <a:off x="1600200" y="2203704"/>
            <a:ext cx="4114800" cy="384048"/>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Every step gets a note</a:t>
            </a:r>
            <a:endParaRPr lang="en-US" sz="1500" dirty="0"/>
          </a:p>
        </p:txBody>
      </p:sp>
      <p:sp>
        <p:nvSpPr>
          <p:cNvPr id="11" name="Text 8"/>
          <p:cNvSpPr/>
          <p:nvPr/>
        </p:nvSpPr>
        <p:spPr>
          <a:xfrm>
            <a:off x="1600200" y="2624328"/>
            <a:ext cx="4114800" cy="50292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What you did, why, and what was lost by doing it.</a:t>
            </a:r>
            <a:endParaRPr lang="en-US" sz="1150" dirty="0"/>
          </a:p>
        </p:txBody>
      </p:sp>
      <p:sp>
        <p:nvSpPr>
          <p:cNvPr id="12" name="Shape 9"/>
          <p:cNvSpPr/>
          <p:nvPr/>
        </p:nvSpPr>
        <p:spPr>
          <a:xfrm>
            <a:off x="6263640" y="1965960"/>
            <a:ext cx="5394960" cy="1280160"/>
          </a:xfrm>
          <a:prstGeom prst="roundRect">
            <a:avLst>
              <a:gd name="adj" fmla="val 5000"/>
            </a:avLst>
          </a:prstGeom>
          <a:solidFill>
            <a:srgbClr val="FAF2F3"/>
          </a:solidFill>
          <a:ln/>
        </p:spPr>
      </p:sp>
      <p:sp>
        <p:nvSpPr>
          <p:cNvPr id="13" name="Shape 10"/>
          <p:cNvSpPr/>
          <p:nvPr/>
        </p:nvSpPr>
        <p:spPr>
          <a:xfrm>
            <a:off x="6519672" y="2286000"/>
            <a:ext cx="603504" cy="603504"/>
          </a:xfrm>
          <a:prstGeom prst="ellipse">
            <a:avLst/>
          </a:prstGeom>
          <a:solidFill>
            <a:srgbClr val="9D2235"/>
          </a:solidFill>
          <a:ln/>
        </p:spPr>
      </p:sp>
      <p:pic>
        <p:nvPicPr>
          <p:cNvPr id="14" name="Image 1" descr="preencoded.png">    </p:cNvPr>
          <p:cNvPicPr>
            <a:picLocks noChangeAspect="1"/>
          </p:cNvPicPr>
          <p:nvPr/>
        </p:nvPicPr>
        <p:blipFill>
          <a:blip r:embed="rId2"/>
          <a:stretch>
            <a:fillRect/>
          </a:stretch>
        </p:blipFill>
        <p:spPr>
          <a:xfrm>
            <a:off x="6676583" y="2442911"/>
            <a:ext cx="289682" cy="289682"/>
          </a:xfrm>
          <a:prstGeom prst="rect">
            <a:avLst/>
          </a:prstGeom>
        </p:spPr>
      </p:pic>
      <p:sp>
        <p:nvSpPr>
          <p:cNvPr id="15" name="Text 11"/>
          <p:cNvSpPr/>
          <p:nvPr/>
        </p:nvSpPr>
        <p:spPr>
          <a:xfrm>
            <a:off x="7315200" y="2203704"/>
            <a:ext cx="4114800" cy="384048"/>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Every step gets a name</a:t>
            </a:r>
            <a:endParaRPr lang="en-US" sz="1500" dirty="0"/>
          </a:p>
        </p:txBody>
      </p:sp>
      <p:sp>
        <p:nvSpPr>
          <p:cNvPr id="16" name="Text 12"/>
          <p:cNvSpPr/>
          <p:nvPr/>
        </p:nvSpPr>
        <p:spPr>
          <a:xfrm>
            <a:off x="7315200" y="2624328"/>
            <a:ext cx="4114800" cy="50292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“Trimmed customer names”, not “Changed Type2”.</a:t>
            </a:r>
            <a:endParaRPr lang="en-US" sz="1150" dirty="0"/>
          </a:p>
        </p:txBody>
      </p:sp>
      <p:sp>
        <p:nvSpPr>
          <p:cNvPr id="17" name="Shape 13"/>
          <p:cNvSpPr/>
          <p:nvPr/>
        </p:nvSpPr>
        <p:spPr>
          <a:xfrm>
            <a:off x="548640" y="3383280"/>
            <a:ext cx="5394960" cy="1280160"/>
          </a:xfrm>
          <a:prstGeom prst="roundRect">
            <a:avLst>
              <a:gd name="adj" fmla="val 5000"/>
            </a:avLst>
          </a:prstGeom>
          <a:solidFill>
            <a:srgbClr val="FAF2F3"/>
          </a:solidFill>
          <a:ln/>
        </p:spPr>
      </p:sp>
      <p:sp>
        <p:nvSpPr>
          <p:cNvPr id="18" name="Shape 14"/>
          <p:cNvSpPr/>
          <p:nvPr/>
        </p:nvSpPr>
        <p:spPr>
          <a:xfrm>
            <a:off x="804672" y="3703320"/>
            <a:ext cx="603504" cy="603504"/>
          </a:xfrm>
          <a:prstGeom prst="ellipse">
            <a:avLst/>
          </a:prstGeom>
          <a:solidFill>
            <a:srgbClr val="9D2235"/>
          </a:solidFill>
          <a:ln/>
        </p:spPr>
      </p:sp>
      <p:pic>
        <p:nvPicPr>
          <p:cNvPr id="19" name="Image 2" descr="preencoded.png">    </p:cNvPr>
          <p:cNvPicPr>
            <a:picLocks noChangeAspect="1"/>
          </p:cNvPicPr>
          <p:nvPr/>
        </p:nvPicPr>
        <p:blipFill>
          <a:blip r:embed="rId3"/>
          <a:stretch>
            <a:fillRect/>
          </a:stretch>
        </p:blipFill>
        <p:spPr>
          <a:xfrm>
            <a:off x="961583" y="3860231"/>
            <a:ext cx="289682" cy="289682"/>
          </a:xfrm>
          <a:prstGeom prst="rect">
            <a:avLst/>
          </a:prstGeom>
        </p:spPr>
      </p:pic>
      <p:sp>
        <p:nvSpPr>
          <p:cNvPr id="20" name="Text 15"/>
          <p:cNvSpPr/>
          <p:nvPr/>
        </p:nvSpPr>
        <p:spPr>
          <a:xfrm>
            <a:off x="1600200" y="3621024"/>
            <a:ext cx="4114800" cy="384048"/>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Every claim gets a number</a:t>
            </a:r>
            <a:endParaRPr lang="en-US" sz="1500" dirty="0"/>
          </a:p>
        </p:txBody>
      </p:sp>
      <p:sp>
        <p:nvSpPr>
          <p:cNvPr id="21" name="Text 16"/>
          <p:cNvSpPr/>
          <p:nvPr/>
        </p:nvSpPr>
        <p:spPr>
          <a:xfrm>
            <a:off x="1600200" y="4041648"/>
            <a:ext cx="4114800" cy="50292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Count before and after. Prove the step did what you say.</a:t>
            </a:r>
            <a:endParaRPr lang="en-US" sz="1150" dirty="0"/>
          </a:p>
        </p:txBody>
      </p:sp>
      <p:sp>
        <p:nvSpPr>
          <p:cNvPr id="22" name="Shape 17"/>
          <p:cNvSpPr/>
          <p:nvPr/>
        </p:nvSpPr>
        <p:spPr>
          <a:xfrm>
            <a:off x="6263640" y="3383280"/>
            <a:ext cx="5394960" cy="1280160"/>
          </a:xfrm>
          <a:prstGeom prst="roundRect">
            <a:avLst>
              <a:gd name="adj" fmla="val 5000"/>
            </a:avLst>
          </a:prstGeom>
          <a:solidFill>
            <a:srgbClr val="FAF2F3"/>
          </a:solidFill>
          <a:ln/>
        </p:spPr>
      </p:sp>
      <p:sp>
        <p:nvSpPr>
          <p:cNvPr id="23" name="Shape 18"/>
          <p:cNvSpPr/>
          <p:nvPr/>
        </p:nvSpPr>
        <p:spPr>
          <a:xfrm>
            <a:off x="6519672" y="3703320"/>
            <a:ext cx="603504" cy="603504"/>
          </a:xfrm>
          <a:prstGeom prst="ellipse">
            <a:avLst/>
          </a:prstGeom>
          <a:solidFill>
            <a:srgbClr val="9D2235"/>
          </a:solidFill>
          <a:ln/>
        </p:spPr>
      </p:sp>
      <p:pic>
        <p:nvPicPr>
          <p:cNvPr id="24" name="Image 3" descr="preencoded.png">    </p:cNvPr>
          <p:cNvPicPr>
            <a:picLocks noChangeAspect="1"/>
          </p:cNvPicPr>
          <p:nvPr/>
        </p:nvPicPr>
        <p:blipFill>
          <a:blip r:embed="rId4"/>
          <a:stretch>
            <a:fillRect/>
          </a:stretch>
        </p:blipFill>
        <p:spPr>
          <a:xfrm>
            <a:off x="6676583" y="3860231"/>
            <a:ext cx="289682" cy="289682"/>
          </a:xfrm>
          <a:prstGeom prst="rect">
            <a:avLst/>
          </a:prstGeom>
        </p:spPr>
      </p:pic>
      <p:sp>
        <p:nvSpPr>
          <p:cNvPr id="25" name="Text 19"/>
          <p:cNvSpPr/>
          <p:nvPr/>
        </p:nvSpPr>
        <p:spPr>
          <a:xfrm>
            <a:off x="7315200" y="3621024"/>
            <a:ext cx="4114800" cy="384048"/>
          </a:xfrm>
          <a:prstGeom prst="rect">
            <a:avLst/>
          </a:prstGeom>
          <a:noFill/>
          <a:ln/>
        </p:spPr>
        <p:txBody>
          <a:bodyPr wrap="square" lIns="0" tIns="0" rIns="0" bIns="0" rtlCol="0" anchor="ctr"/>
          <a:lstStyle/>
          <a:p>
            <a:pPr indent="0" marL="0">
              <a:buNone/>
            </a:pPr>
            <a:r>
              <a:rPr lang="en-US" sz="1500" b="1" dirty="0">
                <a:solidFill>
                  <a:srgbClr val="9D2235"/>
                </a:solidFill>
                <a:latin typeface="Calibri" pitchFamily="34" charset="0"/>
                <a:ea typeface="Calibri" pitchFamily="34" charset="-122"/>
                <a:cs typeface="Calibri" pitchFamily="34" charset="-120"/>
              </a:rPr>
              <a:t>Never touch the source</a:t>
            </a:r>
            <a:endParaRPr lang="en-US" sz="1500" dirty="0"/>
          </a:p>
        </p:txBody>
      </p:sp>
      <p:sp>
        <p:nvSpPr>
          <p:cNvPr id="26" name="Text 20"/>
          <p:cNvSpPr/>
          <p:nvPr/>
        </p:nvSpPr>
        <p:spPr>
          <a:xfrm>
            <a:off x="7315200" y="4041648"/>
            <a:ext cx="4114800" cy="50292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Clean in the query. The file stays exactly as issued.</a:t>
            </a:r>
            <a:endParaRPr lang="en-US" sz="1150" dirty="0"/>
          </a:p>
        </p:txBody>
      </p:sp>
      <p:sp>
        <p:nvSpPr>
          <p:cNvPr id="27" name="Shape 21"/>
          <p:cNvSpPr/>
          <p:nvPr/>
        </p:nvSpPr>
        <p:spPr>
          <a:xfrm>
            <a:off x="548640" y="4937760"/>
            <a:ext cx="11091672" cy="1371600"/>
          </a:xfrm>
          <a:prstGeom prst="roundRect">
            <a:avLst>
              <a:gd name="adj" fmla="val 4667"/>
            </a:avLst>
          </a:prstGeom>
          <a:solidFill>
            <a:srgbClr val="3F0D18"/>
          </a:solidFill>
          <a:ln/>
        </p:spPr>
      </p:sp>
      <p:sp>
        <p:nvSpPr>
          <p:cNvPr id="28" name="Text 22"/>
          <p:cNvSpPr/>
          <p:nvPr/>
        </p:nvSpPr>
        <p:spPr>
          <a:xfrm>
            <a:off x="868680" y="5120640"/>
            <a:ext cx="5486400" cy="365760"/>
          </a:xfrm>
          <a:prstGeom prst="rect">
            <a:avLst/>
          </a:prstGeom>
          <a:noFill/>
          <a:ln/>
        </p:spPr>
        <p:txBody>
          <a:bodyPr wrap="square" lIns="0" tIns="0" rIns="0" bIns="0" rtlCol="0" anchor="ctr"/>
          <a:lstStyle/>
          <a:p>
            <a:pPr indent="0" marL="0">
              <a:buNone/>
            </a:pPr>
            <a:r>
              <a:rPr lang="en-US" sz="1400" b="1" dirty="0">
                <a:solidFill>
                  <a:srgbClr val="E3B23C"/>
                </a:solidFill>
                <a:latin typeface="Calibri" pitchFamily="34" charset="0"/>
                <a:ea typeface="Calibri" pitchFamily="34" charset="-122"/>
                <a:cs typeface="Calibri" pitchFamily="34" charset="-120"/>
              </a:rPr>
              <a:t>The one that will be marked hardest</a:t>
            </a:r>
            <a:endParaRPr lang="en-US" sz="1400" dirty="0"/>
          </a:p>
        </p:txBody>
      </p:sp>
      <p:sp>
        <p:nvSpPr>
          <p:cNvPr id="29" name="Text 23"/>
          <p:cNvSpPr/>
          <p:nvPr/>
        </p:nvSpPr>
        <p:spPr>
          <a:xfrm>
            <a:off x="868680" y="5504688"/>
            <a:ext cx="10515600" cy="731520"/>
          </a:xfrm>
          <a:prstGeom prst="rect">
            <a:avLst/>
          </a:prstGeom>
          <a:noFill/>
          <a:ln/>
        </p:spPr>
        <p:txBody>
          <a:bodyPr wrap="square" lIns="0" tIns="0" rIns="0" bIns="0" rtlCol="0" anchor="ctr"/>
          <a:lstStyle/>
          <a:p>
            <a:pPr indent="0" marL="0">
              <a:lnSpc>
                <a:spcPts val="1700"/>
              </a:lnSpc>
              <a:buNone/>
            </a:pPr>
            <a:r>
              <a:rPr lang="en-US" sz="1250" dirty="0">
                <a:solidFill>
                  <a:srgbClr val="EFDFE2"/>
                </a:solidFill>
                <a:latin typeface="Calibri" pitchFamily="34" charset="0"/>
                <a:ea typeface="Calibri" pitchFamily="34" charset="-122"/>
                <a:cs typeface="Calibri" pitchFamily="34" charset="-120"/>
              </a:rPr>
              <a:t>“What was lost by it.” Every cleaning step destroys information. Remove the duplicates and you lose the evidence that duplication happens. Trim the spaces and you lose proof of a data-entry problem. Filter out the 12 blank dates and you have deleted 12 real sales.</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THE CLEANING LAB</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The six tools you will use today</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16</a:t>
            </a:r>
            <a:endParaRPr lang="en-US" sz="850" dirty="0"/>
          </a:p>
        </p:txBody>
      </p:sp>
      <p:sp>
        <p:nvSpPr>
          <p:cNvPr id="6" name="Shape 4"/>
          <p:cNvSpPr/>
          <p:nvPr/>
        </p:nvSpPr>
        <p:spPr>
          <a:xfrm>
            <a:off x="548640" y="1554480"/>
            <a:ext cx="11091672" cy="713232"/>
          </a:xfrm>
          <a:prstGeom prst="roundRect">
            <a:avLst>
              <a:gd name="adj" fmla="val 8974"/>
            </a:avLst>
          </a:prstGeom>
          <a:solidFill>
            <a:srgbClr val="FAF2F3"/>
          </a:solidFill>
          <a:ln/>
        </p:spPr>
      </p:sp>
      <p:sp>
        <p:nvSpPr>
          <p:cNvPr id="7" name="Text 5"/>
          <p:cNvSpPr/>
          <p:nvPr/>
        </p:nvSpPr>
        <p:spPr>
          <a:xfrm>
            <a:off x="777240" y="1600200"/>
            <a:ext cx="2286000" cy="621792"/>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Trim</a:t>
            </a:r>
            <a:endParaRPr lang="en-US" sz="1400" dirty="0"/>
          </a:p>
        </p:txBody>
      </p:sp>
      <p:sp>
        <p:nvSpPr>
          <p:cNvPr id="8" name="Text 6"/>
          <p:cNvSpPr/>
          <p:nvPr/>
        </p:nvSpPr>
        <p:spPr>
          <a:xfrm>
            <a:off x="3200400" y="1600200"/>
            <a:ext cx="3931920" cy="621792"/>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Removes spaces before and after a value</a:t>
            </a:r>
            <a:endParaRPr lang="en-US" sz="1200" dirty="0"/>
          </a:p>
        </p:txBody>
      </p:sp>
      <p:sp>
        <p:nvSpPr>
          <p:cNvPr id="9" name="Text 7"/>
          <p:cNvSpPr/>
          <p:nvPr/>
        </p:nvSpPr>
        <p:spPr>
          <a:xfrm>
            <a:off x="7315200" y="1600200"/>
            <a:ext cx="4023360" cy="621792"/>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14 customer names · the B03 and B06 branch codes</a:t>
            </a:r>
            <a:endParaRPr lang="en-US" sz="1100" dirty="0"/>
          </a:p>
        </p:txBody>
      </p:sp>
      <p:sp>
        <p:nvSpPr>
          <p:cNvPr id="10" name="Shape 8"/>
          <p:cNvSpPr/>
          <p:nvPr/>
        </p:nvSpPr>
        <p:spPr>
          <a:xfrm>
            <a:off x="548640" y="2304288"/>
            <a:ext cx="11091672" cy="713232"/>
          </a:xfrm>
          <a:prstGeom prst="roundRect">
            <a:avLst>
              <a:gd name="adj" fmla="val 8974"/>
            </a:avLst>
          </a:prstGeom>
          <a:solidFill>
            <a:srgbClr val="FAF2F3"/>
          </a:solidFill>
          <a:ln/>
        </p:spPr>
      </p:sp>
      <p:sp>
        <p:nvSpPr>
          <p:cNvPr id="11" name="Text 9"/>
          <p:cNvSpPr/>
          <p:nvPr/>
        </p:nvSpPr>
        <p:spPr>
          <a:xfrm>
            <a:off x="777240" y="2350008"/>
            <a:ext cx="2286000" cy="621792"/>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Clean</a:t>
            </a:r>
            <a:endParaRPr lang="en-US" sz="1400" dirty="0"/>
          </a:p>
        </p:txBody>
      </p:sp>
      <p:sp>
        <p:nvSpPr>
          <p:cNvPr id="12" name="Text 10"/>
          <p:cNvSpPr/>
          <p:nvPr/>
        </p:nvSpPr>
        <p:spPr>
          <a:xfrm>
            <a:off x="3200400" y="2350008"/>
            <a:ext cx="3931920" cy="621792"/>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Removes invisible control characters</a:t>
            </a:r>
            <a:endParaRPr lang="en-US" sz="1200" dirty="0"/>
          </a:p>
        </p:txBody>
      </p:sp>
      <p:sp>
        <p:nvSpPr>
          <p:cNvPr id="13" name="Text 11"/>
          <p:cNvSpPr/>
          <p:nvPr/>
        </p:nvSpPr>
        <p:spPr>
          <a:xfrm>
            <a:off x="7315200" y="2350008"/>
            <a:ext cx="4023360" cy="621792"/>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Rare, but free to run</a:t>
            </a:r>
            <a:endParaRPr lang="en-US" sz="1100" dirty="0"/>
          </a:p>
        </p:txBody>
      </p:sp>
      <p:sp>
        <p:nvSpPr>
          <p:cNvPr id="14" name="Shape 12"/>
          <p:cNvSpPr/>
          <p:nvPr/>
        </p:nvSpPr>
        <p:spPr>
          <a:xfrm>
            <a:off x="548640" y="3054096"/>
            <a:ext cx="11091672" cy="713232"/>
          </a:xfrm>
          <a:prstGeom prst="roundRect">
            <a:avLst>
              <a:gd name="adj" fmla="val 8974"/>
            </a:avLst>
          </a:prstGeom>
          <a:solidFill>
            <a:srgbClr val="FAF2F3"/>
          </a:solidFill>
          <a:ln/>
        </p:spPr>
      </p:sp>
      <p:sp>
        <p:nvSpPr>
          <p:cNvPr id="15" name="Text 13"/>
          <p:cNvSpPr/>
          <p:nvPr/>
        </p:nvSpPr>
        <p:spPr>
          <a:xfrm>
            <a:off x="777240" y="3099816"/>
            <a:ext cx="2286000" cy="621792"/>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Replace values</a:t>
            </a:r>
            <a:endParaRPr lang="en-US" sz="1400" dirty="0"/>
          </a:p>
        </p:txBody>
      </p:sp>
      <p:sp>
        <p:nvSpPr>
          <p:cNvPr id="16" name="Text 14"/>
          <p:cNvSpPr/>
          <p:nvPr/>
        </p:nvSpPr>
        <p:spPr>
          <a:xfrm>
            <a:off x="3200400" y="3099816"/>
            <a:ext cx="3931920" cy="621792"/>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Swaps one value for another</a:t>
            </a:r>
            <a:endParaRPr lang="en-US" sz="1200" dirty="0"/>
          </a:p>
        </p:txBody>
      </p:sp>
      <p:sp>
        <p:nvSpPr>
          <p:cNvPr id="17" name="Text 15"/>
          <p:cNvSpPr/>
          <p:nvPr/>
        </p:nvSpPr>
        <p:spPr>
          <a:xfrm>
            <a:off x="7315200" y="3099816"/>
            <a:ext cx="4023360" cy="621792"/>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REG → Regular · delivery → Delivery</a:t>
            </a:r>
            <a:endParaRPr lang="en-US" sz="1100" dirty="0"/>
          </a:p>
        </p:txBody>
      </p:sp>
      <p:sp>
        <p:nvSpPr>
          <p:cNvPr id="18" name="Shape 16"/>
          <p:cNvSpPr/>
          <p:nvPr/>
        </p:nvSpPr>
        <p:spPr>
          <a:xfrm>
            <a:off x="548640" y="3803904"/>
            <a:ext cx="11091672" cy="713232"/>
          </a:xfrm>
          <a:prstGeom prst="roundRect">
            <a:avLst>
              <a:gd name="adj" fmla="val 8974"/>
            </a:avLst>
          </a:prstGeom>
          <a:solidFill>
            <a:srgbClr val="FAF2F3"/>
          </a:solidFill>
          <a:ln/>
        </p:spPr>
      </p:sp>
      <p:sp>
        <p:nvSpPr>
          <p:cNvPr id="19" name="Text 17"/>
          <p:cNvSpPr/>
          <p:nvPr/>
        </p:nvSpPr>
        <p:spPr>
          <a:xfrm>
            <a:off x="777240" y="3849624"/>
            <a:ext cx="2286000" cy="621792"/>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Remove duplicates</a:t>
            </a:r>
            <a:endParaRPr lang="en-US" sz="1400" dirty="0"/>
          </a:p>
        </p:txBody>
      </p:sp>
      <p:sp>
        <p:nvSpPr>
          <p:cNvPr id="20" name="Text 18"/>
          <p:cNvSpPr/>
          <p:nvPr/>
        </p:nvSpPr>
        <p:spPr>
          <a:xfrm>
            <a:off x="3200400" y="3849624"/>
            <a:ext cx="3931920" cy="621792"/>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Deletes repeated rows</a:t>
            </a:r>
            <a:endParaRPr lang="en-US" sz="1200" dirty="0"/>
          </a:p>
        </p:txBody>
      </p:sp>
      <p:sp>
        <p:nvSpPr>
          <p:cNvPr id="21" name="Text 19"/>
          <p:cNvSpPr/>
          <p:nvPr/>
        </p:nvSpPr>
        <p:spPr>
          <a:xfrm>
            <a:off x="7315200" y="3849624"/>
            <a:ext cx="4023360" cy="621792"/>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23 duplicate sales — decide on which column first</a:t>
            </a:r>
            <a:endParaRPr lang="en-US" sz="1100" dirty="0"/>
          </a:p>
        </p:txBody>
      </p:sp>
      <p:sp>
        <p:nvSpPr>
          <p:cNvPr id="22" name="Shape 20"/>
          <p:cNvSpPr/>
          <p:nvPr/>
        </p:nvSpPr>
        <p:spPr>
          <a:xfrm>
            <a:off x="548640" y="4553712"/>
            <a:ext cx="11091672" cy="713232"/>
          </a:xfrm>
          <a:prstGeom prst="roundRect">
            <a:avLst>
              <a:gd name="adj" fmla="val 8974"/>
            </a:avLst>
          </a:prstGeom>
          <a:solidFill>
            <a:srgbClr val="FAF2F3"/>
          </a:solidFill>
          <a:ln/>
        </p:spPr>
      </p:sp>
      <p:sp>
        <p:nvSpPr>
          <p:cNvPr id="23" name="Text 21"/>
          <p:cNvSpPr/>
          <p:nvPr/>
        </p:nvSpPr>
        <p:spPr>
          <a:xfrm>
            <a:off x="777240" y="4599432"/>
            <a:ext cx="2286000" cy="621792"/>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Filter rows</a:t>
            </a:r>
            <a:endParaRPr lang="en-US" sz="1400" dirty="0"/>
          </a:p>
        </p:txBody>
      </p:sp>
      <p:sp>
        <p:nvSpPr>
          <p:cNvPr id="24" name="Text 22"/>
          <p:cNvSpPr/>
          <p:nvPr/>
        </p:nvSpPr>
        <p:spPr>
          <a:xfrm>
            <a:off x="3200400" y="4599432"/>
            <a:ext cx="3931920" cy="621792"/>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Keeps or removes rows by condition</a:t>
            </a:r>
            <a:endParaRPr lang="en-US" sz="1200" dirty="0"/>
          </a:p>
        </p:txBody>
      </p:sp>
      <p:sp>
        <p:nvSpPr>
          <p:cNvPr id="25" name="Text 23"/>
          <p:cNvSpPr/>
          <p:nvPr/>
        </p:nvSpPr>
        <p:spPr>
          <a:xfrm>
            <a:off x="7315200" y="4599432"/>
            <a:ext cx="4023360" cy="621792"/>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Use with care. Filtering is deleting.</a:t>
            </a:r>
            <a:endParaRPr lang="en-US" sz="1100" dirty="0"/>
          </a:p>
        </p:txBody>
      </p:sp>
      <p:sp>
        <p:nvSpPr>
          <p:cNvPr id="26" name="Shape 24"/>
          <p:cNvSpPr/>
          <p:nvPr/>
        </p:nvSpPr>
        <p:spPr>
          <a:xfrm>
            <a:off x="548640" y="5303520"/>
            <a:ext cx="11091672" cy="713232"/>
          </a:xfrm>
          <a:prstGeom prst="roundRect">
            <a:avLst>
              <a:gd name="adj" fmla="val 8974"/>
            </a:avLst>
          </a:prstGeom>
          <a:solidFill>
            <a:srgbClr val="FAF2F3"/>
          </a:solidFill>
          <a:ln/>
        </p:spPr>
      </p:sp>
      <p:sp>
        <p:nvSpPr>
          <p:cNvPr id="27" name="Text 25"/>
          <p:cNvSpPr/>
          <p:nvPr/>
        </p:nvSpPr>
        <p:spPr>
          <a:xfrm>
            <a:off x="777240" y="5349240"/>
            <a:ext cx="2286000" cy="621792"/>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Change type</a:t>
            </a:r>
            <a:endParaRPr lang="en-US" sz="1400" dirty="0"/>
          </a:p>
        </p:txBody>
      </p:sp>
      <p:sp>
        <p:nvSpPr>
          <p:cNvPr id="28" name="Text 26"/>
          <p:cNvSpPr/>
          <p:nvPr/>
        </p:nvSpPr>
        <p:spPr>
          <a:xfrm>
            <a:off x="3200400" y="5349240"/>
            <a:ext cx="3931920" cy="621792"/>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Sets what kind of value a column holds</a:t>
            </a:r>
            <a:endParaRPr lang="en-US" sz="1200" dirty="0"/>
          </a:p>
        </p:txBody>
      </p:sp>
      <p:sp>
        <p:nvSpPr>
          <p:cNvPr id="29" name="Text 27"/>
          <p:cNvSpPr/>
          <p:nvPr/>
        </p:nvSpPr>
        <p:spPr>
          <a:xfrm>
            <a:off x="7315200" y="5349240"/>
            <a:ext cx="4023360" cy="621792"/>
          </a:xfrm>
          <a:prstGeom prst="rect">
            <a:avLst/>
          </a:prstGeom>
          <a:noFill/>
          <a:ln/>
        </p:spPr>
        <p:txBody>
          <a:bodyPr wrap="square" lIns="0" tIns="0" rIns="0" bIns="0" rtlCol="0" anchor="ctr"/>
          <a:lstStyle/>
          <a:p>
            <a:pPr indent="0" marL="0">
              <a:buNone/>
            </a:pPr>
            <a:r>
              <a:rPr lang="en-US" sz="1100" i="1" dirty="0">
                <a:solidFill>
                  <a:srgbClr val="6E6E6E"/>
                </a:solidFill>
                <a:latin typeface="Calibri" pitchFamily="34" charset="0"/>
                <a:ea typeface="Calibri" pitchFamily="34" charset="-122"/>
                <a:cs typeface="Calibri" pitchFamily="34" charset="-120"/>
              </a:rPr>
              <a:t>Date, whole number, decimal, text</a:t>
            </a:r>
            <a:endParaRPr lang="en-US" sz="1100" dirty="0"/>
          </a:p>
        </p:txBody>
      </p:sp>
      <p:sp>
        <p:nvSpPr>
          <p:cNvPr id="30" name="Text 28"/>
          <p:cNvSpPr/>
          <p:nvPr/>
        </p:nvSpPr>
        <p:spPr>
          <a:xfrm>
            <a:off x="548640" y="6108192"/>
            <a:ext cx="11091672" cy="320040"/>
          </a:xfrm>
          <a:prstGeom prst="rect">
            <a:avLst/>
          </a:prstGeom>
          <a:noFill/>
          <a:ln/>
        </p:spPr>
        <p:txBody>
          <a:bodyPr wrap="square" lIns="0" tIns="0" rIns="0" bIns="0" rtlCol="0" anchor="ctr"/>
          <a:lstStyle/>
          <a:p>
            <a:pPr indent="0" marL="0">
              <a:buNone/>
            </a:pPr>
            <a:r>
              <a:rPr lang="en-US" sz="1200" i="1" dirty="0">
                <a:solidFill>
                  <a:srgbClr val="6E6E6E"/>
                </a:solidFill>
                <a:latin typeface="Calibri" pitchFamily="34" charset="0"/>
                <a:ea typeface="Calibri" pitchFamily="34" charset="-122"/>
                <a:cs typeface="Calibri" pitchFamily="34" charset="-120"/>
              </a:rPr>
              <a:t>Right-click a column header and most of these appear. The ribbon has them all under Transform.</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THE CLEANING LAB</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Fix it in the file, or fix it in the query?</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17</a:t>
            </a:r>
            <a:endParaRPr lang="en-US" sz="850" dirty="0"/>
          </a:p>
        </p:txBody>
      </p:sp>
      <p:sp>
        <p:nvSpPr>
          <p:cNvPr id="6" name="Shape 4"/>
          <p:cNvSpPr/>
          <p:nvPr/>
        </p:nvSpPr>
        <p:spPr>
          <a:xfrm>
            <a:off x="548640" y="1508760"/>
            <a:ext cx="5394960" cy="4206240"/>
          </a:xfrm>
          <a:prstGeom prst="roundRect">
            <a:avLst>
              <a:gd name="adj" fmla="val 1522"/>
            </a:avLst>
          </a:prstGeom>
          <a:solidFill>
            <a:srgbClr val="EFF5F0"/>
          </a:solidFill>
          <a:ln/>
        </p:spPr>
      </p:sp>
      <p:sp>
        <p:nvSpPr>
          <p:cNvPr id="7" name="Text 5"/>
          <p:cNvSpPr/>
          <p:nvPr/>
        </p:nvSpPr>
        <p:spPr>
          <a:xfrm>
            <a:off x="868680" y="1737360"/>
            <a:ext cx="4754880" cy="365760"/>
          </a:xfrm>
          <a:prstGeom prst="rect">
            <a:avLst/>
          </a:prstGeom>
          <a:noFill/>
          <a:ln/>
        </p:spPr>
        <p:txBody>
          <a:bodyPr wrap="square" lIns="0" tIns="0" rIns="0" bIns="0" rtlCol="0" anchor="ctr"/>
          <a:lstStyle/>
          <a:p>
            <a:pPr indent="0" marL="0">
              <a:buNone/>
            </a:pPr>
            <a:r>
              <a:rPr lang="en-US" sz="1600" b="1" dirty="0">
                <a:solidFill>
                  <a:srgbClr val="2C6E49"/>
                </a:solidFill>
                <a:latin typeface="Calibri" pitchFamily="34" charset="0"/>
                <a:ea typeface="Calibri" pitchFamily="34" charset="-122"/>
                <a:cs typeface="Calibri" pitchFamily="34" charset="-120"/>
              </a:rPr>
              <a:t>Fix in the query</a:t>
            </a:r>
            <a:endParaRPr lang="en-US" sz="1600" dirty="0"/>
          </a:p>
        </p:txBody>
      </p:sp>
      <p:sp>
        <p:nvSpPr>
          <p:cNvPr id="8" name="Text 6"/>
          <p:cNvSpPr/>
          <p:nvPr/>
        </p:nvSpPr>
        <p:spPr>
          <a:xfrm>
            <a:off x="868680" y="2121408"/>
            <a:ext cx="4754880" cy="320040"/>
          </a:xfrm>
          <a:prstGeom prst="rect">
            <a:avLst/>
          </a:prstGeom>
          <a:noFill/>
          <a:ln/>
        </p:spPr>
        <p:txBody>
          <a:bodyPr wrap="square" lIns="0" tIns="0" rIns="0" bIns="0" rtlCol="0" anchor="ctr"/>
          <a:lstStyle/>
          <a:p>
            <a:pPr indent="0" marL="0">
              <a:buNone/>
            </a:pPr>
            <a:r>
              <a:rPr lang="en-US" sz="1200" b="1" dirty="0">
                <a:solidFill>
                  <a:srgbClr val="6E6E6E"/>
                </a:solidFill>
                <a:latin typeface="Calibri" pitchFamily="34" charset="0"/>
                <a:ea typeface="Calibri" pitchFamily="34" charset="-122"/>
                <a:cs typeface="Calibri" pitchFamily="34" charset="-120"/>
              </a:rPr>
              <a:t>Almost always</a:t>
            </a:r>
            <a:endParaRPr lang="en-US" sz="1200" dirty="0"/>
          </a:p>
        </p:txBody>
      </p:sp>
      <p:sp>
        <p:nvSpPr>
          <p:cNvPr id="9" name="Text 7"/>
          <p:cNvSpPr/>
          <p:nvPr/>
        </p:nvSpPr>
        <p:spPr>
          <a:xfrm>
            <a:off x="868680" y="2606040"/>
            <a:ext cx="4846320" cy="283464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00" dirty="0">
                <a:solidFill>
                  <a:srgbClr val="262626"/>
                </a:solidFill>
                <a:latin typeface="Calibri" pitchFamily="34" charset="0"/>
                <a:ea typeface="Calibri" pitchFamily="34" charset="-122"/>
                <a:cs typeface="Calibri" pitchFamily="34" charset="-120"/>
              </a:rPr>
              <a:t>Repeatable — runs again next refresh</a:t>
            </a:r>
            <a:endParaRPr lang="en-US" sz="1200" dirty="0"/>
          </a:p>
          <a:p>
            <a:pPr marL="342900" indent="-342900">
              <a:lnSpc>
                <a:spcPts val="1600"/>
              </a:lnSpc>
              <a:spcAft>
                <a:spcPts val="1000"/>
              </a:spcAft>
              <a:buSzPct val="100000"/>
              <a:buChar char="•"/>
            </a:pPr>
            <a:r>
              <a:rPr lang="en-US" sz="1200" dirty="0">
                <a:solidFill>
                  <a:srgbClr val="262626"/>
                </a:solidFill>
                <a:latin typeface="Calibri" pitchFamily="34" charset="0"/>
                <a:ea typeface="Calibri" pitchFamily="34" charset="-122"/>
                <a:cs typeface="Calibri" pitchFamily="34" charset="-120"/>
              </a:rPr>
              <a:t>Documented — the step list is the record</a:t>
            </a:r>
            <a:endParaRPr lang="en-US" sz="1200" dirty="0"/>
          </a:p>
          <a:p>
            <a:pPr marL="342900" indent="-342900">
              <a:lnSpc>
                <a:spcPts val="1600"/>
              </a:lnSpc>
              <a:spcAft>
                <a:spcPts val="1000"/>
              </a:spcAft>
              <a:buSzPct val="100000"/>
              <a:buChar char="•"/>
            </a:pPr>
            <a:r>
              <a:rPr lang="en-US" sz="1200" dirty="0">
                <a:solidFill>
                  <a:srgbClr val="262626"/>
                </a:solidFill>
                <a:latin typeface="Calibri" pitchFamily="34" charset="0"/>
                <a:ea typeface="Calibri" pitchFamily="34" charset="-122"/>
                <a:cs typeface="Calibri" pitchFamily="34" charset="-120"/>
              </a:rPr>
              <a:t>Reversible — delete the step</a:t>
            </a:r>
            <a:endParaRPr lang="en-US" sz="1200" dirty="0"/>
          </a:p>
          <a:p>
            <a:pPr marL="342900" indent="-342900">
              <a:lnSpc>
                <a:spcPts val="1600"/>
              </a:lnSpc>
              <a:spcAft>
                <a:spcPts val="1000"/>
              </a:spcAft>
              <a:buSzPct val="100000"/>
              <a:buChar char="•"/>
            </a:pPr>
            <a:r>
              <a:rPr lang="en-US" sz="1200" dirty="0">
                <a:solidFill>
                  <a:srgbClr val="262626"/>
                </a:solidFill>
                <a:latin typeface="Calibri" pitchFamily="34" charset="0"/>
                <a:ea typeface="Calibri" pitchFamily="34" charset="-122"/>
                <a:cs typeface="Calibri" pitchFamily="34" charset="-120"/>
              </a:rPr>
              <a:t>The source stays as evidence of what really happened</a:t>
            </a:r>
            <a:endParaRPr lang="en-US" sz="1200" dirty="0"/>
          </a:p>
        </p:txBody>
      </p:sp>
      <p:sp>
        <p:nvSpPr>
          <p:cNvPr id="10" name="Shape 8"/>
          <p:cNvSpPr/>
          <p:nvPr/>
        </p:nvSpPr>
        <p:spPr>
          <a:xfrm>
            <a:off x="6263640" y="1508760"/>
            <a:ext cx="5394960" cy="4206240"/>
          </a:xfrm>
          <a:prstGeom prst="roundRect">
            <a:avLst>
              <a:gd name="adj" fmla="val 1522"/>
            </a:avLst>
          </a:prstGeom>
          <a:solidFill>
            <a:srgbClr val="F3E4E7"/>
          </a:solidFill>
          <a:ln/>
        </p:spPr>
      </p:sp>
      <p:sp>
        <p:nvSpPr>
          <p:cNvPr id="11" name="Text 9"/>
          <p:cNvSpPr/>
          <p:nvPr/>
        </p:nvSpPr>
        <p:spPr>
          <a:xfrm>
            <a:off x="6583680" y="1737360"/>
            <a:ext cx="4754880" cy="365760"/>
          </a:xfrm>
          <a:prstGeom prst="rect">
            <a:avLst/>
          </a:prstGeom>
          <a:noFill/>
          <a:ln/>
        </p:spPr>
        <p:txBody>
          <a:bodyPr wrap="square" lIns="0" tIns="0" rIns="0" bIns="0" rtlCol="0" anchor="ctr"/>
          <a:lstStyle/>
          <a:p>
            <a:pPr indent="0" marL="0">
              <a:buNone/>
            </a:pPr>
            <a:r>
              <a:rPr lang="en-US" sz="1600" b="1" dirty="0">
                <a:solidFill>
                  <a:srgbClr val="9D2235"/>
                </a:solidFill>
                <a:latin typeface="Calibri" pitchFamily="34" charset="0"/>
                <a:ea typeface="Calibri" pitchFamily="34" charset="-122"/>
                <a:cs typeface="Calibri" pitchFamily="34" charset="-120"/>
              </a:rPr>
              <a:t>Fix at source</a:t>
            </a:r>
            <a:endParaRPr lang="en-US" sz="1600" dirty="0"/>
          </a:p>
        </p:txBody>
      </p:sp>
      <p:sp>
        <p:nvSpPr>
          <p:cNvPr id="12" name="Text 10"/>
          <p:cNvSpPr/>
          <p:nvPr/>
        </p:nvSpPr>
        <p:spPr>
          <a:xfrm>
            <a:off x="6583680" y="2121408"/>
            <a:ext cx="4754880" cy="320040"/>
          </a:xfrm>
          <a:prstGeom prst="rect">
            <a:avLst/>
          </a:prstGeom>
          <a:noFill/>
          <a:ln/>
        </p:spPr>
        <p:txBody>
          <a:bodyPr wrap="square" lIns="0" tIns="0" rIns="0" bIns="0" rtlCol="0" anchor="ctr"/>
          <a:lstStyle/>
          <a:p>
            <a:pPr indent="0" marL="0">
              <a:buNone/>
            </a:pPr>
            <a:r>
              <a:rPr lang="en-US" sz="1200" b="1" dirty="0">
                <a:solidFill>
                  <a:srgbClr val="6E6E6E"/>
                </a:solidFill>
                <a:latin typeface="Calibri" pitchFamily="34" charset="0"/>
                <a:ea typeface="Calibri" pitchFamily="34" charset="-122"/>
                <a:cs typeface="Calibri" pitchFamily="34" charset="-120"/>
              </a:rPr>
              <a:t>Rarely, and never by you</a:t>
            </a:r>
            <a:endParaRPr lang="en-US" sz="1200" dirty="0"/>
          </a:p>
        </p:txBody>
      </p:sp>
      <p:sp>
        <p:nvSpPr>
          <p:cNvPr id="13" name="Text 11"/>
          <p:cNvSpPr/>
          <p:nvPr/>
        </p:nvSpPr>
        <p:spPr>
          <a:xfrm>
            <a:off x="6583680" y="2606040"/>
            <a:ext cx="4846320" cy="2834640"/>
          </a:xfrm>
          <a:prstGeom prst="rect">
            <a:avLst/>
          </a:prstGeom>
          <a:noFill/>
          <a:ln/>
        </p:spPr>
        <p:txBody>
          <a:bodyPr wrap="square" lIns="0" tIns="0" rIns="0" bIns="0" rtlCol="0" anchor="ctr"/>
          <a:lstStyle/>
          <a:p>
            <a:pPr marL="342900" indent="-342900">
              <a:lnSpc>
                <a:spcPts val="1600"/>
              </a:lnSpc>
              <a:spcAft>
                <a:spcPts val="1000"/>
              </a:spcAft>
              <a:buSzPct val="100000"/>
              <a:buChar char="•"/>
            </a:pPr>
            <a:r>
              <a:rPr lang="en-US" sz="1200" dirty="0">
                <a:solidFill>
                  <a:srgbClr val="262626"/>
                </a:solidFill>
                <a:latin typeface="Calibri" pitchFamily="34" charset="0"/>
                <a:ea typeface="Calibri" pitchFamily="34" charset="-122"/>
                <a:cs typeface="Calibri" pitchFamily="34" charset="-120"/>
              </a:rPr>
              <a:t>Only the data owner may change source data</a:t>
            </a:r>
            <a:endParaRPr lang="en-US" sz="1200" dirty="0"/>
          </a:p>
          <a:p>
            <a:pPr marL="342900" indent="-342900">
              <a:lnSpc>
                <a:spcPts val="1600"/>
              </a:lnSpc>
              <a:spcAft>
                <a:spcPts val="1000"/>
              </a:spcAft>
              <a:buSzPct val="100000"/>
              <a:buChar char="•"/>
            </a:pPr>
            <a:r>
              <a:rPr lang="en-US" sz="1200" dirty="0">
                <a:solidFill>
                  <a:srgbClr val="262626"/>
                </a:solidFill>
                <a:latin typeface="Calibri" pitchFamily="34" charset="0"/>
                <a:ea typeface="Calibri" pitchFamily="34" charset="-122"/>
                <a:cs typeface="Calibri" pitchFamily="34" charset="-120"/>
              </a:rPr>
              <a:t>Only for genuine input errors at the point of entry</a:t>
            </a:r>
            <a:endParaRPr lang="en-US" sz="1200" dirty="0"/>
          </a:p>
          <a:p>
            <a:pPr marL="342900" indent="-342900">
              <a:lnSpc>
                <a:spcPts val="1600"/>
              </a:lnSpc>
              <a:spcAft>
                <a:spcPts val="1000"/>
              </a:spcAft>
              <a:buSzPct val="100000"/>
              <a:buChar char="•"/>
            </a:pPr>
            <a:r>
              <a:rPr lang="en-US" sz="1200" dirty="0">
                <a:solidFill>
                  <a:srgbClr val="262626"/>
                </a:solidFill>
                <a:latin typeface="Calibri" pitchFamily="34" charset="0"/>
                <a:ea typeface="Calibri" pitchFamily="34" charset="-122"/>
                <a:cs typeface="Calibri" pitchFamily="34" charset="-120"/>
              </a:rPr>
              <a:t>Requires telling whoever depends on it</a:t>
            </a:r>
            <a:endParaRPr lang="en-US" sz="1200" dirty="0"/>
          </a:p>
          <a:p>
            <a:pPr marL="342900" indent="-342900">
              <a:lnSpc>
                <a:spcPts val="1600"/>
              </a:lnSpc>
              <a:spcAft>
                <a:spcPts val="1000"/>
              </a:spcAft>
              <a:buSzPct val="100000"/>
              <a:buChar char="•"/>
            </a:pPr>
            <a:r>
              <a:rPr lang="en-US" sz="1200" dirty="0">
                <a:solidFill>
                  <a:srgbClr val="262626"/>
                </a:solidFill>
                <a:latin typeface="Calibri" pitchFamily="34" charset="0"/>
                <a:ea typeface="Calibri" pitchFamily="34" charset="-122"/>
                <a:cs typeface="Calibri" pitchFamily="34" charset="-120"/>
              </a:rPr>
              <a:t>In this course: never. Altering source data is the gravest offence.</a:t>
            </a:r>
            <a:endParaRPr lang="en-US" sz="1200" dirty="0"/>
          </a:p>
        </p:txBody>
      </p:sp>
      <p:sp>
        <p:nvSpPr>
          <p:cNvPr id="14" name="Shape 12"/>
          <p:cNvSpPr/>
          <p:nvPr/>
        </p:nvSpPr>
        <p:spPr>
          <a:xfrm>
            <a:off x="548640" y="5897880"/>
            <a:ext cx="11091672" cy="777240"/>
          </a:xfrm>
          <a:prstGeom prst="roundRect">
            <a:avLst>
              <a:gd name="adj" fmla="val 8235"/>
            </a:avLst>
          </a:prstGeom>
          <a:solidFill>
            <a:srgbClr val="FFF7E6"/>
          </a:solidFill>
          <a:ln/>
        </p:spPr>
      </p:sp>
      <p:sp>
        <p:nvSpPr>
          <p:cNvPr id="15" name="Text 13"/>
          <p:cNvSpPr/>
          <p:nvPr/>
        </p:nvSpPr>
        <p:spPr>
          <a:xfrm>
            <a:off x="822960" y="5897880"/>
            <a:ext cx="10561320" cy="777240"/>
          </a:xfrm>
          <a:prstGeom prst="rect">
            <a:avLst/>
          </a:prstGeom>
          <a:noFill/>
          <a:ln/>
        </p:spPr>
        <p:txBody>
          <a:bodyPr wrap="square" lIns="0" tIns="0" rIns="0" bIns="0" rtlCol="0" anchor="ctr"/>
          <a:lstStyle/>
          <a:p>
            <a:pPr indent="0" marL="0">
              <a:buNone/>
            </a:pPr>
            <a:r>
              <a:rPr lang="en-US" sz="1300" b="1" dirty="0">
                <a:solidFill>
                  <a:srgbClr val="C99700"/>
                </a:solidFill>
                <a:latin typeface="Calibri" pitchFamily="34" charset="0"/>
                <a:ea typeface="Calibri" pitchFamily="34" charset="-122"/>
                <a:cs typeface="Calibri" pitchFamily="34" charset="-120"/>
              </a:rPr>
              <a:t>The test: </a:t>
            </a:r>
            <a:pPr indent="0" marL="0">
              <a:buNone/>
            </a:pPr>
            <a:r>
              <a:rPr lang="en-US" sz="1300" dirty="0">
                <a:solidFill>
                  <a:srgbClr val="262626"/>
                </a:solidFill>
                <a:latin typeface="Calibri" pitchFamily="34" charset="0"/>
                <a:ea typeface="Calibri" pitchFamily="34" charset="-122"/>
                <a:cs typeface="Calibri" pitchFamily="34" charset="-120"/>
              </a:rPr>
              <a:t>if the same file arrived again next month with the same problem, would your fix still work? If yes, it belongs in the query.</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APPLIED STEPS</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Your query is a document someone else will read</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18</a:t>
            </a:r>
            <a:endParaRPr lang="en-US" sz="850" dirty="0"/>
          </a:p>
        </p:txBody>
      </p:sp>
      <p:sp>
        <p:nvSpPr>
          <p:cNvPr id="6" name="Shape 4"/>
          <p:cNvSpPr/>
          <p:nvPr/>
        </p:nvSpPr>
        <p:spPr>
          <a:xfrm>
            <a:off x="548640" y="1463040"/>
            <a:ext cx="5440680" cy="3840480"/>
          </a:xfrm>
          <a:prstGeom prst="roundRect">
            <a:avLst>
              <a:gd name="adj" fmla="val 1667"/>
            </a:avLst>
          </a:prstGeom>
          <a:solidFill>
            <a:srgbClr val="F3E4E7"/>
          </a:solidFill>
          <a:ln/>
        </p:spPr>
      </p:sp>
      <p:sp>
        <p:nvSpPr>
          <p:cNvPr id="7" name="Text 5"/>
          <p:cNvSpPr/>
          <p:nvPr/>
        </p:nvSpPr>
        <p:spPr>
          <a:xfrm>
            <a:off x="868680" y="1691640"/>
            <a:ext cx="4754880" cy="365760"/>
          </a:xfrm>
          <a:prstGeom prst="rect">
            <a:avLst/>
          </a:prstGeom>
          <a:noFill/>
          <a:ln/>
        </p:spPr>
        <p:txBody>
          <a:bodyPr wrap="square" lIns="0" tIns="0" rIns="0" bIns="0" rtlCol="0" anchor="ctr"/>
          <a:lstStyle/>
          <a:p>
            <a:pPr indent="0" marL="0">
              <a:buNone/>
            </a:pPr>
            <a:r>
              <a:rPr lang="en-US" sz="1400" b="1" dirty="0">
                <a:solidFill>
                  <a:srgbClr val="6E6E6E"/>
                </a:solidFill>
                <a:latin typeface="Calibri" pitchFamily="34" charset="0"/>
                <a:ea typeface="Calibri" pitchFamily="34" charset="-122"/>
                <a:cs typeface="Calibri" pitchFamily="34" charset="-120"/>
              </a:rPr>
              <a:t>What Power Query writes</a:t>
            </a:r>
            <a:endParaRPr lang="en-US" sz="1400" dirty="0"/>
          </a:p>
        </p:txBody>
      </p:sp>
      <p:sp>
        <p:nvSpPr>
          <p:cNvPr id="8" name="Text 6"/>
          <p:cNvSpPr/>
          <p:nvPr/>
        </p:nvSpPr>
        <p:spPr>
          <a:xfrm>
            <a:off x="868680" y="2194560"/>
            <a:ext cx="4846320" cy="2926080"/>
          </a:xfrm>
          <a:prstGeom prst="rect">
            <a:avLst/>
          </a:prstGeom>
          <a:noFill/>
          <a:ln/>
        </p:spPr>
        <p:txBody>
          <a:bodyPr wrap="square" lIns="0" tIns="0" rIns="0" bIns="0" rtlCol="0" anchor="ctr"/>
          <a:lstStyle/>
          <a:p>
            <a:pPr indent="0" marL="0">
              <a:lnSpc>
                <a:spcPts val="2300"/>
              </a:lnSpc>
              <a:buNone/>
            </a:pPr>
            <a:r>
              <a:rPr lang="en-US" sz="1300" dirty="0">
                <a:solidFill>
                  <a:srgbClr val="262626"/>
                </a:solidFill>
                <a:latin typeface="Courier New" pitchFamily="34" charset="0"/>
                <a:ea typeface="Courier New" pitchFamily="34" charset="-122"/>
                <a:cs typeface="Courier New" pitchFamily="34" charset="-120"/>
              </a:rPr>
              <a:t>Source</a:t>
            </a:r>
            <a:endParaRPr lang="en-US" sz="1300" dirty="0"/>
          </a:p>
          <a:p>
            <a:pPr indent="0" marL="0">
              <a:lnSpc>
                <a:spcPts val="2300"/>
              </a:lnSpc>
              <a:buNone/>
            </a:pPr>
            <a:r>
              <a:rPr lang="en-US" sz="1300" dirty="0">
                <a:solidFill>
                  <a:srgbClr val="262626"/>
                </a:solidFill>
                <a:latin typeface="Courier New" pitchFamily="34" charset="0"/>
                <a:ea typeface="Courier New" pitchFamily="34" charset="-122"/>
                <a:cs typeface="Courier New" pitchFamily="34" charset="-120"/>
              </a:rPr>
              <a:t>Navigation 1</a:t>
            </a:r>
            <a:endParaRPr lang="en-US" sz="1300" dirty="0"/>
          </a:p>
          <a:p>
            <a:pPr indent="0" marL="0">
              <a:lnSpc>
                <a:spcPts val="2300"/>
              </a:lnSpc>
              <a:buNone/>
            </a:pPr>
            <a:r>
              <a:rPr lang="en-US" sz="1300" dirty="0">
                <a:solidFill>
                  <a:srgbClr val="262626"/>
                </a:solidFill>
                <a:latin typeface="Courier New" pitchFamily="34" charset="0"/>
                <a:ea typeface="Courier New" pitchFamily="34" charset="-122"/>
                <a:cs typeface="Courier New" pitchFamily="34" charset="-120"/>
              </a:rPr>
              <a:t>Changed Type</a:t>
            </a:r>
            <a:endParaRPr lang="en-US" sz="1300" dirty="0"/>
          </a:p>
          <a:p>
            <a:pPr indent="0" marL="0">
              <a:lnSpc>
                <a:spcPts val="2300"/>
              </a:lnSpc>
              <a:buNone/>
            </a:pPr>
            <a:r>
              <a:rPr lang="en-US" sz="1300" dirty="0">
                <a:solidFill>
                  <a:srgbClr val="262626"/>
                </a:solidFill>
                <a:latin typeface="Courier New" pitchFamily="34" charset="0"/>
                <a:ea typeface="Courier New" pitchFamily="34" charset="-122"/>
                <a:cs typeface="Courier New" pitchFamily="34" charset="-120"/>
              </a:rPr>
              <a:t>Filtered Rows</a:t>
            </a:r>
            <a:endParaRPr lang="en-US" sz="1300" dirty="0"/>
          </a:p>
          <a:p>
            <a:pPr indent="0" marL="0">
              <a:lnSpc>
                <a:spcPts val="2300"/>
              </a:lnSpc>
              <a:buNone/>
            </a:pPr>
            <a:r>
              <a:rPr lang="en-US" sz="1300" dirty="0">
                <a:solidFill>
                  <a:srgbClr val="262626"/>
                </a:solidFill>
                <a:latin typeface="Courier New" pitchFamily="34" charset="0"/>
                <a:ea typeface="Courier New" pitchFamily="34" charset="-122"/>
                <a:cs typeface="Courier New" pitchFamily="34" charset="-120"/>
              </a:rPr>
              <a:t>Changed Type1</a:t>
            </a:r>
            <a:endParaRPr lang="en-US" sz="1300" dirty="0"/>
          </a:p>
          <a:p>
            <a:pPr indent="0" marL="0">
              <a:lnSpc>
                <a:spcPts val="2300"/>
              </a:lnSpc>
              <a:buNone/>
            </a:pPr>
            <a:r>
              <a:rPr lang="en-US" sz="1300" dirty="0">
                <a:solidFill>
                  <a:srgbClr val="262626"/>
                </a:solidFill>
                <a:latin typeface="Courier New" pitchFamily="34" charset="0"/>
                <a:ea typeface="Courier New" pitchFamily="34" charset="-122"/>
                <a:cs typeface="Courier New" pitchFamily="34" charset="-120"/>
              </a:rPr>
              <a:t>Removed Duplicates</a:t>
            </a:r>
            <a:endParaRPr lang="en-US" sz="1300" dirty="0"/>
          </a:p>
          <a:p>
            <a:pPr indent="0" marL="0">
              <a:lnSpc>
                <a:spcPts val="2300"/>
              </a:lnSpc>
              <a:buNone/>
            </a:pPr>
            <a:r>
              <a:rPr lang="en-US" sz="1300" dirty="0">
                <a:solidFill>
                  <a:srgbClr val="262626"/>
                </a:solidFill>
                <a:latin typeface="Courier New" pitchFamily="34" charset="0"/>
                <a:ea typeface="Courier New" pitchFamily="34" charset="-122"/>
                <a:cs typeface="Courier New" pitchFamily="34" charset="-120"/>
              </a:rPr>
              <a:t>Changed Type2</a:t>
            </a:r>
            <a:endParaRPr lang="en-US" sz="1300" dirty="0"/>
          </a:p>
        </p:txBody>
      </p:sp>
      <p:sp>
        <p:nvSpPr>
          <p:cNvPr id="9" name="Shape 7"/>
          <p:cNvSpPr/>
          <p:nvPr/>
        </p:nvSpPr>
        <p:spPr>
          <a:xfrm>
            <a:off x="6263640" y="1463040"/>
            <a:ext cx="5376672" cy="3840480"/>
          </a:xfrm>
          <a:prstGeom prst="roundRect">
            <a:avLst>
              <a:gd name="adj" fmla="val 1667"/>
            </a:avLst>
          </a:prstGeom>
          <a:solidFill>
            <a:srgbClr val="EFF5F0"/>
          </a:solidFill>
          <a:ln/>
        </p:spPr>
      </p:sp>
      <p:sp>
        <p:nvSpPr>
          <p:cNvPr id="10" name="Text 8"/>
          <p:cNvSpPr/>
          <p:nvPr/>
        </p:nvSpPr>
        <p:spPr>
          <a:xfrm>
            <a:off x="6583680" y="1691640"/>
            <a:ext cx="4754880" cy="365760"/>
          </a:xfrm>
          <a:prstGeom prst="rect">
            <a:avLst/>
          </a:prstGeom>
          <a:noFill/>
          <a:ln/>
        </p:spPr>
        <p:txBody>
          <a:bodyPr wrap="square" lIns="0" tIns="0" rIns="0" bIns="0" rtlCol="0" anchor="ctr"/>
          <a:lstStyle/>
          <a:p>
            <a:pPr indent="0" marL="0">
              <a:buNone/>
            </a:pPr>
            <a:r>
              <a:rPr lang="en-US" sz="1400" b="1" dirty="0">
                <a:solidFill>
                  <a:srgbClr val="2C6E49"/>
                </a:solidFill>
                <a:latin typeface="Calibri" pitchFamily="34" charset="0"/>
                <a:ea typeface="Calibri" pitchFamily="34" charset="-122"/>
                <a:cs typeface="Calibri" pitchFamily="34" charset="-120"/>
              </a:rPr>
              <a:t>What you should write</a:t>
            </a:r>
            <a:endParaRPr lang="en-US" sz="1400" dirty="0"/>
          </a:p>
        </p:txBody>
      </p:sp>
      <p:sp>
        <p:nvSpPr>
          <p:cNvPr id="11" name="Text 9"/>
          <p:cNvSpPr/>
          <p:nvPr/>
        </p:nvSpPr>
        <p:spPr>
          <a:xfrm>
            <a:off x="6583680" y="2194560"/>
            <a:ext cx="4892040" cy="2926080"/>
          </a:xfrm>
          <a:prstGeom prst="rect">
            <a:avLst/>
          </a:prstGeom>
          <a:noFill/>
          <a:ln/>
        </p:spPr>
        <p:txBody>
          <a:bodyPr wrap="square" lIns="0" tIns="0" rIns="0" bIns="0" rtlCol="0" anchor="ctr"/>
          <a:lstStyle/>
          <a:p>
            <a:pPr indent="0" marL="0">
              <a:lnSpc>
                <a:spcPts val="2300"/>
              </a:lnSpc>
              <a:buNone/>
            </a:pPr>
            <a:r>
              <a:rPr lang="en-US" sz="1250" dirty="0">
                <a:solidFill>
                  <a:srgbClr val="262626"/>
                </a:solidFill>
                <a:latin typeface="Courier New" pitchFamily="34" charset="0"/>
                <a:ea typeface="Courier New" pitchFamily="34" charset="-122"/>
                <a:cs typeface="Courier New" pitchFamily="34" charset="-120"/>
              </a:rPr>
              <a:t>Source</a:t>
            </a:r>
            <a:endParaRPr lang="en-US" sz="1250" dirty="0"/>
          </a:p>
          <a:p>
            <a:pPr indent="0" marL="0">
              <a:lnSpc>
                <a:spcPts val="2300"/>
              </a:lnSpc>
              <a:buNone/>
            </a:pPr>
            <a:r>
              <a:rPr lang="en-US" sz="1250" dirty="0">
                <a:solidFill>
                  <a:srgbClr val="262626"/>
                </a:solidFill>
                <a:latin typeface="Courier New" pitchFamily="34" charset="0"/>
                <a:ea typeface="Courier New" pitchFamily="34" charset="-122"/>
                <a:cs typeface="Courier New" pitchFamily="34" charset="-120"/>
              </a:rPr>
              <a:t>Navigation 1</a:t>
            </a:r>
            <a:endParaRPr lang="en-US" sz="1250" dirty="0"/>
          </a:p>
          <a:p>
            <a:pPr indent="0" marL="0">
              <a:lnSpc>
                <a:spcPts val="2300"/>
              </a:lnSpc>
              <a:buNone/>
            </a:pPr>
            <a:r>
              <a:rPr lang="en-US" sz="1250" dirty="0">
                <a:solidFill>
                  <a:srgbClr val="262626"/>
                </a:solidFill>
                <a:latin typeface="Courier New" pitchFamily="34" charset="0"/>
                <a:ea typeface="Courier New" pitchFamily="34" charset="-122"/>
                <a:cs typeface="Courier New" pitchFamily="34" charset="-120"/>
              </a:rPr>
              <a:t>Set Date to date type</a:t>
            </a:r>
            <a:endParaRPr lang="en-US" sz="1250" dirty="0"/>
          </a:p>
          <a:p>
            <a:pPr indent="0" marL="0">
              <a:lnSpc>
                <a:spcPts val="2300"/>
              </a:lnSpc>
              <a:buNone/>
            </a:pPr>
            <a:r>
              <a:rPr lang="en-US" sz="1250" dirty="0">
                <a:solidFill>
                  <a:srgbClr val="262626"/>
                </a:solidFill>
                <a:latin typeface="Courier New" pitchFamily="34" charset="0"/>
                <a:ea typeface="Courier New" pitchFamily="34" charset="-122"/>
                <a:cs typeface="Courier New" pitchFamily="34" charset="-120"/>
              </a:rPr>
              <a:t>Removed 12 rows with blank dates</a:t>
            </a:r>
            <a:endParaRPr lang="en-US" sz="1250" dirty="0"/>
          </a:p>
          <a:p>
            <a:pPr indent="0" marL="0">
              <a:lnSpc>
                <a:spcPts val="2300"/>
              </a:lnSpc>
              <a:buNone/>
            </a:pPr>
            <a:r>
              <a:rPr lang="en-US" sz="1250" dirty="0">
                <a:solidFill>
                  <a:srgbClr val="262626"/>
                </a:solidFill>
                <a:latin typeface="Courier New" pitchFamily="34" charset="0"/>
                <a:ea typeface="Courier New" pitchFamily="34" charset="-122"/>
                <a:cs typeface="Courier New" pitchFamily="34" charset="-120"/>
              </a:rPr>
              <a:t>Trimmed BranchID</a:t>
            </a:r>
            <a:endParaRPr lang="en-US" sz="1250" dirty="0"/>
          </a:p>
          <a:p>
            <a:pPr indent="0" marL="0">
              <a:lnSpc>
                <a:spcPts val="2300"/>
              </a:lnSpc>
              <a:buNone/>
            </a:pPr>
            <a:r>
              <a:rPr lang="en-US" sz="1250" dirty="0">
                <a:solidFill>
                  <a:srgbClr val="262626"/>
                </a:solidFill>
                <a:latin typeface="Courier New" pitchFamily="34" charset="0"/>
                <a:ea typeface="Courier New" pitchFamily="34" charset="-122"/>
                <a:cs typeface="Courier New" pitchFamily="34" charset="-120"/>
              </a:rPr>
              <a:t>Removed 23 duplicate sales</a:t>
            </a:r>
            <a:endParaRPr lang="en-US" sz="1250" dirty="0"/>
          </a:p>
          <a:p>
            <a:pPr indent="0" marL="0">
              <a:lnSpc>
                <a:spcPts val="2300"/>
              </a:lnSpc>
              <a:buNone/>
            </a:pPr>
            <a:r>
              <a:rPr lang="en-US" sz="1250" dirty="0">
                <a:solidFill>
                  <a:srgbClr val="262626"/>
                </a:solidFill>
                <a:latin typeface="Courier New" pitchFamily="34" charset="0"/>
                <a:ea typeface="Courier New" pitchFamily="34" charset="-122"/>
                <a:cs typeface="Courier New" pitchFamily="34" charset="-120"/>
              </a:rPr>
              <a:t>Set Amount to decimal</a:t>
            </a:r>
            <a:endParaRPr lang="en-US" sz="1250" dirty="0"/>
          </a:p>
        </p:txBody>
      </p:sp>
      <p:sp>
        <p:nvSpPr>
          <p:cNvPr id="12" name="Text 10"/>
          <p:cNvSpPr/>
          <p:nvPr/>
        </p:nvSpPr>
        <p:spPr>
          <a:xfrm>
            <a:off x="548640" y="5486400"/>
            <a:ext cx="11091672" cy="365760"/>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Right-click any step → Rename. Two minutes for the whole query.</a:t>
            </a:r>
            <a:endParaRPr lang="en-US" sz="1300" dirty="0"/>
          </a:p>
        </p:txBody>
      </p:sp>
      <p:sp>
        <p:nvSpPr>
          <p:cNvPr id="13" name="Shape 11"/>
          <p:cNvSpPr/>
          <p:nvPr/>
        </p:nvSpPr>
        <p:spPr>
          <a:xfrm>
            <a:off x="548640" y="5897880"/>
            <a:ext cx="11091672" cy="777240"/>
          </a:xfrm>
          <a:prstGeom prst="roundRect">
            <a:avLst>
              <a:gd name="adj" fmla="val 8235"/>
            </a:avLst>
          </a:prstGeom>
          <a:solidFill>
            <a:srgbClr val="FAF2F3"/>
          </a:solidFill>
          <a:ln/>
        </p:spPr>
      </p:sp>
      <p:sp>
        <p:nvSpPr>
          <p:cNvPr id="14" name="Text 12"/>
          <p:cNvSpPr/>
          <p:nvPr/>
        </p:nvSpPr>
        <p:spPr>
          <a:xfrm>
            <a:off x="822960" y="5897880"/>
            <a:ext cx="10561320" cy="777240"/>
          </a:xfrm>
          <a:prstGeom prst="rect">
            <a:avLst/>
          </a:prstGeom>
          <a:noFill/>
          <a:ln/>
        </p:spPr>
        <p:txBody>
          <a:bodyPr wrap="square" lIns="0" tIns="0" rIns="0" bIns="0" rtlCol="0" anchor="ctr"/>
          <a:lstStyle/>
          <a:p>
            <a:pPr indent="0" marL="0">
              <a:buNone/>
            </a:pPr>
            <a:r>
              <a:rPr lang="en-US" sz="1250" b="1" dirty="0">
                <a:solidFill>
                  <a:srgbClr val="262626"/>
                </a:solidFill>
                <a:latin typeface="Calibri" pitchFamily="34" charset="0"/>
                <a:ea typeface="Calibri" pitchFamily="34" charset="-122"/>
                <a:cs typeface="Calibri" pitchFamily="34" charset="-120"/>
              </a:rPr>
              <a:t>Order matters too. </a:t>
            </a:r>
            <a:pPr indent="0" marL="0">
              <a:buNone/>
            </a:pPr>
            <a:r>
              <a:rPr lang="en-US" sz="1250" dirty="0">
                <a:solidFill>
                  <a:srgbClr val="262626"/>
                </a:solidFill>
                <a:latin typeface="Calibri" pitchFamily="34" charset="0"/>
                <a:ea typeface="Calibri" pitchFamily="34" charset="-122"/>
                <a:cs typeface="Calibri" pitchFamily="34" charset="-120"/>
              </a:rPr>
              <a:t>Trim before you group, or the spaces are still there. Remove duplicates before you filter, or you filter rows you were about to delete. You can drag steps to reorder — carefully.</a:t>
            </a:r>
            <a:endParaRPr lang="en-US" sz="12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3F0D18"/>
        </a:solidFill>
      </p:bgPr>
    </p:bg>
    <p:spTree>
      <p:nvGrpSpPr>
        <p:cNvPr id="1" name=""/>
        <p:cNvGrpSpPr/>
        <p:nvPr/>
      </p:nvGrpSpPr>
      <p:grpSpPr>
        <a:xfrm>
          <a:off x="0" y="0"/>
          <a:ext cx="0" cy="0"/>
          <a:chOff x="0" y="0"/>
          <a:chExt cx="0" cy="0"/>
        </a:xfrm>
      </p:grpSpPr>
      <p:sp>
        <p:nvSpPr>
          <p:cNvPr id="2" name="Shape 0"/>
          <p:cNvSpPr/>
          <p:nvPr/>
        </p:nvSpPr>
        <p:spPr>
          <a:xfrm>
            <a:off x="8778240" y="-1463040"/>
            <a:ext cx="4937760" cy="4937760"/>
          </a:xfrm>
          <a:prstGeom prst="ellipse">
            <a:avLst/>
          </a:prstGeom>
          <a:solidFill>
            <a:srgbClr val="581523"/>
          </a:solidFill>
          <a:ln/>
        </p:spPr>
      </p:sp>
      <p:sp>
        <p:nvSpPr>
          <p:cNvPr id="3" name="Shape 1"/>
          <p:cNvSpPr/>
          <p:nvPr/>
        </p:nvSpPr>
        <p:spPr>
          <a:xfrm>
            <a:off x="548640" y="1371600"/>
            <a:ext cx="731520" cy="731520"/>
          </a:xfrm>
          <a:prstGeom prst="ellipse">
            <a:avLst/>
          </a:prstGeom>
          <a:solidFill>
            <a:srgbClr val="9D2235"/>
          </a:solidFill>
          <a:ln/>
        </p:spPr>
      </p:sp>
      <p:pic>
        <p:nvPicPr>
          <p:cNvPr id="4" name="Image 0" descr="preencoded.png">    </p:cNvPr>
          <p:cNvPicPr>
            <a:picLocks noChangeAspect="1"/>
          </p:cNvPicPr>
          <p:nvPr/>
        </p:nvPicPr>
        <p:blipFill>
          <a:blip r:embed="rId1"/>
          <a:stretch>
            <a:fillRect/>
          </a:stretch>
        </p:blipFill>
        <p:spPr>
          <a:xfrm>
            <a:off x="738835" y="1561795"/>
            <a:ext cx="351130" cy="351130"/>
          </a:xfrm>
          <a:prstGeom prst="rect">
            <a:avLst/>
          </a:prstGeom>
        </p:spPr>
      </p:pic>
      <p:sp>
        <p:nvSpPr>
          <p:cNvPr id="5" name="Text 2"/>
          <p:cNvSpPr/>
          <p:nvPr/>
        </p:nvSpPr>
        <p:spPr>
          <a:xfrm>
            <a:off x="548640" y="2377440"/>
            <a:ext cx="1005840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A message from Operations</a:t>
            </a:r>
            <a:endParaRPr lang="en-US" sz="4000" dirty="0"/>
          </a:p>
        </p:txBody>
      </p:sp>
      <p:sp>
        <p:nvSpPr>
          <p:cNvPr id="6" name="Text 3"/>
          <p:cNvSpPr/>
          <p:nvPr/>
        </p:nvSpPr>
        <p:spPr>
          <a:xfrm>
            <a:off x="548640" y="3383280"/>
            <a:ext cx="8686800" cy="914400"/>
          </a:xfrm>
          <a:prstGeom prst="rect">
            <a:avLst/>
          </a:prstGeom>
          <a:noFill/>
          <a:ln/>
        </p:spPr>
        <p:txBody>
          <a:bodyPr wrap="square" lIns="0" tIns="0" rIns="0" bIns="0" rtlCol="0" anchor="ctr"/>
          <a:lstStyle/>
          <a:p>
            <a:pPr indent="0" marL="0">
              <a:lnSpc>
                <a:spcPts val="2600"/>
              </a:lnSpc>
              <a:buNone/>
            </a:pPr>
            <a:r>
              <a:rPr lang="en-US" sz="1700" i="1" dirty="0">
                <a:solidFill>
                  <a:srgbClr val="E8D9DC"/>
                </a:solidFill>
                <a:latin typeface="Calibri" pitchFamily="34" charset="0"/>
                <a:ea typeface="Calibri" pitchFamily="34" charset="-122"/>
                <a:cs typeface="Calibri" pitchFamily="34" charset="-120"/>
              </a:rPr>
              <a:t>“We found some problems in the file we sent you and have issued a corrected version. Please use this one from now on.”</a:t>
            </a:r>
            <a:endParaRPr lang="en-US" sz="1700" dirty="0"/>
          </a:p>
        </p:txBody>
      </p:sp>
      <p:sp>
        <p:nvSpPr>
          <p:cNvPr id="7" name="Text 4"/>
          <p:cNvSpPr/>
          <p:nvPr/>
        </p:nvSpPr>
        <p:spPr>
          <a:xfrm>
            <a:off x="548640" y="4572000"/>
            <a:ext cx="8686800" cy="457200"/>
          </a:xfrm>
          <a:prstGeom prst="rect">
            <a:avLst/>
          </a:prstGeom>
          <a:noFill/>
          <a:ln/>
        </p:spPr>
        <p:txBody>
          <a:bodyPr wrap="square" lIns="0" tIns="0" rIns="0" bIns="0" rtlCol="0" anchor="ctr"/>
          <a:lstStyle/>
          <a:p>
            <a:pPr indent="0" marL="0">
              <a:buNone/>
            </a:pPr>
            <a:r>
              <a:rPr lang="en-US" sz="1600" b="1" dirty="0">
                <a:solidFill>
                  <a:srgbClr val="E3B23C"/>
                </a:solidFill>
                <a:latin typeface="Calibri" pitchFamily="34" charset="0"/>
                <a:ea typeface="Calibri" pitchFamily="34" charset="-122"/>
                <a:cs typeface="Calibri" pitchFamily="34" charset="-120"/>
              </a:rPr>
              <a:t>Point your queries at the new file and carry on with your work.</a:t>
            </a:r>
            <a:endParaRPr lang="en-US" sz="1600" dirty="0"/>
          </a:p>
        </p:txBody>
      </p:sp>
      <p:sp>
        <p:nvSpPr>
          <p:cNvPr id="8" name="Text 5"/>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C89AA3"/>
                </a:solidFill>
                <a:latin typeface="Calibri" pitchFamily="34" charset="0"/>
                <a:ea typeface="Calibri" pitchFamily="34" charset="-122"/>
                <a:cs typeface="Calibri" pitchFamily="34" charset="-120"/>
              </a:rPr>
              <a:t>BDAT04 · Session 3 · 29 August 2026</a:t>
            </a:r>
            <a:endParaRPr lang="en-US" sz="850" dirty="0"/>
          </a:p>
        </p:txBody>
      </p:sp>
      <p:sp>
        <p:nvSpPr>
          <p:cNvPr id="9" name="Text 6"/>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C89AA3"/>
                </a:solidFill>
                <a:latin typeface="Calibri" pitchFamily="34" charset="0"/>
                <a:ea typeface="Calibri" pitchFamily="34" charset="-122"/>
                <a:cs typeface="Calibri" pitchFamily="34" charset="-120"/>
              </a:rPr>
              <a:t>19</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DRILL DEBRIEF</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Three things changed. How many did you find?</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20</a:t>
            </a:r>
            <a:endParaRPr lang="en-US" sz="850" dirty="0"/>
          </a:p>
        </p:txBody>
      </p:sp>
      <p:sp>
        <p:nvSpPr>
          <p:cNvPr id="6" name="Shape 4"/>
          <p:cNvSpPr/>
          <p:nvPr/>
        </p:nvSpPr>
        <p:spPr>
          <a:xfrm>
            <a:off x="548640" y="1554480"/>
            <a:ext cx="11091672" cy="1280160"/>
          </a:xfrm>
          <a:prstGeom prst="roundRect">
            <a:avLst>
              <a:gd name="adj" fmla="val 5000"/>
            </a:avLst>
          </a:prstGeom>
          <a:solidFill>
            <a:srgbClr val="FAF2F3"/>
          </a:solidFill>
          <a:ln/>
        </p:spPr>
      </p:sp>
      <p:sp>
        <p:nvSpPr>
          <p:cNvPr id="7" name="Shape 5"/>
          <p:cNvSpPr/>
          <p:nvPr/>
        </p:nvSpPr>
        <p:spPr>
          <a:xfrm>
            <a:off x="749808" y="1874520"/>
            <a:ext cx="777240" cy="621792"/>
          </a:xfrm>
          <a:prstGeom prst="roundRect">
            <a:avLst>
              <a:gd name="adj" fmla="val 8824"/>
            </a:avLst>
          </a:prstGeom>
          <a:solidFill>
            <a:srgbClr val="2C6E49"/>
          </a:solidFill>
          <a:ln/>
        </p:spPr>
      </p:sp>
      <p:sp>
        <p:nvSpPr>
          <p:cNvPr id="8" name="Text 6"/>
          <p:cNvSpPr/>
          <p:nvPr/>
        </p:nvSpPr>
        <p:spPr>
          <a:xfrm>
            <a:off x="749808" y="1874520"/>
            <a:ext cx="777240"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9" name="Text 7"/>
          <p:cNvSpPr/>
          <p:nvPr/>
        </p:nvSpPr>
        <p:spPr>
          <a:xfrm>
            <a:off x="1691640" y="1737360"/>
            <a:ext cx="1554480" cy="365760"/>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Loud</a:t>
            </a:r>
            <a:endParaRPr lang="en-US" sz="1300" dirty="0"/>
          </a:p>
        </p:txBody>
      </p:sp>
      <p:sp>
        <p:nvSpPr>
          <p:cNvPr id="10" name="Text 8"/>
          <p:cNvSpPr/>
          <p:nvPr/>
        </p:nvSpPr>
        <p:spPr>
          <a:xfrm>
            <a:off x="3291840" y="1737360"/>
            <a:ext cx="3657600" cy="384048"/>
          </a:xfrm>
          <a:prstGeom prst="rect">
            <a:avLst/>
          </a:prstGeom>
          <a:noFill/>
          <a:ln/>
        </p:spPr>
        <p:txBody>
          <a:bodyPr wrap="square" lIns="0" tIns="0" rIns="0" bIns="0" rtlCol="0" anchor="ctr"/>
          <a:lstStyle/>
          <a:p>
            <a:pPr indent="0" marL="0">
              <a:buNone/>
            </a:pPr>
            <a:r>
              <a:rPr lang="en-US" sz="1350" b="1" dirty="0">
                <a:solidFill>
                  <a:srgbClr val="262626"/>
                </a:solidFill>
                <a:latin typeface="Calibri" pitchFamily="34" charset="0"/>
                <a:ea typeface="Calibri" pitchFamily="34" charset="-122"/>
                <a:cs typeface="Calibri" pitchFamily="34" charset="-120"/>
              </a:rPr>
              <a:t>A column was renamed</a:t>
            </a:r>
            <a:endParaRPr lang="en-US" sz="1350" dirty="0"/>
          </a:p>
        </p:txBody>
      </p:sp>
      <p:sp>
        <p:nvSpPr>
          <p:cNvPr id="11" name="Text 9"/>
          <p:cNvSpPr/>
          <p:nvPr/>
        </p:nvSpPr>
        <p:spPr>
          <a:xfrm>
            <a:off x="3291840" y="2176272"/>
            <a:ext cx="8046720" cy="54864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Your query threw an error and named the step that failed. Everybody found this.</a:t>
            </a:r>
            <a:endParaRPr lang="en-US" sz="1150" dirty="0"/>
          </a:p>
        </p:txBody>
      </p:sp>
      <p:sp>
        <p:nvSpPr>
          <p:cNvPr id="12" name="Shape 10"/>
          <p:cNvSpPr/>
          <p:nvPr/>
        </p:nvSpPr>
        <p:spPr>
          <a:xfrm>
            <a:off x="548640" y="2971800"/>
            <a:ext cx="11091672" cy="1280160"/>
          </a:xfrm>
          <a:prstGeom prst="roundRect">
            <a:avLst>
              <a:gd name="adj" fmla="val 5000"/>
            </a:avLst>
          </a:prstGeom>
          <a:solidFill>
            <a:srgbClr val="FFE8EA"/>
          </a:solidFill>
          <a:ln/>
        </p:spPr>
      </p:sp>
      <p:sp>
        <p:nvSpPr>
          <p:cNvPr id="13" name="Shape 11"/>
          <p:cNvSpPr/>
          <p:nvPr/>
        </p:nvSpPr>
        <p:spPr>
          <a:xfrm>
            <a:off x="749808" y="3291840"/>
            <a:ext cx="777240" cy="621792"/>
          </a:xfrm>
          <a:prstGeom prst="roundRect">
            <a:avLst>
              <a:gd name="adj" fmla="val 8824"/>
            </a:avLst>
          </a:prstGeom>
          <a:solidFill>
            <a:srgbClr val="9D2235"/>
          </a:solidFill>
          <a:ln/>
        </p:spPr>
      </p:sp>
      <p:sp>
        <p:nvSpPr>
          <p:cNvPr id="14" name="Text 12"/>
          <p:cNvSpPr/>
          <p:nvPr/>
        </p:nvSpPr>
        <p:spPr>
          <a:xfrm>
            <a:off x="749808" y="3291840"/>
            <a:ext cx="777240"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3"/>
          <p:cNvSpPr/>
          <p:nvPr/>
        </p:nvSpPr>
        <p:spPr>
          <a:xfrm>
            <a:off x="1691640" y="3154680"/>
            <a:ext cx="1554480" cy="365760"/>
          </a:xfrm>
          <a:prstGeom prst="rect">
            <a:avLst/>
          </a:prstGeom>
          <a:noFill/>
          <a:ln/>
        </p:spPr>
        <p:txBody>
          <a:bodyPr wrap="square" lIns="0" tIns="0" rIns="0" bIns="0" rtlCol="0" anchor="ctr"/>
          <a:lstStyle/>
          <a:p>
            <a:pPr indent="0" marL="0">
              <a:buNone/>
            </a:pPr>
            <a:r>
              <a:rPr lang="en-US" sz="1300" b="1" dirty="0">
                <a:solidFill>
                  <a:srgbClr val="9D2235"/>
                </a:solidFill>
                <a:latin typeface="Calibri" pitchFamily="34" charset="0"/>
                <a:ea typeface="Calibri" pitchFamily="34" charset="-122"/>
                <a:cs typeface="Calibri" pitchFamily="34" charset="-120"/>
              </a:rPr>
              <a:t>Silent</a:t>
            </a:r>
            <a:endParaRPr lang="en-US" sz="1300" dirty="0"/>
          </a:p>
        </p:txBody>
      </p:sp>
      <p:sp>
        <p:nvSpPr>
          <p:cNvPr id="16" name="Text 14"/>
          <p:cNvSpPr/>
          <p:nvPr/>
        </p:nvSpPr>
        <p:spPr>
          <a:xfrm>
            <a:off x="3291840" y="3154680"/>
            <a:ext cx="3657600" cy="384048"/>
          </a:xfrm>
          <a:prstGeom prst="rect">
            <a:avLst/>
          </a:prstGeom>
          <a:noFill/>
          <a:ln/>
        </p:spPr>
        <p:txBody>
          <a:bodyPr wrap="square" lIns="0" tIns="0" rIns="0" bIns="0" rtlCol="0" anchor="ctr"/>
          <a:lstStyle/>
          <a:p>
            <a:pPr indent="0" marL="0">
              <a:buNone/>
            </a:pPr>
            <a:r>
              <a:rPr lang="en-US" sz="1350" b="1" dirty="0">
                <a:solidFill>
                  <a:srgbClr val="262626"/>
                </a:solidFill>
                <a:latin typeface="Calibri" pitchFamily="34" charset="0"/>
                <a:ea typeface="Calibri" pitchFamily="34" charset="-122"/>
                <a:cs typeface="Calibri" pitchFamily="34" charset="-120"/>
              </a:rPr>
              <a:t>New rows use a different dash in the branch code</a:t>
            </a:r>
            <a:endParaRPr lang="en-US" sz="1350" dirty="0"/>
          </a:p>
        </p:txBody>
      </p:sp>
      <p:sp>
        <p:nvSpPr>
          <p:cNvPr id="17" name="Text 15"/>
          <p:cNvSpPr/>
          <p:nvPr/>
        </p:nvSpPr>
        <p:spPr>
          <a:xfrm>
            <a:off x="3291840" y="3593592"/>
            <a:ext cx="8046720" cy="54864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No error. The query refreshed. Your branch totals are wrong and nothing told you.</a:t>
            </a:r>
            <a:endParaRPr lang="en-US" sz="1150" dirty="0"/>
          </a:p>
        </p:txBody>
      </p:sp>
      <p:sp>
        <p:nvSpPr>
          <p:cNvPr id="18" name="Shape 16"/>
          <p:cNvSpPr/>
          <p:nvPr/>
        </p:nvSpPr>
        <p:spPr>
          <a:xfrm>
            <a:off x="548640" y="4389120"/>
            <a:ext cx="11091672" cy="1280160"/>
          </a:xfrm>
          <a:prstGeom prst="roundRect">
            <a:avLst>
              <a:gd name="adj" fmla="val 5000"/>
            </a:avLst>
          </a:prstGeom>
          <a:solidFill>
            <a:srgbClr val="FAF2F3"/>
          </a:solidFill>
          <a:ln/>
        </p:spPr>
      </p:sp>
      <p:sp>
        <p:nvSpPr>
          <p:cNvPr id="19" name="Shape 17"/>
          <p:cNvSpPr/>
          <p:nvPr/>
        </p:nvSpPr>
        <p:spPr>
          <a:xfrm>
            <a:off x="749808" y="4709160"/>
            <a:ext cx="777240" cy="621792"/>
          </a:xfrm>
          <a:prstGeom prst="roundRect">
            <a:avLst>
              <a:gd name="adj" fmla="val 8824"/>
            </a:avLst>
          </a:prstGeom>
          <a:solidFill>
            <a:srgbClr val="C99700"/>
          </a:solidFill>
          <a:ln/>
        </p:spPr>
      </p:sp>
      <p:sp>
        <p:nvSpPr>
          <p:cNvPr id="20" name="Text 18"/>
          <p:cNvSpPr/>
          <p:nvPr/>
        </p:nvSpPr>
        <p:spPr>
          <a:xfrm>
            <a:off x="749808" y="4709160"/>
            <a:ext cx="777240" cy="621792"/>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1" name="Text 19"/>
          <p:cNvSpPr/>
          <p:nvPr/>
        </p:nvSpPr>
        <p:spPr>
          <a:xfrm>
            <a:off x="1691640" y="4572000"/>
            <a:ext cx="1554480" cy="365760"/>
          </a:xfrm>
          <a:prstGeom prst="rect">
            <a:avLst/>
          </a:prstGeom>
          <a:noFill/>
          <a:ln/>
        </p:spPr>
        <p:txBody>
          <a:bodyPr wrap="square" lIns="0" tIns="0" rIns="0" bIns="0" rtlCol="0" anchor="ctr"/>
          <a:lstStyle/>
          <a:p>
            <a:pPr indent="0" marL="0">
              <a:buNone/>
            </a:pPr>
            <a:r>
              <a:rPr lang="en-US" sz="1300" b="1" dirty="0">
                <a:solidFill>
                  <a:srgbClr val="C99700"/>
                </a:solidFill>
                <a:latin typeface="Calibri" pitchFamily="34" charset="0"/>
                <a:ea typeface="Calibri" pitchFamily="34" charset="-122"/>
                <a:cs typeface="Calibri" pitchFamily="34" charset="-120"/>
              </a:rPr>
              <a:t>Structural</a:t>
            </a:r>
            <a:endParaRPr lang="en-US" sz="1300" dirty="0"/>
          </a:p>
        </p:txBody>
      </p:sp>
      <p:sp>
        <p:nvSpPr>
          <p:cNvPr id="22" name="Text 20"/>
          <p:cNvSpPr/>
          <p:nvPr/>
        </p:nvSpPr>
        <p:spPr>
          <a:xfrm>
            <a:off x="3291840" y="4572000"/>
            <a:ext cx="3657600" cy="384048"/>
          </a:xfrm>
          <a:prstGeom prst="rect">
            <a:avLst/>
          </a:prstGeom>
          <a:noFill/>
          <a:ln/>
        </p:spPr>
        <p:txBody>
          <a:bodyPr wrap="square" lIns="0" tIns="0" rIns="0" bIns="0" rtlCol="0" anchor="ctr"/>
          <a:lstStyle/>
          <a:p>
            <a:pPr indent="0" marL="0">
              <a:buNone/>
            </a:pPr>
            <a:r>
              <a:rPr lang="en-US" sz="1350" b="1" dirty="0">
                <a:solidFill>
                  <a:srgbClr val="262626"/>
                </a:solidFill>
                <a:latin typeface="Calibri" pitchFamily="34" charset="0"/>
                <a:ea typeface="Calibri" pitchFamily="34" charset="-122"/>
                <a:cs typeface="Calibri" pitchFamily="34" charset="-120"/>
              </a:rPr>
              <a:t>Two rows added above the employee header</a:t>
            </a:r>
            <a:endParaRPr lang="en-US" sz="1350" dirty="0"/>
          </a:p>
        </p:txBody>
      </p:sp>
      <p:sp>
        <p:nvSpPr>
          <p:cNvPr id="23" name="Text 21"/>
          <p:cNvSpPr/>
          <p:nvPr/>
        </p:nvSpPr>
        <p:spPr>
          <a:xfrm>
            <a:off x="3291840" y="5010912"/>
            <a:ext cx="8046720" cy="54864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Your column names shifted. The data looks plausible and is misaligned.</a:t>
            </a:r>
            <a:endParaRPr lang="en-US" sz="1150" dirty="0"/>
          </a:p>
        </p:txBody>
      </p:sp>
      <p:sp>
        <p:nvSpPr>
          <p:cNvPr id="24" name="Shape 22"/>
          <p:cNvSpPr/>
          <p:nvPr/>
        </p:nvSpPr>
        <p:spPr>
          <a:xfrm>
            <a:off x="548640" y="5852160"/>
            <a:ext cx="11091672" cy="822960"/>
          </a:xfrm>
          <a:prstGeom prst="roundRect">
            <a:avLst>
              <a:gd name="adj" fmla="val 7778"/>
            </a:avLst>
          </a:prstGeom>
          <a:solidFill>
            <a:srgbClr val="3F0D18"/>
          </a:solidFill>
          <a:ln/>
        </p:spPr>
      </p:sp>
      <p:sp>
        <p:nvSpPr>
          <p:cNvPr id="25" name="Text 23"/>
          <p:cNvSpPr/>
          <p:nvPr/>
        </p:nvSpPr>
        <p:spPr>
          <a:xfrm>
            <a:off x="868680" y="5852160"/>
            <a:ext cx="10515600" cy="822960"/>
          </a:xfrm>
          <a:prstGeom prst="rect">
            <a:avLst/>
          </a:prstGeom>
          <a:noFill/>
          <a:ln/>
        </p:spPr>
        <p:txBody>
          <a:bodyPr wrap="square" lIns="0" tIns="0" rIns="0" bIns="0" rtlCol="0" anchor="ctr"/>
          <a:lstStyle/>
          <a:p>
            <a:pPr indent="0" marL="0">
              <a:buNone/>
            </a:pPr>
            <a:r>
              <a:rPr lang="en-US" sz="1500" b="1" i="1" dirty="0">
                <a:solidFill>
                  <a:srgbClr val="E3B23C"/>
                </a:solidFill>
                <a:latin typeface="Calibri" pitchFamily="34" charset="0"/>
                <a:ea typeface="Calibri" pitchFamily="34" charset="-122"/>
                <a:cs typeface="Calibri" pitchFamily="34" charset="-120"/>
              </a:rPr>
              <a:t>How long was the wrong number sitting in your model before you noticed?</a:t>
            </a:r>
            <a:endParaRPr lang="en-US" sz="15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WHAT WAS LOST</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Every step you added today deleted something</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21</a:t>
            </a:r>
            <a:endParaRPr lang="en-US" sz="850" dirty="0"/>
          </a:p>
        </p:txBody>
      </p:sp>
      <p:sp>
        <p:nvSpPr>
          <p:cNvPr id="6" name="Shape 4"/>
          <p:cNvSpPr/>
          <p:nvPr/>
        </p:nvSpPr>
        <p:spPr>
          <a:xfrm>
            <a:off x="548640" y="1508760"/>
            <a:ext cx="11091672" cy="1078992"/>
          </a:xfrm>
          <a:prstGeom prst="roundRect">
            <a:avLst>
              <a:gd name="adj" fmla="val 5932"/>
            </a:avLst>
          </a:prstGeom>
          <a:solidFill>
            <a:srgbClr val="FAF2F3"/>
          </a:solidFill>
          <a:ln/>
        </p:spPr>
      </p:sp>
      <p:sp>
        <p:nvSpPr>
          <p:cNvPr id="7" name="Shape 5"/>
          <p:cNvSpPr/>
          <p:nvPr/>
        </p:nvSpPr>
        <p:spPr>
          <a:xfrm>
            <a:off x="786384" y="1764792"/>
            <a:ext cx="548640" cy="548640"/>
          </a:xfrm>
          <a:prstGeom prst="ellipse">
            <a:avLst/>
          </a:prstGeom>
          <a:solidFill>
            <a:srgbClr val="6E6E6E"/>
          </a:solidFill>
          <a:ln/>
        </p:spPr>
      </p:sp>
      <p:pic>
        <p:nvPicPr>
          <p:cNvPr id="8" name="Image 0" descr="preencoded.png">    </p:cNvPr>
          <p:cNvPicPr>
            <a:picLocks noChangeAspect="1"/>
          </p:cNvPicPr>
          <p:nvPr/>
        </p:nvPicPr>
        <p:blipFill>
          <a:blip r:embed="rId1"/>
          <a:stretch>
            <a:fillRect/>
          </a:stretch>
        </p:blipFill>
        <p:spPr>
          <a:xfrm>
            <a:off x="929030" y="1907438"/>
            <a:ext cx="263347" cy="263347"/>
          </a:xfrm>
          <a:prstGeom prst="rect">
            <a:avLst/>
          </a:prstGeom>
        </p:spPr>
      </p:pic>
      <p:sp>
        <p:nvSpPr>
          <p:cNvPr id="9" name="Text 6"/>
          <p:cNvSpPr/>
          <p:nvPr/>
        </p:nvSpPr>
        <p:spPr>
          <a:xfrm>
            <a:off x="1554480" y="1636776"/>
            <a:ext cx="3931920" cy="411480"/>
          </a:xfrm>
          <a:prstGeom prst="rect">
            <a:avLst/>
          </a:prstGeom>
          <a:noFill/>
          <a:ln/>
        </p:spPr>
        <p:txBody>
          <a:bodyPr wrap="square" lIns="0" tIns="0" rIns="0" bIns="0" rtlCol="0" anchor="ctr"/>
          <a:lstStyle/>
          <a:p>
            <a:pPr indent="0" marL="0">
              <a:buNone/>
            </a:pPr>
            <a:r>
              <a:rPr lang="en-US" sz="1350" b="1" dirty="0">
                <a:solidFill>
                  <a:srgbClr val="9D2235"/>
                </a:solidFill>
                <a:latin typeface="Calibri" pitchFamily="34" charset="0"/>
                <a:ea typeface="Calibri" pitchFamily="34" charset="-122"/>
                <a:cs typeface="Calibri" pitchFamily="34" charset="-120"/>
              </a:rPr>
              <a:t>Removed 23 duplicate sales</a:t>
            </a:r>
            <a:endParaRPr lang="en-US" sz="1350" dirty="0"/>
          </a:p>
        </p:txBody>
      </p:sp>
      <p:sp>
        <p:nvSpPr>
          <p:cNvPr id="10" name="Text 7"/>
          <p:cNvSpPr/>
          <p:nvPr/>
        </p:nvSpPr>
        <p:spPr>
          <a:xfrm>
            <a:off x="1554480" y="2039112"/>
            <a:ext cx="9784080" cy="50292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You also removed the evidence that your POS duplicates transactions. Next month nobody knows it happens.</a:t>
            </a:r>
            <a:endParaRPr lang="en-US" sz="1150" dirty="0"/>
          </a:p>
        </p:txBody>
      </p:sp>
      <p:sp>
        <p:nvSpPr>
          <p:cNvPr id="11" name="Shape 8"/>
          <p:cNvSpPr/>
          <p:nvPr/>
        </p:nvSpPr>
        <p:spPr>
          <a:xfrm>
            <a:off x="548640" y="2715768"/>
            <a:ext cx="11091672" cy="1078992"/>
          </a:xfrm>
          <a:prstGeom prst="roundRect">
            <a:avLst>
              <a:gd name="adj" fmla="val 5932"/>
            </a:avLst>
          </a:prstGeom>
          <a:solidFill>
            <a:srgbClr val="FAF2F3"/>
          </a:solidFill>
          <a:ln/>
        </p:spPr>
      </p:sp>
      <p:sp>
        <p:nvSpPr>
          <p:cNvPr id="12" name="Shape 9"/>
          <p:cNvSpPr/>
          <p:nvPr/>
        </p:nvSpPr>
        <p:spPr>
          <a:xfrm>
            <a:off x="786384" y="2971800"/>
            <a:ext cx="548640" cy="548640"/>
          </a:xfrm>
          <a:prstGeom prst="ellipse">
            <a:avLst/>
          </a:prstGeom>
          <a:solidFill>
            <a:srgbClr val="6E6E6E"/>
          </a:solidFill>
          <a:ln/>
        </p:spPr>
      </p:sp>
      <p:pic>
        <p:nvPicPr>
          <p:cNvPr id="13" name="Image 1" descr="preencoded.png">    </p:cNvPr>
          <p:cNvPicPr>
            <a:picLocks noChangeAspect="1"/>
          </p:cNvPicPr>
          <p:nvPr/>
        </p:nvPicPr>
        <p:blipFill>
          <a:blip r:embed="rId2"/>
          <a:stretch>
            <a:fillRect/>
          </a:stretch>
        </p:blipFill>
        <p:spPr>
          <a:xfrm>
            <a:off x="929030" y="3114446"/>
            <a:ext cx="263347" cy="263347"/>
          </a:xfrm>
          <a:prstGeom prst="rect">
            <a:avLst/>
          </a:prstGeom>
        </p:spPr>
      </p:pic>
      <p:sp>
        <p:nvSpPr>
          <p:cNvPr id="14" name="Text 10"/>
          <p:cNvSpPr/>
          <p:nvPr/>
        </p:nvSpPr>
        <p:spPr>
          <a:xfrm>
            <a:off x="1554480" y="2843784"/>
            <a:ext cx="3931920" cy="411480"/>
          </a:xfrm>
          <a:prstGeom prst="rect">
            <a:avLst/>
          </a:prstGeom>
          <a:noFill/>
          <a:ln/>
        </p:spPr>
        <p:txBody>
          <a:bodyPr wrap="square" lIns="0" tIns="0" rIns="0" bIns="0" rtlCol="0" anchor="ctr"/>
          <a:lstStyle/>
          <a:p>
            <a:pPr indent="0" marL="0">
              <a:buNone/>
            </a:pPr>
            <a:r>
              <a:rPr lang="en-US" sz="1350" b="1" dirty="0">
                <a:solidFill>
                  <a:srgbClr val="9D2235"/>
                </a:solidFill>
                <a:latin typeface="Calibri" pitchFamily="34" charset="0"/>
                <a:ea typeface="Calibri" pitchFamily="34" charset="-122"/>
                <a:cs typeface="Calibri" pitchFamily="34" charset="-120"/>
              </a:rPr>
              <a:t>Trimmed the branch codes</a:t>
            </a:r>
            <a:endParaRPr lang="en-US" sz="1350" dirty="0"/>
          </a:p>
        </p:txBody>
      </p:sp>
      <p:sp>
        <p:nvSpPr>
          <p:cNvPr id="15" name="Text 11"/>
          <p:cNvSpPr/>
          <p:nvPr/>
        </p:nvSpPr>
        <p:spPr>
          <a:xfrm>
            <a:off x="1554480" y="3246120"/>
            <a:ext cx="9784080" cy="50292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You also removed the proof that someone is entering data with trailing spaces. The habit continues, unrecorded.</a:t>
            </a:r>
            <a:endParaRPr lang="en-US" sz="1150" dirty="0"/>
          </a:p>
        </p:txBody>
      </p:sp>
      <p:sp>
        <p:nvSpPr>
          <p:cNvPr id="16" name="Shape 12"/>
          <p:cNvSpPr/>
          <p:nvPr/>
        </p:nvSpPr>
        <p:spPr>
          <a:xfrm>
            <a:off x="548640" y="3922776"/>
            <a:ext cx="11091672" cy="1078992"/>
          </a:xfrm>
          <a:prstGeom prst="roundRect">
            <a:avLst>
              <a:gd name="adj" fmla="val 5932"/>
            </a:avLst>
          </a:prstGeom>
          <a:solidFill>
            <a:srgbClr val="FAF2F3"/>
          </a:solidFill>
          <a:ln/>
        </p:spPr>
      </p:sp>
      <p:sp>
        <p:nvSpPr>
          <p:cNvPr id="17" name="Shape 13"/>
          <p:cNvSpPr/>
          <p:nvPr/>
        </p:nvSpPr>
        <p:spPr>
          <a:xfrm>
            <a:off x="786384" y="4178808"/>
            <a:ext cx="548640" cy="548640"/>
          </a:xfrm>
          <a:prstGeom prst="ellipse">
            <a:avLst/>
          </a:prstGeom>
          <a:solidFill>
            <a:srgbClr val="6E6E6E"/>
          </a:solidFill>
          <a:ln/>
        </p:spPr>
      </p:sp>
      <p:pic>
        <p:nvPicPr>
          <p:cNvPr id="18" name="Image 2" descr="preencoded.png">    </p:cNvPr>
          <p:cNvPicPr>
            <a:picLocks noChangeAspect="1"/>
          </p:cNvPicPr>
          <p:nvPr/>
        </p:nvPicPr>
        <p:blipFill>
          <a:blip r:embed="rId3"/>
          <a:stretch>
            <a:fillRect/>
          </a:stretch>
        </p:blipFill>
        <p:spPr>
          <a:xfrm>
            <a:off x="929030" y="4321454"/>
            <a:ext cx="263347" cy="263347"/>
          </a:xfrm>
          <a:prstGeom prst="rect">
            <a:avLst/>
          </a:prstGeom>
        </p:spPr>
      </p:pic>
      <p:sp>
        <p:nvSpPr>
          <p:cNvPr id="19" name="Text 14"/>
          <p:cNvSpPr/>
          <p:nvPr/>
        </p:nvSpPr>
        <p:spPr>
          <a:xfrm>
            <a:off x="1554480" y="4050792"/>
            <a:ext cx="3931920" cy="411480"/>
          </a:xfrm>
          <a:prstGeom prst="rect">
            <a:avLst/>
          </a:prstGeom>
          <a:noFill/>
          <a:ln/>
        </p:spPr>
        <p:txBody>
          <a:bodyPr wrap="square" lIns="0" tIns="0" rIns="0" bIns="0" rtlCol="0" anchor="ctr"/>
          <a:lstStyle/>
          <a:p>
            <a:pPr indent="0" marL="0">
              <a:buNone/>
            </a:pPr>
            <a:r>
              <a:rPr lang="en-US" sz="1350" b="1" dirty="0">
                <a:solidFill>
                  <a:srgbClr val="9D2235"/>
                </a:solidFill>
                <a:latin typeface="Calibri" pitchFamily="34" charset="0"/>
                <a:ea typeface="Calibri" pitchFamily="34" charset="-122"/>
                <a:cs typeface="Calibri" pitchFamily="34" charset="-120"/>
              </a:rPr>
              <a:t>Filtered out 12 blank dates</a:t>
            </a:r>
            <a:endParaRPr lang="en-US" sz="1350" dirty="0"/>
          </a:p>
        </p:txBody>
      </p:sp>
      <p:sp>
        <p:nvSpPr>
          <p:cNvPr id="20" name="Text 15"/>
          <p:cNvSpPr/>
          <p:nvPr/>
        </p:nvSpPr>
        <p:spPr>
          <a:xfrm>
            <a:off x="1554480" y="4453128"/>
            <a:ext cx="9784080" cy="50292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You deleted 12 real sales. The revenue was real. Now it is not in your total.</a:t>
            </a:r>
            <a:endParaRPr lang="en-US" sz="1150" dirty="0"/>
          </a:p>
        </p:txBody>
      </p:sp>
      <p:sp>
        <p:nvSpPr>
          <p:cNvPr id="21" name="Shape 16"/>
          <p:cNvSpPr/>
          <p:nvPr/>
        </p:nvSpPr>
        <p:spPr>
          <a:xfrm>
            <a:off x="548640" y="5129784"/>
            <a:ext cx="11091672" cy="1078992"/>
          </a:xfrm>
          <a:prstGeom prst="roundRect">
            <a:avLst>
              <a:gd name="adj" fmla="val 5932"/>
            </a:avLst>
          </a:prstGeom>
          <a:solidFill>
            <a:srgbClr val="FFE8EA"/>
          </a:solidFill>
          <a:ln/>
        </p:spPr>
      </p:sp>
      <p:sp>
        <p:nvSpPr>
          <p:cNvPr id="22" name="Shape 17"/>
          <p:cNvSpPr/>
          <p:nvPr/>
        </p:nvSpPr>
        <p:spPr>
          <a:xfrm>
            <a:off x="786384" y="5385816"/>
            <a:ext cx="548640" cy="548640"/>
          </a:xfrm>
          <a:prstGeom prst="ellipse">
            <a:avLst/>
          </a:prstGeom>
          <a:solidFill>
            <a:srgbClr val="9D2235"/>
          </a:solidFill>
          <a:ln/>
        </p:spPr>
      </p:sp>
      <p:pic>
        <p:nvPicPr>
          <p:cNvPr id="23" name="Image 3" descr="preencoded.png">    </p:cNvPr>
          <p:cNvPicPr>
            <a:picLocks noChangeAspect="1"/>
          </p:cNvPicPr>
          <p:nvPr/>
        </p:nvPicPr>
        <p:blipFill>
          <a:blip r:embed="rId4"/>
          <a:stretch>
            <a:fillRect/>
          </a:stretch>
        </p:blipFill>
        <p:spPr>
          <a:xfrm>
            <a:off x="929030" y="5528462"/>
            <a:ext cx="263347" cy="263347"/>
          </a:xfrm>
          <a:prstGeom prst="rect">
            <a:avLst/>
          </a:prstGeom>
        </p:spPr>
      </p:pic>
      <p:sp>
        <p:nvSpPr>
          <p:cNvPr id="24" name="Text 18"/>
          <p:cNvSpPr/>
          <p:nvPr/>
        </p:nvSpPr>
        <p:spPr>
          <a:xfrm>
            <a:off x="1554480" y="5257800"/>
            <a:ext cx="3931920" cy="411480"/>
          </a:xfrm>
          <a:prstGeom prst="rect">
            <a:avLst/>
          </a:prstGeom>
          <a:noFill/>
          <a:ln/>
        </p:spPr>
        <p:txBody>
          <a:bodyPr wrap="square" lIns="0" tIns="0" rIns="0" bIns="0" rtlCol="0" anchor="ctr"/>
          <a:lstStyle/>
          <a:p>
            <a:pPr indent="0" marL="0">
              <a:buNone/>
            </a:pPr>
            <a:r>
              <a:rPr lang="en-US" sz="1350" b="1" dirty="0">
                <a:solidFill>
                  <a:srgbClr val="9D2235"/>
                </a:solidFill>
                <a:latin typeface="Calibri" pitchFamily="34" charset="0"/>
                <a:ea typeface="Calibri" pitchFamily="34" charset="-122"/>
                <a:cs typeface="Calibri" pitchFamily="34" charset="-120"/>
              </a:rPr>
              <a:t>“Cleaned” the 4,775 blank CustomerIDs</a:t>
            </a:r>
            <a:endParaRPr lang="en-US" sz="1350" dirty="0"/>
          </a:p>
        </p:txBody>
      </p:sp>
      <p:sp>
        <p:nvSpPr>
          <p:cNvPr id="25" name="Text 19"/>
          <p:cNvSpPr/>
          <p:nvPr/>
        </p:nvSpPr>
        <p:spPr>
          <a:xfrm>
            <a:off x="1554480" y="5660136"/>
            <a:ext cx="9784080" cy="502920"/>
          </a:xfrm>
          <a:prstGeom prst="rect">
            <a:avLst/>
          </a:prstGeom>
          <a:noFill/>
          <a:ln/>
        </p:spPr>
        <p:txBody>
          <a:bodyPr wrap="square" lIns="0" tIns="0" rIns="0" bIns="0" rtlCol="0" anchor="ctr"/>
          <a:lstStyle/>
          <a:p>
            <a:pPr indent="0" marL="0">
              <a:lnSpc>
                <a:spcPts val="1500"/>
              </a:lnSpc>
              <a:buNone/>
            </a:pPr>
            <a:r>
              <a:rPr lang="en-US" sz="1150" dirty="0">
                <a:solidFill>
                  <a:srgbClr val="262626"/>
                </a:solidFill>
                <a:latin typeface="Calibri" pitchFamily="34" charset="0"/>
                <a:ea typeface="Calibri" pitchFamily="34" charset="-122"/>
                <a:cs typeface="Calibri" pitchFamily="34" charset="-120"/>
              </a:rPr>
              <a:t>If you filtered these, you deleted 45% of your sales. They are not missing data — walk-in customers were never recorded.</a:t>
            </a:r>
            <a:endParaRPr lang="en-US" sz="1150" dirty="0"/>
          </a:p>
        </p:txBody>
      </p:sp>
      <p:sp>
        <p:nvSpPr>
          <p:cNvPr id="26" name="Text 20"/>
          <p:cNvSpPr/>
          <p:nvPr/>
        </p:nvSpPr>
        <p:spPr>
          <a:xfrm>
            <a:off x="548640" y="6355080"/>
            <a:ext cx="11091672" cy="365760"/>
          </a:xfrm>
          <a:prstGeom prst="rect">
            <a:avLst/>
          </a:prstGeom>
          <a:noFill/>
          <a:ln/>
        </p:spPr>
        <p:txBody>
          <a:bodyPr wrap="square" lIns="0" tIns="0" rIns="0" bIns="0" rtlCol="0" anchor="ctr"/>
          <a:lstStyle/>
          <a:p>
            <a:pPr indent="0" marL="0">
              <a:buNone/>
            </a:pPr>
            <a:r>
              <a:rPr lang="en-US" sz="1350" b="1" i="1" dirty="0">
                <a:solidFill>
                  <a:srgbClr val="9D2235"/>
                </a:solidFill>
                <a:latin typeface="Calibri" pitchFamily="34" charset="0"/>
                <a:ea typeface="Calibri" pitchFamily="34" charset="-122"/>
                <a:cs typeface="Calibri" pitchFamily="34" charset="-120"/>
              </a:rPr>
              <a:t>The question is never “is this dirty?” It is “what am I willing to lose, and can I defend that to the person who asks?”</a:t>
            </a:r>
            <a:endParaRPr lang="en-US" sz="13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BACKUP ROUTINE</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Before you close the browser</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22</a:t>
            </a:r>
            <a:endParaRPr lang="en-US" sz="850" dirty="0"/>
          </a:p>
        </p:txBody>
      </p:sp>
      <p:sp>
        <p:nvSpPr>
          <p:cNvPr id="6" name="Shape 4"/>
          <p:cNvSpPr/>
          <p:nvPr/>
        </p:nvSpPr>
        <p:spPr>
          <a:xfrm>
            <a:off x="548640" y="1737360"/>
            <a:ext cx="822960" cy="822960"/>
          </a:xfrm>
          <a:prstGeom prst="ellipse">
            <a:avLst/>
          </a:prstGeom>
          <a:solidFill>
            <a:srgbClr val="9D2235"/>
          </a:solidFill>
          <a:ln/>
        </p:spPr>
      </p:sp>
      <p:pic>
        <p:nvPicPr>
          <p:cNvPr id="7" name="Image 0" descr="preencoded.png">    </p:cNvPr>
          <p:cNvPicPr>
            <a:picLocks noChangeAspect="1"/>
          </p:cNvPicPr>
          <p:nvPr/>
        </p:nvPicPr>
        <p:blipFill>
          <a:blip r:embed="rId1"/>
          <a:stretch>
            <a:fillRect/>
          </a:stretch>
        </p:blipFill>
        <p:spPr>
          <a:xfrm>
            <a:off x="762610" y="1951330"/>
            <a:ext cx="395021" cy="395021"/>
          </a:xfrm>
          <a:prstGeom prst="rect">
            <a:avLst/>
          </a:prstGeom>
        </p:spPr>
      </p:pic>
      <p:sp>
        <p:nvSpPr>
          <p:cNvPr id="8" name="Text 5"/>
          <p:cNvSpPr/>
          <p:nvPr/>
        </p:nvSpPr>
        <p:spPr>
          <a:xfrm>
            <a:off x="1600200" y="1691640"/>
            <a:ext cx="9966960" cy="502920"/>
          </a:xfrm>
          <a:prstGeom prst="rect">
            <a:avLst/>
          </a:prstGeom>
          <a:noFill/>
          <a:ln/>
        </p:spPr>
        <p:txBody>
          <a:bodyPr wrap="square" lIns="0" tIns="0" rIns="0" bIns="0" rtlCol="0" anchor="ctr"/>
          <a:lstStyle/>
          <a:p>
            <a:pPr indent="0" marL="0">
              <a:buNone/>
            </a:pPr>
            <a:r>
              <a:rPr lang="en-US" sz="1700" b="1" dirty="0">
                <a:solidFill>
                  <a:srgbClr val="262626"/>
                </a:solidFill>
                <a:latin typeface="Calibri" pitchFamily="34" charset="0"/>
                <a:ea typeface="Calibri" pitchFamily="34" charset="-122"/>
                <a:cs typeface="Calibri" pitchFamily="34" charset="-120"/>
              </a:rPr>
              <a:t>You have spent four hours building something. There is no file on your laptop.</a:t>
            </a:r>
            <a:endParaRPr lang="en-US" sz="1700" dirty="0"/>
          </a:p>
        </p:txBody>
      </p:sp>
      <p:sp>
        <p:nvSpPr>
          <p:cNvPr id="9" name="Text 6"/>
          <p:cNvSpPr/>
          <p:nvPr/>
        </p:nvSpPr>
        <p:spPr>
          <a:xfrm>
            <a:off x="1600200" y="2240280"/>
            <a:ext cx="9966960" cy="457200"/>
          </a:xfrm>
          <a:prstGeom prst="rect">
            <a:avLst/>
          </a:prstGeom>
          <a:noFill/>
          <a:ln/>
        </p:spPr>
        <p:txBody>
          <a:bodyPr wrap="square" lIns="0" tIns="0" rIns="0" bIns="0" rtlCol="0" anchor="ctr"/>
          <a:lstStyle/>
          <a:p>
            <a:pPr indent="0" marL="0">
              <a:buNone/>
            </a:pPr>
            <a:r>
              <a:rPr lang="en-US" sz="1400" dirty="0">
                <a:solidFill>
                  <a:srgbClr val="6E6E6E"/>
                </a:solidFill>
                <a:latin typeface="Calibri" pitchFamily="34" charset="0"/>
                <a:ea typeface="Calibri" pitchFamily="34" charset="-122"/>
                <a:cs typeface="Calibri" pitchFamily="34" charset="-120"/>
              </a:rPr>
              <a:t>We will now run the backup routine together — three layers, five steps, five minutes. Separate handout.</a:t>
            </a:r>
            <a:endParaRPr lang="en-US" sz="1400" dirty="0"/>
          </a:p>
        </p:txBody>
      </p:sp>
      <p:sp>
        <p:nvSpPr>
          <p:cNvPr id="10" name="Shape 7"/>
          <p:cNvSpPr/>
          <p:nvPr/>
        </p:nvSpPr>
        <p:spPr>
          <a:xfrm>
            <a:off x="548640" y="3200400"/>
            <a:ext cx="11091672" cy="914400"/>
          </a:xfrm>
          <a:prstGeom prst="roundRect">
            <a:avLst>
              <a:gd name="adj" fmla="val 7000"/>
            </a:avLst>
          </a:prstGeom>
          <a:solidFill>
            <a:srgbClr val="FAF2F3"/>
          </a:solidFill>
          <a:ln/>
        </p:spPr>
      </p:sp>
      <p:sp>
        <p:nvSpPr>
          <p:cNvPr id="11" name="Text 8"/>
          <p:cNvSpPr/>
          <p:nvPr/>
        </p:nvSpPr>
        <p:spPr>
          <a:xfrm>
            <a:off x="822960" y="3273552"/>
            <a:ext cx="4206240" cy="768096"/>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Your model, as readable text</a:t>
            </a:r>
            <a:endParaRPr lang="en-US" sz="1400" dirty="0"/>
          </a:p>
        </p:txBody>
      </p:sp>
      <p:sp>
        <p:nvSpPr>
          <p:cNvPr id="12" name="Text 9"/>
          <p:cNvSpPr/>
          <p:nvPr/>
        </p:nvSpPr>
        <p:spPr>
          <a:xfrm>
            <a:off x="5212080" y="3273552"/>
            <a:ext cx="6126480" cy="768096"/>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Model view → TMDL View → copy → save → commit to your repo</a:t>
            </a:r>
            <a:endParaRPr lang="en-US" sz="1200" dirty="0"/>
          </a:p>
        </p:txBody>
      </p:sp>
      <p:sp>
        <p:nvSpPr>
          <p:cNvPr id="13" name="Shape 10"/>
          <p:cNvSpPr/>
          <p:nvPr/>
        </p:nvSpPr>
        <p:spPr>
          <a:xfrm>
            <a:off x="548640" y="4251960"/>
            <a:ext cx="11091672" cy="914400"/>
          </a:xfrm>
          <a:prstGeom prst="roundRect">
            <a:avLst>
              <a:gd name="adj" fmla="val 7000"/>
            </a:avLst>
          </a:prstGeom>
          <a:solidFill>
            <a:srgbClr val="FAF2F3"/>
          </a:solidFill>
          <a:ln/>
        </p:spPr>
      </p:sp>
      <p:sp>
        <p:nvSpPr>
          <p:cNvPr id="14" name="Text 11"/>
          <p:cNvSpPr/>
          <p:nvPr/>
        </p:nvSpPr>
        <p:spPr>
          <a:xfrm>
            <a:off x="822960" y="4325112"/>
            <a:ext cx="4206240" cy="768096"/>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Rename your steps first</a:t>
            </a:r>
            <a:endParaRPr lang="en-US" sz="1400" dirty="0"/>
          </a:p>
        </p:txBody>
      </p:sp>
      <p:sp>
        <p:nvSpPr>
          <p:cNvPr id="15" name="Text 12"/>
          <p:cNvSpPr/>
          <p:nvPr/>
        </p:nvSpPr>
        <p:spPr>
          <a:xfrm>
            <a:off x="5212080" y="4325112"/>
            <a:ext cx="6126480" cy="768096"/>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A backup you cannot read is not a backup</a:t>
            </a:r>
            <a:endParaRPr lang="en-US" sz="1200" dirty="0"/>
          </a:p>
        </p:txBody>
      </p:sp>
      <p:sp>
        <p:nvSpPr>
          <p:cNvPr id="16" name="Shape 13"/>
          <p:cNvSpPr/>
          <p:nvPr/>
        </p:nvSpPr>
        <p:spPr>
          <a:xfrm>
            <a:off x="548640" y="5303520"/>
            <a:ext cx="11091672" cy="914400"/>
          </a:xfrm>
          <a:prstGeom prst="roundRect">
            <a:avLst>
              <a:gd name="adj" fmla="val 7000"/>
            </a:avLst>
          </a:prstGeom>
          <a:solidFill>
            <a:srgbClr val="FAF2F3"/>
          </a:solidFill>
          <a:ln/>
        </p:spPr>
      </p:sp>
      <p:sp>
        <p:nvSpPr>
          <p:cNvPr id="17" name="Text 14"/>
          <p:cNvSpPr/>
          <p:nvPr/>
        </p:nvSpPr>
        <p:spPr>
          <a:xfrm>
            <a:off x="822960" y="5376672"/>
            <a:ext cx="4206240" cy="768096"/>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The Service's version history</a:t>
            </a:r>
            <a:endParaRPr lang="en-US" sz="1400" dirty="0"/>
          </a:p>
        </p:txBody>
      </p:sp>
      <p:sp>
        <p:nvSpPr>
          <p:cNvPr id="18" name="Text 15"/>
          <p:cNvSpPr/>
          <p:nvPr/>
        </p:nvSpPr>
        <p:spPr>
          <a:xfrm>
            <a:off x="5212080" y="5376672"/>
            <a:ext cx="6126480" cy="768096"/>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Five versions, fourteen days, paid licence only. Not your backup.</a:t>
            </a:r>
            <a:endParaRPr lang="en-US" sz="1200" dirty="0"/>
          </a:p>
        </p:txBody>
      </p:sp>
      <p:sp>
        <p:nvSpPr>
          <p:cNvPr id="19" name="Text 16"/>
          <p:cNvSpPr/>
          <p:nvPr/>
        </p:nvSpPr>
        <p:spPr>
          <a:xfrm>
            <a:off x="548640" y="6400800"/>
            <a:ext cx="11091672" cy="365760"/>
          </a:xfrm>
          <a:prstGeom prst="rect">
            <a:avLst/>
          </a:prstGeom>
          <a:noFill/>
          <a:ln/>
        </p:spPr>
        <p:txBody>
          <a:bodyPr wrap="square" lIns="0" tIns="0" rIns="0" bIns="0" rtlCol="0" anchor="ctr"/>
          <a:lstStyle/>
          <a:p>
            <a:pPr indent="0" marL="0">
              <a:buNone/>
            </a:pPr>
            <a:r>
              <a:rPr lang="en-US" sz="1250" i="1" dirty="0">
                <a:solidFill>
                  <a:srgbClr val="6E6E6E"/>
                </a:solidFill>
                <a:latin typeface="Calibri" pitchFamily="34" charset="0"/>
                <a:ea typeface="Calibri" pitchFamily="34" charset="-122"/>
                <a:cs typeface="Calibri" pitchFamily="34" charset="-120"/>
              </a:rPr>
              <a:t>File loss is not an accepted excuse. This is how you make sure it never has to be.</a:t>
            </a:r>
            <a:endParaRPr lang="en-US" sz="12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47472"/>
            <a:ext cx="9144000" cy="256032"/>
          </a:xfrm>
          <a:prstGeom prst="rect">
            <a:avLst/>
          </a:prstGeom>
          <a:noFill/>
          <a:ln/>
        </p:spPr>
        <p:txBody>
          <a:bodyPr wrap="square" lIns="0" tIns="0" rIns="0" bIns="0" rtlCol="0" anchor="ctr"/>
          <a:lstStyle/>
          <a:p>
            <a:pPr indent="0" marL="0">
              <a:buNone/>
            </a:pPr>
            <a:r>
              <a:rPr lang="en-US" sz="1100" b="1" spc="200" kern="0" dirty="0">
                <a:solidFill>
                  <a:srgbClr val="C99700"/>
                </a:solidFill>
                <a:latin typeface="Calibri" pitchFamily="34" charset="0"/>
                <a:ea typeface="Calibri" pitchFamily="34" charset="-122"/>
                <a:cs typeface="Calibri" pitchFamily="34" charset="-120"/>
              </a:rPr>
              <a:t>WHAT YOU SUBMIT</a:t>
            </a:r>
            <a:endParaRPr lang="en-US" sz="1100" dirty="0"/>
          </a:p>
        </p:txBody>
      </p:sp>
      <p:sp>
        <p:nvSpPr>
          <p:cNvPr id="3" name="Text 1"/>
          <p:cNvSpPr/>
          <p:nvPr/>
        </p:nvSpPr>
        <p:spPr>
          <a:xfrm>
            <a:off x="548640" y="566928"/>
            <a:ext cx="10789920" cy="731520"/>
          </a:xfrm>
          <a:prstGeom prst="rect">
            <a:avLst/>
          </a:prstGeom>
          <a:noFill/>
          <a:ln/>
        </p:spPr>
        <p:txBody>
          <a:bodyPr wrap="square" lIns="0" tIns="0" rIns="0" bIns="0" rtlCol="0" anchor="t"/>
          <a:lstStyle/>
          <a:p>
            <a:pPr indent="0" marL="0">
              <a:buNone/>
            </a:pPr>
            <a:r>
              <a:rPr lang="en-US" sz="2800" b="1" dirty="0">
                <a:solidFill>
                  <a:srgbClr val="9D2235"/>
                </a:solidFill>
                <a:latin typeface="Cambria" pitchFamily="34" charset="0"/>
                <a:ea typeface="Cambria" pitchFamily="34" charset="-122"/>
                <a:cs typeface="Cambria" pitchFamily="34" charset="-120"/>
              </a:rPr>
              <a:t>Today's laboratory output</a:t>
            </a:r>
            <a:endParaRPr lang="en-US" sz="2800" dirty="0"/>
          </a:p>
        </p:txBody>
      </p:sp>
      <p:sp>
        <p:nvSpPr>
          <p:cNvPr id="4" name="Text 2"/>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9A9A9A"/>
                </a:solidFill>
                <a:latin typeface="Calibri" pitchFamily="34" charset="0"/>
                <a:ea typeface="Calibri" pitchFamily="34" charset="-122"/>
                <a:cs typeface="Calibri" pitchFamily="34" charset="-120"/>
              </a:rPr>
              <a:t>BDAT04 · Session 3 · 29 August 2026</a:t>
            </a:r>
            <a:endParaRPr lang="en-US" sz="850" dirty="0"/>
          </a:p>
        </p:txBody>
      </p:sp>
      <p:sp>
        <p:nvSpPr>
          <p:cNvPr id="5" name="Text 3"/>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9A9A9A"/>
                </a:solidFill>
                <a:latin typeface="Calibri" pitchFamily="34" charset="0"/>
                <a:ea typeface="Calibri" pitchFamily="34" charset="-122"/>
                <a:cs typeface="Calibri" pitchFamily="34" charset="-120"/>
              </a:rPr>
              <a:t>23</a:t>
            </a:r>
            <a:endParaRPr lang="en-US" sz="850" dirty="0"/>
          </a:p>
        </p:txBody>
      </p:sp>
      <p:sp>
        <p:nvSpPr>
          <p:cNvPr id="6" name="Shape 4"/>
          <p:cNvSpPr/>
          <p:nvPr/>
        </p:nvSpPr>
        <p:spPr>
          <a:xfrm>
            <a:off x="548640" y="1572768"/>
            <a:ext cx="11091672" cy="786384"/>
          </a:xfrm>
          <a:prstGeom prst="roundRect">
            <a:avLst>
              <a:gd name="adj" fmla="val 8140"/>
            </a:avLst>
          </a:prstGeom>
          <a:solidFill>
            <a:srgbClr val="FAF2F3"/>
          </a:solidFill>
          <a:ln/>
        </p:spPr>
      </p:sp>
      <p:sp>
        <p:nvSpPr>
          <p:cNvPr id="7" name="Shape 5"/>
          <p:cNvSpPr/>
          <p:nvPr/>
        </p:nvSpPr>
        <p:spPr>
          <a:xfrm>
            <a:off x="731520" y="1691640"/>
            <a:ext cx="548640" cy="548640"/>
          </a:xfrm>
          <a:prstGeom prst="ellipse">
            <a:avLst/>
          </a:prstGeom>
          <a:solidFill>
            <a:srgbClr val="9D2235"/>
          </a:solidFill>
          <a:ln/>
        </p:spPr>
      </p:sp>
      <p:pic>
        <p:nvPicPr>
          <p:cNvPr id="8" name="Image 0" descr="preencoded.png">    </p:cNvPr>
          <p:cNvPicPr>
            <a:picLocks noChangeAspect="1"/>
          </p:cNvPicPr>
          <p:nvPr/>
        </p:nvPicPr>
        <p:blipFill>
          <a:blip r:embed="rId1"/>
          <a:stretch>
            <a:fillRect/>
          </a:stretch>
        </p:blipFill>
        <p:spPr>
          <a:xfrm>
            <a:off x="874166" y="1834286"/>
            <a:ext cx="263347" cy="263347"/>
          </a:xfrm>
          <a:prstGeom prst="rect">
            <a:avLst/>
          </a:prstGeom>
        </p:spPr>
      </p:pic>
      <p:sp>
        <p:nvSpPr>
          <p:cNvPr id="9" name="Text 6"/>
          <p:cNvSpPr/>
          <p:nvPr/>
        </p:nvSpPr>
        <p:spPr>
          <a:xfrm>
            <a:off x="1508760" y="1664208"/>
            <a:ext cx="3200400" cy="64008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The cleaned queries</a:t>
            </a:r>
            <a:endParaRPr lang="en-US" sz="1400" dirty="0"/>
          </a:p>
        </p:txBody>
      </p:sp>
      <p:sp>
        <p:nvSpPr>
          <p:cNvPr id="10" name="Text 7"/>
          <p:cNvSpPr/>
          <p:nvPr/>
        </p:nvSpPr>
        <p:spPr>
          <a:xfrm>
            <a:off x="4846320" y="1664208"/>
            <a:ext cx="6492240" cy="6400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All seven tables, cleaned, refreshing without error.</a:t>
            </a:r>
            <a:endParaRPr lang="en-US" sz="1200" dirty="0"/>
          </a:p>
        </p:txBody>
      </p:sp>
      <p:sp>
        <p:nvSpPr>
          <p:cNvPr id="11" name="Shape 8"/>
          <p:cNvSpPr/>
          <p:nvPr/>
        </p:nvSpPr>
        <p:spPr>
          <a:xfrm>
            <a:off x="548640" y="2459736"/>
            <a:ext cx="11091672" cy="786384"/>
          </a:xfrm>
          <a:prstGeom prst="roundRect">
            <a:avLst>
              <a:gd name="adj" fmla="val 8140"/>
            </a:avLst>
          </a:prstGeom>
          <a:solidFill>
            <a:srgbClr val="FAF2F3"/>
          </a:solidFill>
          <a:ln/>
        </p:spPr>
      </p:sp>
      <p:sp>
        <p:nvSpPr>
          <p:cNvPr id="12" name="Shape 9"/>
          <p:cNvSpPr/>
          <p:nvPr/>
        </p:nvSpPr>
        <p:spPr>
          <a:xfrm>
            <a:off x="731520" y="2578608"/>
            <a:ext cx="548640" cy="548640"/>
          </a:xfrm>
          <a:prstGeom prst="ellipse">
            <a:avLst/>
          </a:prstGeom>
          <a:solidFill>
            <a:srgbClr val="9D2235"/>
          </a:solidFill>
          <a:ln/>
        </p:spPr>
      </p:sp>
      <p:pic>
        <p:nvPicPr>
          <p:cNvPr id="13" name="Image 1" descr="preencoded.png">    </p:cNvPr>
          <p:cNvPicPr>
            <a:picLocks noChangeAspect="1"/>
          </p:cNvPicPr>
          <p:nvPr/>
        </p:nvPicPr>
        <p:blipFill>
          <a:blip r:embed="rId2"/>
          <a:stretch>
            <a:fillRect/>
          </a:stretch>
        </p:blipFill>
        <p:spPr>
          <a:xfrm>
            <a:off x="874166" y="2721254"/>
            <a:ext cx="263347" cy="263347"/>
          </a:xfrm>
          <a:prstGeom prst="rect">
            <a:avLst/>
          </a:prstGeom>
        </p:spPr>
      </p:pic>
      <p:sp>
        <p:nvSpPr>
          <p:cNvPr id="14" name="Text 10"/>
          <p:cNvSpPr/>
          <p:nvPr/>
        </p:nvSpPr>
        <p:spPr>
          <a:xfrm>
            <a:off x="1508760" y="2551176"/>
            <a:ext cx="3200400" cy="64008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Named and ordered steps</a:t>
            </a:r>
            <a:endParaRPr lang="en-US" sz="1400" dirty="0"/>
          </a:p>
        </p:txBody>
      </p:sp>
      <p:sp>
        <p:nvSpPr>
          <p:cNvPr id="15" name="Text 11"/>
          <p:cNvSpPr/>
          <p:nvPr/>
        </p:nvSpPr>
        <p:spPr>
          <a:xfrm>
            <a:off x="4846320" y="2551176"/>
            <a:ext cx="6492240" cy="6400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Every step renamed to say what it does. Order that makes sense.</a:t>
            </a:r>
            <a:endParaRPr lang="en-US" sz="1200" dirty="0"/>
          </a:p>
        </p:txBody>
      </p:sp>
      <p:sp>
        <p:nvSpPr>
          <p:cNvPr id="16" name="Shape 12"/>
          <p:cNvSpPr/>
          <p:nvPr/>
        </p:nvSpPr>
        <p:spPr>
          <a:xfrm>
            <a:off x="548640" y="3346704"/>
            <a:ext cx="11091672" cy="786384"/>
          </a:xfrm>
          <a:prstGeom prst="roundRect">
            <a:avLst>
              <a:gd name="adj" fmla="val 8140"/>
            </a:avLst>
          </a:prstGeom>
          <a:solidFill>
            <a:srgbClr val="FAF2F3"/>
          </a:solidFill>
          <a:ln/>
        </p:spPr>
      </p:sp>
      <p:sp>
        <p:nvSpPr>
          <p:cNvPr id="17" name="Shape 13"/>
          <p:cNvSpPr/>
          <p:nvPr/>
        </p:nvSpPr>
        <p:spPr>
          <a:xfrm>
            <a:off x="731520" y="3465576"/>
            <a:ext cx="548640" cy="548640"/>
          </a:xfrm>
          <a:prstGeom prst="ellipse">
            <a:avLst/>
          </a:prstGeom>
          <a:solidFill>
            <a:srgbClr val="9D2235"/>
          </a:solidFill>
          <a:ln/>
        </p:spPr>
      </p:sp>
      <p:pic>
        <p:nvPicPr>
          <p:cNvPr id="18" name="Image 2" descr="preencoded.png">    </p:cNvPr>
          <p:cNvPicPr>
            <a:picLocks noChangeAspect="1"/>
          </p:cNvPicPr>
          <p:nvPr/>
        </p:nvPicPr>
        <p:blipFill>
          <a:blip r:embed="rId3"/>
          <a:stretch>
            <a:fillRect/>
          </a:stretch>
        </p:blipFill>
        <p:spPr>
          <a:xfrm>
            <a:off x="874166" y="3608222"/>
            <a:ext cx="263347" cy="263347"/>
          </a:xfrm>
          <a:prstGeom prst="rect">
            <a:avLst/>
          </a:prstGeom>
        </p:spPr>
      </p:pic>
      <p:sp>
        <p:nvSpPr>
          <p:cNvPr id="19" name="Text 14"/>
          <p:cNvSpPr/>
          <p:nvPr/>
        </p:nvSpPr>
        <p:spPr>
          <a:xfrm>
            <a:off x="1508760" y="3438144"/>
            <a:ext cx="3200400" cy="64008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A note on every decision</a:t>
            </a:r>
            <a:endParaRPr lang="en-US" sz="1400" dirty="0"/>
          </a:p>
        </p:txBody>
      </p:sp>
      <p:sp>
        <p:nvSpPr>
          <p:cNvPr id="20" name="Text 15"/>
          <p:cNvSpPr/>
          <p:nvPr/>
        </p:nvSpPr>
        <p:spPr>
          <a:xfrm>
            <a:off x="4846320" y="3438144"/>
            <a:ext cx="6492240" cy="6400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What you did, why — and what was lost by doing it.</a:t>
            </a:r>
            <a:endParaRPr lang="en-US" sz="1200" dirty="0"/>
          </a:p>
        </p:txBody>
      </p:sp>
      <p:sp>
        <p:nvSpPr>
          <p:cNvPr id="21" name="Shape 16"/>
          <p:cNvSpPr/>
          <p:nvPr/>
        </p:nvSpPr>
        <p:spPr>
          <a:xfrm>
            <a:off x="548640" y="4233672"/>
            <a:ext cx="11091672" cy="786384"/>
          </a:xfrm>
          <a:prstGeom prst="roundRect">
            <a:avLst>
              <a:gd name="adj" fmla="val 8140"/>
            </a:avLst>
          </a:prstGeom>
          <a:solidFill>
            <a:srgbClr val="FAF2F3"/>
          </a:solidFill>
          <a:ln/>
        </p:spPr>
      </p:sp>
      <p:sp>
        <p:nvSpPr>
          <p:cNvPr id="22" name="Shape 17"/>
          <p:cNvSpPr/>
          <p:nvPr/>
        </p:nvSpPr>
        <p:spPr>
          <a:xfrm>
            <a:off x="731520" y="4352544"/>
            <a:ext cx="548640" cy="548640"/>
          </a:xfrm>
          <a:prstGeom prst="ellipse">
            <a:avLst/>
          </a:prstGeom>
          <a:solidFill>
            <a:srgbClr val="9D2235"/>
          </a:solidFill>
          <a:ln/>
        </p:spPr>
      </p:sp>
      <p:pic>
        <p:nvPicPr>
          <p:cNvPr id="23" name="Image 3" descr="preencoded.png">    </p:cNvPr>
          <p:cNvPicPr>
            <a:picLocks noChangeAspect="1"/>
          </p:cNvPicPr>
          <p:nvPr/>
        </p:nvPicPr>
        <p:blipFill>
          <a:blip r:embed="rId4"/>
          <a:stretch>
            <a:fillRect/>
          </a:stretch>
        </p:blipFill>
        <p:spPr>
          <a:xfrm>
            <a:off x="874166" y="4495190"/>
            <a:ext cx="263347" cy="263347"/>
          </a:xfrm>
          <a:prstGeom prst="rect">
            <a:avLst/>
          </a:prstGeom>
        </p:spPr>
      </p:pic>
      <p:sp>
        <p:nvSpPr>
          <p:cNvPr id="24" name="Text 18"/>
          <p:cNvSpPr/>
          <p:nvPr/>
        </p:nvSpPr>
        <p:spPr>
          <a:xfrm>
            <a:off x="1508760" y="4325112"/>
            <a:ext cx="3200400" cy="64008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Numbers, not impressions</a:t>
            </a:r>
            <a:endParaRPr lang="en-US" sz="1400" dirty="0"/>
          </a:p>
        </p:txBody>
      </p:sp>
      <p:sp>
        <p:nvSpPr>
          <p:cNvPr id="25" name="Text 19"/>
          <p:cNvSpPr/>
          <p:nvPr/>
        </p:nvSpPr>
        <p:spPr>
          <a:xfrm>
            <a:off x="4846320" y="4325112"/>
            <a:ext cx="6492240" cy="6400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Every claim carries a count. Before and after.</a:t>
            </a:r>
            <a:endParaRPr lang="en-US" sz="1200" dirty="0"/>
          </a:p>
        </p:txBody>
      </p:sp>
      <p:sp>
        <p:nvSpPr>
          <p:cNvPr id="26" name="Shape 20"/>
          <p:cNvSpPr/>
          <p:nvPr/>
        </p:nvSpPr>
        <p:spPr>
          <a:xfrm>
            <a:off x="548640" y="5120640"/>
            <a:ext cx="11091672" cy="786384"/>
          </a:xfrm>
          <a:prstGeom prst="roundRect">
            <a:avLst>
              <a:gd name="adj" fmla="val 8140"/>
            </a:avLst>
          </a:prstGeom>
          <a:solidFill>
            <a:srgbClr val="FAF2F3"/>
          </a:solidFill>
          <a:ln/>
        </p:spPr>
      </p:sp>
      <p:sp>
        <p:nvSpPr>
          <p:cNvPr id="27" name="Shape 21"/>
          <p:cNvSpPr/>
          <p:nvPr/>
        </p:nvSpPr>
        <p:spPr>
          <a:xfrm>
            <a:off x="731520" y="5239512"/>
            <a:ext cx="548640" cy="548640"/>
          </a:xfrm>
          <a:prstGeom prst="ellipse">
            <a:avLst/>
          </a:prstGeom>
          <a:solidFill>
            <a:srgbClr val="9D2235"/>
          </a:solidFill>
          <a:ln/>
        </p:spPr>
      </p:sp>
      <p:pic>
        <p:nvPicPr>
          <p:cNvPr id="28" name="Image 4" descr="preencoded.png">    </p:cNvPr>
          <p:cNvPicPr>
            <a:picLocks noChangeAspect="1"/>
          </p:cNvPicPr>
          <p:nvPr/>
        </p:nvPicPr>
        <p:blipFill>
          <a:blip r:embed="rId5"/>
          <a:stretch>
            <a:fillRect/>
          </a:stretch>
        </p:blipFill>
        <p:spPr>
          <a:xfrm>
            <a:off x="874166" y="5382158"/>
            <a:ext cx="263347" cy="263347"/>
          </a:xfrm>
          <a:prstGeom prst="rect">
            <a:avLst/>
          </a:prstGeom>
        </p:spPr>
      </p:pic>
      <p:sp>
        <p:nvSpPr>
          <p:cNvPr id="29" name="Text 22"/>
          <p:cNvSpPr/>
          <p:nvPr/>
        </p:nvSpPr>
        <p:spPr>
          <a:xfrm>
            <a:off x="1508760" y="5212080"/>
            <a:ext cx="3200400" cy="640080"/>
          </a:xfrm>
          <a:prstGeom prst="rect">
            <a:avLst/>
          </a:prstGeom>
          <a:noFill/>
          <a:ln/>
        </p:spPr>
        <p:txBody>
          <a:bodyPr wrap="square" lIns="0" tIns="0" rIns="0" bIns="0" rtlCol="0" anchor="ctr"/>
          <a:lstStyle/>
          <a:p>
            <a:pPr indent="0" marL="0">
              <a:buNone/>
            </a:pPr>
            <a:r>
              <a:rPr lang="en-US" sz="1400" b="1" dirty="0">
                <a:solidFill>
                  <a:srgbClr val="9D2235"/>
                </a:solidFill>
                <a:latin typeface="Calibri" pitchFamily="34" charset="0"/>
                <a:ea typeface="Calibri" pitchFamily="34" charset="-122"/>
                <a:cs typeface="Calibri" pitchFamily="34" charset="-120"/>
              </a:rPr>
              <a:t>One committed TMDL backup</a:t>
            </a:r>
            <a:endParaRPr lang="en-US" sz="1400" dirty="0"/>
          </a:p>
        </p:txBody>
      </p:sp>
      <p:sp>
        <p:nvSpPr>
          <p:cNvPr id="30" name="Text 23"/>
          <p:cNvSpPr/>
          <p:nvPr/>
        </p:nvSpPr>
        <p:spPr>
          <a:xfrm>
            <a:off x="4846320" y="5212080"/>
            <a:ext cx="6492240" cy="640080"/>
          </a:xfrm>
          <a:prstGeom prst="rect">
            <a:avLst/>
          </a:prstGeom>
          <a:noFill/>
          <a:ln/>
        </p:spPr>
        <p:txBody>
          <a:bodyPr wrap="square" lIns="0" tIns="0" rIns="0" bIns="0" rtlCol="0" anchor="ctr"/>
          <a:lstStyle/>
          <a:p>
            <a:pPr indent="0" marL="0">
              <a:buNone/>
            </a:pPr>
            <a:r>
              <a:rPr lang="en-US" sz="1200" dirty="0">
                <a:solidFill>
                  <a:srgbClr val="262626"/>
                </a:solidFill>
                <a:latin typeface="Calibri" pitchFamily="34" charset="0"/>
                <a:ea typeface="Calibri" pitchFamily="34" charset="-122"/>
                <a:cs typeface="Calibri" pitchFamily="34" charset="-120"/>
              </a:rPr>
              <a:t>In your backups folder, dated, with a real commit message.</a:t>
            </a:r>
            <a:endParaRPr lang="en-US" sz="1200" dirty="0"/>
          </a:p>
        </p:txBody>
      </p:sp>
      <p:sp>
        <p:nvSpPr>
          <p:cNvPr id="31" name="Text 24"/>
          <p:cNvSpPr/>
          <p:nvPr/>
        </p:nvSpPr>
        <p:spPr>
          <a:xfrm>
            <a:off x="548640" y="6108192"/>
            <a:ext cx="11091672" cy="411480"/>
          </a:xfrm>
          <a:prstGeom prst="rect">
            <a:avLst/>
          </a:prstGeom>
          <a:noFill/>
          <a:ln/>
        </p:spPr>
        <p:txBody>
          <a:bodyPr wrap="square" lIns="0" tIns="0" rIns="0" bIns="0" rtlCol="0" anchor="ctr"/>
          <a:lstStyle/>
          <a:p>
            <a:pPr indent="0" marL="0">
              <a:buNone/>
            </a:pPr>
            <a:r>
              <a:rPr lang="en-US" sz="1300" b="1" dirty="0">
                <a:solidFill>
                  <a:srgbClr val="2C6E49"/>
                </a:solidFill>
                <a:latin typeface="Calibri" pitchFamily="34" charset="0"/>
                <a:ea typeface="Calibri" pitchFamily="34" charset="-122"/>
                <a:cs typeface="Calibri" pitchFamily="34" charset="-120"/>
              </a:rPr>
              <a:t>Due before Week 4. This is laboratory work, not a graded milestone — but B2 next week is built directly on top of it.</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3F0D18"/>
        </a:solidFill>
      </p:bgPr>
    </p:bg>
    <p:spTree>
      <p:nvGrpSpPr>
        <p:cNvPr id="1" name=""/>
        <p:cNvGrpSpPr/>
        <p:nvPr/>
      </p:nvGrpSpPr>
      <p:grpSpPr>
        <a:xfrm>
          <a:off x="0" y="0"/>
          <a:ext cx="0" cy="0"/>
          <a:chOff x="0" y="0"/>
          <a:chExt cx="0" cy="0"/>
        </a:xfrm>
      </p:grpSpPr>
      <p:sp>
        <p:nvSpPr>
          <p:cNvPr id="2" name="Shape 0"/>
          <p:cNvSpPr/>
          <p:nvPr/>
        </p:nvSpPr>
        <p:spPr>
          <a:xfrm>
            <a:off x="10241280" y="4480560"/>
            <a:ext cx="4206240" cy="4206240"/>
          </a:xfrm>
          <a:prstGeom prst="ellipse">
            <a:avLst/>
          </a:prstGeom>
          <a:solidFill>
            <a:srgbClr val="581523"/>
          </a:solidFill>
          <a:ln/>
        </p:spPr>
      </p:sp>
      <p:sp>
        <p:nvSpPr>
          <p:cNvPr id="3" name="Text 1"/>
          <p:cNvSpPr/>
          <p:nvPr/>
        </p:nvSpPr>
        <p:spPr>
          <a:xfrm>
            <a:off x="548640" y="502920"/>
            <a:ext cx="7315200" cy="320040"/>
          </a:xfrm>
          <a:prstGeom prst="rect">
            <a:avLst/>
          </a:prstGeom>
          <a:noFill/>
          <a:ln/>
        </p:spPr>
        <p:txBody>
          <a:bodyPr wrap="square" lIns="0" tIns="0" rIns="0" bIns="0" rtlCol="0" anchor="ctr"/>
          <a:lstStyle/>
          <a:p>
            <a:pPr indent="0" marL="0">
              <a:buNone/>
            </a:pPr>
            <a:r>
              <a:rPr lang="en-US" sz="1200" b="1" spc="200" kern="0" dirty="0">
                <a:solidFill>
                  <a:srgbClr val="E3B23C"/>
                </a:solidFill>
                <a:latin typeface="Calibri" pitchFamily="34" charset="0"/>
                <a:ea typeface="Calibri" pitchFamily="34" charset="-122"/>
                <a:cs typeface="Calibri" pitchFamily="34" charset="-120"/>
              </a:rPr>
              <a:t>NEXT SATURDAY — WEEK 4</a:t>
            </a:r>
            <a:endParaRPr lang="en-US" sz="1200" dirty="0"/>
          </a:p>
        </p:txBody>
      </p:sp>
      <p:sp>
        <p:nvSpPr>
          <p:cNvPr id="4" name="Text 2"/>
          <p:cNvSpPr/>
          <p:nvPr/>
        </p:nvSpPr>
        <p:spPr>
          <a:xfrm>
            <a:off x="548640" y="841248"/>
            <a:ext cx="10058400"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Putting the tables together</a:t>
            </a:r>
            <a:endParaRPr lang="en-US" sz="3600" dirty="0"/>
          </a:p>
        </p:txBody>
      </p:sp>
      <p:sp>
        <p:nvSpPr>
          <p:cNvPr id="5" name="Shape 3"/>
          <p:cNvSpPr/>
          <p:nvPr/>
        </p:nvSpPr>
        <p:spPr>
          <a:xfrm>
            <a:off x="548640" y="1874520"/>
            <a:ext cx="566928" cy="566928"/>
          </a:xfrm>
          <a:prstGeom prst="ellipse">
            <a:avLst/>
          </a:prstGeom>
          <a:solidFill>
            <a:srgbClr val="9D2235"/>
          </a:solidFill>
          <a:ln/>
        </p:spPr>
      </p:sp>
      <p:pic>
        <p:nvPicPr>
          <p:cNvPr id="6" name="Image 0" descr="preencoded.png">    </p:cNvPr>
          <p:cNvPicPr>
            <a:picLocks noChangeAspect="1"/>
          </p:cNvPicPr>
          <p:nvPr/>
        </p:nvPicPr>
        <p:blipFill>
          <a:blip r:embed="rId1"/>
          <a:stretch>
            <a:fillRect/>
          </a:stretch>
        </p:blipFill>
        <p:spPr>
          <a:xfrm>
            <a:off x="696041" y="2021921"/>
            <a:ext cx="272125" cy="272125"/>
          </a:xfrm>
          <a:prstGeom prst="rect">
            <a:avLst/>
          </a:prstGeom>
        </p:spPr>
      </p:pic>
      <p:sp>
        <p:nvSpPr>
          <p:cNvPr id="7" name="Text 4"/>
          <p:cNvSpPr/>
          <p:nvPr/>
        </p:nvSpPr>
        <p:spPr>
          <a:xfrm>
            <a:off x="1371600" y="1856232"/>
            <a:ext cx="9692640" cy="347472"/>
          </a:xfrm>
          <a:prstGeom prst="rect">
            <a:avLst/>
          </a:prstGeom>
          <a:noFill/>
          <a:ln/>
        </p:spPr>
        <p:txBody>
          <a:bodyPr wrap="square" lIns="0" tIns="0" rIns="0" bIns="0" rtlCol="0" anchor="ctr"/>
          <a:lstStyle/>
          <a:p>
            <a:pPr indent="0" marL="0">
              <a:buNone/>
            </a:pPr>
            <a:r>
              <a:rPr lang="en-US" sz="1550" b="1" dirty="0">
                <a:solidFill>
                  <a:srgbClr val="E3B23C"/>
                </a:solidFill>
                <a:latin typeface="Calibri" pitchFamily="34" charset="0"/>
                <a:ea typeface="Calibri" pitchFamily="34" charset="-122"/>
                <a:cs typeface="Calibri" pitchFamily="34" charset="-120"/>
              </a:rPr>
              <a:t>B2 — your first cleaned, combined dataset</a:t>
            </a:r>
            <a:endParaRPr lang="en-US" sz="1550" dirty="0"/>
          </a:p>
        </p:txBody>
      </p:sp>
      <p:sp>
        <p:nvSpPr>
          <p:cNvPr id="8" name="Text 5"/>
          <p:cNvSpPr/>
          <p:nvPr/>
        </p:nvSpPr>
        <p:spPr>
          <a:xfrm>
            <a:off x="1371600" y="2221992"/>
            <a:ext cx="9966960" cy="822960"/>
          </a:xfrm>
          <a:prstGeom prst="rect">
            <a:avLst/>
          </a:prstGeom>
          <a:noFill/>
          <a:ln/>
        </p:spPr>
        <p:txBody>
          <a:bodyPr wrap="square" lIns="0" tIns="0" rIns="0" bIns="0" rtlCol="0" anchor="ctr"/>
          <a:lstStyle/>
          <a:p>
            <a:pPr indent="0" marL="0">
              <a:lnSpc>
                <a:spcPts val="1650"/>
              </a:lnSpc>
              <a:buNone/>
            </a:pPr>
            <a:r>
              <a:rPr lang="en-US" sz="1250" dirty="0">
                <a:solidFill>
                  <a:srgbClr val="EFDFE2"/>
                </a:solidFill>
                <a:latin typeface="Calibri" pitchFamily="34" charset="0"/>
                <a:ea typeface="Calibri" pitchFamily="34" charset="-122"/>
                <a:cs typeface="Calibri" pitchFamily="34" charset="-120"/>
              </a:rPr>
              <a:t>Append and merge the case tables into an analysis-ready set of queries, with transformation notes and a full refresh that works.</a:t>
            </a:r>
            <a:endParaRPr lang="en-US" sz="1250" dirty="0"/>
          </a:p>
        </p:txBody>
      </p:sp>
      <p:sp>
        <p:nvSpPr>
          <p:cNvPr id="9" name="Shape 6"/>
          <p:cNvSpPr/>
          <p:nvPr/>
        </p:nvSpPr>
        <p:spPr>
          <a:xfrm>
            <a:off x="548640" y="3172968"/>
            <a:ext cx="566928" cy="566928"/>
          </a:xfrm>
          <a:prstGeom prst="ellipse">
            <a:avLst/>
          </a:prstGeom>
          <a:solidFill>
            <a:srgbClr val="9D2235"/>
          </a:solidFill>
          <a:ln/>
        </p:spPr>
      </p:sp>
      <p:pic>
        <p:nvPicPr>
          <p:cNvPr id="10" name="Image 1" descr="preencoded.png">    </p:cNvPr>
          <p:cNvPicPr>
            <a:picLocks noChangeAspect="1"/>
          </p:cNvPicPr>
          <p:nvPr/>
        </p:nvPicPr>
        <p:blipFill>
          <a:blip r:embed="rId2"/>
          <a:stretch>
            <a:fillRect/>
          </a:stretch>
        </p:blipFill>
        <p:spPr>
          <a:xfrm>
            <a:off x="696041" y="3320369"/>
            <a:ext cx="272125" cy="272125"/>
          </a:xfrm>
          <a:prstGeom prst="rect">
            <a:avLst/>
          </a:prstGeom>
        </p:spPr>
      </p:pic>
      <p:sp>
        <p:nvSpPr>
          <p:cNvPr id="11" name="Text 7"/>
          <p:cNvSpPr/>
          <p:nvPr/>
        </p:nvSpPr>
        <p:spPr>
          <a:xfrm>
            <a:off x="1371600" y="3154680"/>
            <a:ext cx="9692640" cy="347472"/>
          </a:xfrm>
          <a:prstGeom prst="rect">
            <a:avLst/>
          </a:prstGeom>
          <a:noFill/>
          <a:ln/>
        </p:spPr>
        <p:txBody>
          <a:bodyPr wrap="square" lIns="0" tIns="0" rIns="0" bIns="0" rtlCol="0" anchor="ctr"/>
          <a:lstStyle/>
          <a:p>
            <a:pPr indent="0" marL="0">
              <a:buNone/>
            </a:pPr>
            <a:r>
              <a:rPr lang="en-US" sz="1550" b="1" dirty="0">
                <a:solidFill>
                  <a:srgbClr val="E3B23C"/>
                </a:solidFill>
                <a:latin typeface="Calibri" pitchFamily="34" charset="0"/>
                <a:ea typeface="Calibri" pitchFamily="34" charset="-122"/>
                <a:cs typeface="Calibri" pitchFamily="34" charset="-120"/>
              </a:rPr>
              <a:t>Merge is the lookup you already met</a:t>
            </a:r>
            <a:endParaRPr lang="en-US" sz="1550" dirty="0"/>
          </a:p>
        </p:txBody>
      </p:sp>
      <p:sp>
        <p:nvSpPr>
          <p:cNvPr id="12" name="Text 8"/>
          <p:cNvSpPr/>
          <p:nvPr/>
        </p:nvSpPr>
        <p:spPr>
          <a:xfrm>
            <a:off x="1371600" y="3520440"/>
            <a:ext cx="9966960" cy="822960"/>
          </a:xfrm>
          <a:prstGeom prst="rect">
            <a:avLst/>
          </a:prstGeom>
          <a:noFill/>
          <a:ln/>
        </p:spPr>
        <p:txBody>
          <a:bodyPr wrap="square" lIns="0" tIns="0" rIns="0" bIns="0" rtlCol="0" anchor="ctr"/>
          <a:lstStyle/>
          <a:p>
            <a:pPr indent="0" marL="0">
              <a:lnSpc>
                <a:spcPts val="1650"/>
              </a:lnSpc>
              <a:buNone/>
            </a:pPr>
            <a:r>
              <a:rPr lang="en-US" sz="1250" dirty="0">
                <a:solidFill>
                  <a:srgbClr val="EFDFE2"/>
                </a:solidFill>
                <a:latin typeface="Calibri" pitchFamily="34" charset="0"/>
                <a:ea typeface="Calibri" pitchFamily="34" charset="-122"/>
                <a:cs typeface="Calibri" pitchFamily="34" charset="-120"/>
              </a:rPr>
              <a:t>The same operation as VLOOKUP, and the same operation as a relationship. Third time you will meet this idea.</a:t>
            </a:r>
            <a:endParaRPr lang="en-US" sz="1250" dirty="0"/>
          </a:p>
        </p:txBody>
      </p:sp>
      <p:sp>
        <p:nvSpPr>
          <p:cNvPr id="13" name="Shape 9"/>
          <p:cNvSpPr/>
          <p:nvPr/>
        </p:nvSpPr>
        <p:spPr>
          <a:xfrm>
            <a:off x="548640" y="4471416"/>
            <a:ext cx="566928" cy="566928"/>
          </a:xfrm>
          <a:prstGeom prst="ellipse">
            <a:avLst/>
          </a:prstGeom>
          <a:solidFill>
            <a:srgbClr val="9D2235"/>
          </a:solidFill>
          <a:ln/>
        </p:spPr>
      </p:sp>
      <p:pic>
        <p:nvPicPr>
          <p:cNvPr id="14" name="Image 2" descr="preencoded.png">    </p:cNvPr>
          <p:cNvPicPr>
            <a:picLocks noChangeAspect="1"/>
          </p:cNvPicPr>
          <p:nvPr/>
        </p:nvPicPr>
        <p:blipFill>
          <a:blip r:embed="rId3"/>
          <a:stretch>
            <a:fillRect/>
          </a:stretch>
        </p:blipFill>
        <p:spPr>
          <a:xfrm>
            <a:off x="696041" y="4618817"/>
            <a:ext cx="272125" cy="272125"/>
          </a:xfrm>
          <a:prstGeom prst="rect">
            <a:avLst/>
          </a:prstGeom>
        </p:spPr>
      </p:pic>
      <p:sp>
        <p:nvSpPr>
          <p:cNvPr id="15" name="Text 10"/>
          <p:cNvSpPr/>
          <p:nvPr/>
        </p:nvSpPr>
        <p:spPr>
          <a:xfrm>
            <a:off x="1371600" y="4453128"/>
            <a:ext cx="9692640" cy="347472"/>
          </a:xfrm>
          <a:prstGeom prst="rect">
            <a:avLst/>
          </a:prstGeom>
          <a:noFill/>
          <a:ln/>
        </p:spPr>
        <p:txBody>
          <a:bodyPr wrap="square" lIns="0" tIns="0" rIns="0" bIns="0" rtlCol="0" anchor="ctr"/>
          <a:lstStyle/>
          <a:p>
            <a:pPr indent="0" marL="0">
              <a:buNone/>
            </a:pPr>
            <a:r>
              <a:rPr lang="en-US" sz="1550" b="1" dirty="0">
                <a:solidFill>
                  <a:srgbClr val="E3B23C"/>
                </a:solidFill>
                <a:latin typeface="Calibri" pitchFamily="34" charset="0"/>
                <a:ea typeface="Calibri" pitchFamily="34" charset="-122"/>
                <a:cs typeface="Calibri" pitchFamily="34" charset="-120"/>
              </a:rPr>
              <a:t>Bring today's work</a:t>
            </a:r>
            <a:endParaRPr lang="en-US" sz="1550" dirty="0"/>
          </a:p>
        </p:txBody>
      </p:sp>
      <p:sp>
        <p:nvSpPr>
          <p:cNvPr id="16" name="Text 11"/>
          <p:cNvSpPr/>
          <p:nvPr/>
        </p:nvSpPr>
        <p:spPr>
          <a:xfrm>
            <a:off x="1371600" y="4818888"/>
            <a:ext cx="9966960" cy="822960"/>
          </a:xfrm>
          <a:prstGeom prst="rect">
            <a:avLst/>
          </a:prstGeom>
          <a:noFill/>
          <a:ln/>
        </p:spPr>
        <p:txBody>
          <a:bodyPr wrap="square" lIns="0" tIns="0" rIns="0" bIns="0" rtlCol="0" anchor="ctr"/>
          <a:lstStyle/>
          <a:p>
            <a:pPr indent="0" marL="0">
              <a:lnSpc>
                <a:spcPts val="1650"/>
              </a:lnSpc>
              <a:buNone/>
            </a:pPr>
            <a:r>
              <a:rPr lang="en-US" sz="1250" dirty="0">
                <a:solidFill>
                  <a:srgbClr val="EFDFE2"/>
                </a:solidFill>
                <a:latin typeface="Calibri" pitchFamily="34" charset="0"/>
                <a:ea typeface="Calibri" pitchFamily="34" charset="-122"/>
                <a:cs typeface="Calibri" pitchFamily="34" charset="-120"/>
              </a:rPr>
              <a:t>B2 starts from your cleaned queries. If they are not clean, next week is longer.</a:t>
            </a:r>
            <a:endParaRPr lang="en-US" sz="1250" dirty="0"/>
          </a:p>
        </p:txBody>
      </p:sp>
      <p:sp>
        <p:nvSpPr>
          <p:cNvPr id="17" name="Shape 12"/>
          <p:cNvSpPr/>
          <p:nvPr/>
        </p:nvSpPr>
        <p:spPr>
          <a:xfrm>
            <a:off x="548640" y="5897880"/>
            <a:ext cx="11091672" cy="0"/>
          </a:xfrm>
          <a:prstGeom prst="line">
            <a:avLst/>
          </a:prstGeom>
          <a:noFill/>
          <a:ln w="19050">
            <a:solidFill>
              <a:srgbClr val="581523"/>
            </a:solidFill>
            <a:prstDash val="solid"/>
          </a:ln>
        </p:spPr>
      </p:sp>
      <p:sp>
        <p:nvSpPr>
          <p:cNvPr id="18" name="Text 13"/>
          <p:cNvSpPr/>
          <p:nvPr/>
        </p:nvSpPr>
        <p:spPr>
          <a:xfrm>
            <a:off x="548640" y="6035040"/>
            <a:ext cx="11064240" cy="640080"/>
          </a:xfrm>
          <a:prstGeom prst="rect">
            <a:avLst/>
          </a:prstGeom>
          <a:noFill/>
          <a:ln/>
        </p:spPr>
        <p:txBody>
          <a:bodyPr wrap="square" lIns="0" tIns="0" rIns="0" bIns="0" rtlCol="0" anchor="ctr"/>
          <a:lstStyle/>
          <a:p>
            <a:pPr indent="0" marL="0">
              <a:lnSpc>
                <a:spcPts val="1600"/>
              </a:lnSpc>
              <a:buNone/>
            </a:pPr>
            <a:r>
              <a:rPr lang="en-US" sz="1150" dirty="0">
                <a:solidFill>
                  <a:srgbClr val="C89AA3"/>
                </a:solidFill>
                <a:latin typeface="Calibri" pitchFamily="34" charset="0"/>
                <a:ea typeface="Calibri" pitchFamily="34" charset="-122"/>
                <a:cs typeface="Calibri" pitchFamily="34" charset="-120"/>
              </a:rPr>
              <a:t>Two weeks ago you had not opened Power BI. Today you cleaned a real dataset and could say what each decision cost.</a:t>
            </a:r>
            <a:endParaRPr lang="en-US" sz="1150" dirty="0"/>
          </a:p>
          <a:p>
            <a:pPr indent="0" marL="0">
              <a:lnSpc>
                <a:spcPts val="1600"/>
              </a:lnSpc>
              <a:buNone/>
            </a:pPr>
            <a:r>
              <a:rPr lang="en-US" sz="1150" dirty="0">
                <a:solidFill>
                  <a:srgbClr val="C89AA3"/>
                </a:solidFill>
                <a:latin typeface="Calibri" pitchFamily="34" charset="0"/>
                <a:ea typeface="Calibri" pitchFamily="34" charset="-122"/>
                <a:cs typeface="Calibri" pitchFamily="34" charset="-120"/>
              </a:rPr>
              <a:t>Jerald B. Bongalos  ·  jerald.bongalos@lpulaguna.edu.ph</a:t>
            </a:r>
            <a:endParaRPr lang="en-US" sz="1150" dirty="0"/>
          </a:p>
        </p:txBody>
      </p:sp>
      <p:sp>
        <p:nvSpPr>
          <p:cNvPr id="19" name="Text 14"/>
          <p:cNvSpPr/>
          <p:nvPr/>
        </p:nvSpPr>
        <p:spPr>
          <a:xfrm>
            <a:off x="548640" y="6519672"/>
            <a:ext cx="5486400" cy="228600"/>
          </a:xfrm>
          <a:prstGeom prst="rect">
            <a:avLst/>
          </a:prstGeom>
          <a:noFill/>
          <a:ln/>
        </p:spPr>
        <p:txBody>
          <a:bodyPr wrap="square" lIns="0" tIns="0" rIns="0" bIns="0" rtlCol="0" anchor="ctr"/>
          <a:lstStyle/>
          <a:p>
            <a:pPr indent="0" marL="0">
              <a:buNone/>
            </a:pPr>
            <a:r>
              <a:rPr lang="en-US" sz="850" dirty="0">
                <a:solidFill>
                  <a:srgbClr val="C89AA3"/>
                </a:solidFill>
                <a:latin typeface="Calibri" pitchFamily="34" charset="0"/>
                <a:ea typeface="Calibri" pitchFamily="34" charset="-122"/>
                <a:cs typeface="Calibri" pitchFamily="34" charset="-120"/>
              </a:rPr>
              <a:t>BDAT04 · Session 3 · 29 August 2026</a:t>
            </a:r>
            <a:endParaRPr lang="en-US" sz="850" dirty="0"/>
          </a:p>
        </p:txBody>
      </p:sp>
      <p:sp>
        <p:nvSpPr>
          <p:cNvPr id="20" name="Text 15"/>
          <p:cNvSpPr/>
          <p:nvPr/>
        </p:nvSpPr>
        <p:spPr>
          <a:xfrm>
            <a:off x="11091672" y="6519672"/>
            <a:ext cx="548640" cy="228600"/>
          </a:xfrm>
          <a:prstGeom prst="rect">
            <a:avLst/>
          </a:prstGeom>
          <a:noFill/>
          <a:ln/>
        </p:spPr>
        <p:txBody>
          <a:bodyPr wrap="square" lIns="0" tIns="0" rIns="0" bIns="0" rtlCol="0" anchor="ctr"/>
          <a:lstStyle/>
          <a:p>
            <a:pPr algn="r" indent="0" marL="0">
              <a:buNone/>
            </a:pPr>
            <a:r>
              <a:rPr lang="en-US" sz="850" dirty="0">
                <a:solidFill>
                  <a:srgbClr val="C89AA3"/>
                </a:solidFill>
                <a:latin typeface="Calibri" pitchFamily="34" charset="0"/>
                <a:ea typeface="Calibri" pitchFamily="34" charset="-122"/>
                <a:cs typeface="Calibri" pitchFamily="34" charset="-120"/>
              </a:rPr>
              <a:t>24</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BDAT04 Session 3 — Power Query: profiling, data types, applied steps</dc:title>
  <dc:subject>PptxGenJS Presentation</dc:subject>
  <dc:creator>Jerald B. Bongalos</dc:creator>
  <cp:lastModifiedBy>Jerald B. Bongalos</cp:lastModifiedBy>
  <cp:revision>1</cp:revision>
  <dcterms:created xsi:type="dcterms:W3CDTF">2026-08-26T03:47:58Z</dcterms:created>
  <dcterms:modified xsi:type="dcterms:W3CDTF">2026-08-26T03:47:58Z</dcterms:modified>
</cp:coreProperties>
</file>